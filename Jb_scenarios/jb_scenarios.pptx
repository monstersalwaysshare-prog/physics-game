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6" r:id="rId3"/>
    <p:sldId id="278" r:id="rId4"/>
    <p:sldId id="280" r:id="rId5"/>
    <p:sldId id="282" r:id="rId6"/>
    <p:sldId id="284" r:id="rId7"/>
    <p:sldId id="277" r:id="rId8"/>
    <p:sldId id="281" r:id="rId9"/>
    <p:sldId id="285" r:id="rId10"/>
    <p:sldId id="286" r:id="rId11"/>
    <p:sldId id="289" r:id="rId12"/>
    <p:sldId id="290" r:id="rId13"/>
    <p:sldId id="295" r:id="rId14"/>
    <p:sldId id="272" r:id="rId15"/>
    <p:sldId id="302" r:id="rId16"/>
    <p:sldId id="303" r:id="rId17"/>
  </p:sldIdLst>
  <p:sldSz cx="9144000" cy="6858000" type="screen4x3"/>
  <p:notesSz cx="7102475" cy="93884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09" autoAdjust="0"/>
    <p:restoredTop sz="94660"/>
  </p:normalViewPr>
  <p:slideViewPr>
    <p:cSldViewPr snapToGrid="0">
      <p:cViewPr>
        <p:scale>
          <a:sx n="125" d="100"/>
          <a:sy n="125" d="100"/>
        </p:scale>
        <p:origin x="-42" y="417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5DA6D83-7C30-4DA2-86A8-4BF5B49439A5}"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97FB14-03CC-441E-964A-E3C51C773F3A}" type="slidenum">
              <a:rPr lang="en-US" smtClean="0"/>
              <a:t>‹#›</a:t>
            </a:fld>
            <a:endParaRPr lang="en-US"/>
          </a:p>
        </p:txBody>
      </p:sp>
    </p:spTree>
    <p:extLst>
      <p:ext uri="{BB962C8B-B14F-4D97-AF65-F5344CB8AC3E}">
        <p14:creationId xmlns:p14="http://schemas.microsoft.com/office/powerpoint/2010/main" val="976581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DA6D83-7C30-4DA2-86A8-4BF5B49439A5}"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97FB14-03CC-441E-964A-E3C51C773F3A}" type="slidenum">
              <a:rPr lang="en-US" smtClean="0"/>
              <a:t>‹#›</a:t>
            </a:fld>
            <a:endParaRPr lang="en-US"/>
          </a:p>
        </p:txBody>
      </p:sp>
    </p:spTree>
    <p:extLst>
      <p:ext uri="{BB962C8B-B14F-4D97-AF65-F5344CB8AC3E}">
        <p14:creationId xmlns:p14="http://schemas.microsoft.com/office/powerpoint/2010/main" val="4099273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DA6D83-7C30-4DA2-86A8-4BF5B49439A5}"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97FB14-03CC-441E-964A-E3C51C773F3A}" type="slidenum">
              <a:rPr lang="en-US" smtClean="0"/>
              <a:t>‹#›</a:t>
            </a:fld>
            <a:endParaRPr lang="en-US"/>
          </a:p>
        </p:txBody>
      </p:sp>
    </p:spTree>
    <p:extLst>
      <p:ext uri="{BB962C8B-B14F-4D97-AF65-F5344CB8AC3E}">
        <p14:creationId xmlns:p14="http://schemas.microsoft.com/office/powerpoint/2010/main" val="2292192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5DA6D83-7C30-4DA2-86A8-4BF5B49439A5}"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97FB14-03CC-441E-964A-E3C51C773F3A}" type="slidenum">
              <a:rPr lang="en-US" smtClean="0"/>
              <a:t>‹#›</a:t>
            </a:fld>
            <a:endParaRPr lang="en-US"/>
          </a:p>
        </p:txBody>
      </p:sp>
    </p:spTree>
    <p:extLst>
      <p:ext uri="{BB962C8B-B14F-4D97-AF65-F5344CB8AC3E}">
        <p14:creationId xmlns:p14="http://schemas.microsoft.com/office/powerpoint/2010/main" val="1647208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DA6D83-7C30-4DA2-86A8-4BF5B49439A5}" type="datetimeFigureOut">
              <a:rPr lang="en-US" smtClean="0"/>
              <a:t>11/25/2025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97FB14-03CC-441E-964A-E3C51C773F3A}" type="slidenum">
              <a:rPr lang="en-US" smtClean="0"/>
              <a:t>‹#›</a:t>
            </a:fld>
            <a:endParaRPr lang="en-US"/>
          </a:p>
        </p:txBody>
      </p:sp>
    </p:spTree>
    <p:extLst>
      <p:ext uri="{BB962C8B-B14F-4D97-AF65-F5344CB8AC3E}">
        <p14:creationId xmlns:p14="http://schemas.microsoft.com/office/powerpoint/2010/main" val="3501907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5DA6D83-7C30-4DA2-86A8-4BF5B49439A5}" type="datetimeFigureOut">
              <a:rPr lang="en-US" smtClean="0"/>
              <a:t>11/25/2025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997FB14-03CC-441E-964A-E3C51C773F3A}" type="slidenum">
              <a:rPr lang="en-US" smtClean="0"/>
              <a:t>‹#›</a:t>
            </a:fld>
            <a:endParaRPr lang="en-US"/>
          </a:p>
        </p:txBody>
      </p:sp>
    </p:spTree>
    <p:extLst>
      <p:ext uri="{BB962C8B-B14F-4D97-AF65-F5344CB8AC3E}">
        <p14:creationId xmlns:p14="http://schemas.microsoft.com/office/powerpoint/2010/main" val="1800781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DA6D83-7C30-4DA2-86A8-4BF5B49439A5}" type="datetimeFigureOut">
              <a:rPr lang="en-US" smtClean="0"/>
              <a:t>11/25/2025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997FB14-03CC-441E-964A-E3C51C773F3A}" type="slidenum">
              <a:rPr lang="en-US" smtClean="0"/>
              <a:t>‹#›</a:t>
            </a:fld>
            <a:endParaRPr lang="en-US"/>
          </a:p>
        </p:txBody>
      </p:sp>
    </p:spTree>
    <p:extLst>
      <p:ext uri="{BB962C8B-B14F-4D97-AF65-F5344CB8AC3E}">
        <p14:creationId xmlns:p14="http://schemas.microsoft.com/office/powerpoint/2010/main" val="2748825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5DA6D83-7C30-4DA2-86A8-4BF5B49439A5}"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97FB14-03CC-441E-964A-E3C51C773F3A}" type="slidenum">
              <a:rPr lang="en-US" smtClean="0"/>
              <a:t>‹#›</a:t>
            </a:fld>
            <a:endParaRPr lang="en-US"/>
          </a:p>
        </p:txBody>
      </p:sp>
    </p:spTree>
    <p:extLst>
      <p:ext uri="{BB962C8B-B14F-4D97-AF65-F5344CB8AC3E}">
        <p14:creationId xmlns:p14="http://schemas.microsoft.com/office/powerpoint/2010/main" val="869466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5DA6D83-7C30-4DA2-86A8-4BF5B49439A5}"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97FB14-03CC-441E-964A-E3C51C773F3A}" type="slidenum">
              <a:rPr lang="en-US" smtClean="0"/>
              <a:t>‹#›</a:t>
            </a:fld>
            <a:endParaRPr lang="en-US"/>
          </a:p>
        </p:txBody>
      </p:sp>
    </p:spTree>
    <p:extLst>
      <p:ext uri="{BB962C8B-B14F-4D97-AF65-F5344CB8AC3E}">
        <p14:creationId xmlns:p14="http://schemas.microsoft.com/office/powerpoint/2010/main" val="3445181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DA6D83-7C30-4DA2-86A8-4BF5B49439A5}"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97FB14-03CC-441E-964A-E3C51C773F3A}" type="slidenum">
              <a:rPr lang="en-US" smtClean="0"/>
              <a:t>‹#›</a:t>
            </a:fld>
            <a:endParaRPr lang="en-US"/>
          </a:p>
        </p:txBody>
      </p:sp>
    </p:spTree>
    <p:extLst>
      <p:ext uri="{BB962C8B-B14F-4D97-AF65-F5344CB8AC3E}">
        <p14:creationId xmlns:p14="http://schemas.microsoft.com/office/powerpoint/2010/main" val="24933127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DA6D83-7C30-4DA2-86A8-4BF5B49439A5}"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97FB14-03CC-441E-964A-E3C51C773F3A}" type="slidenum">
              <a:rPr lang="en-US" smtClean="0"/>
              <a:t>‹#›</a:t>
            </a:fld>
            <a:endParaRPr lang="en-US"/>
          </a:p>
        </p:txBody>
      </p:sp>
    </p:spTree>
    <p:extLst>
      <p:ext uri="{BB962C8B-B14F-4D97-AF65-F5344CB8AC3E}">
        <p14:creationId xmlns:p14="http://schemas.microsoft.com/office/powerpoint/2010/main" val="4025605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5DA6D83-7C30-4DA2-86A8-4BF5B49439A5}" type="datetimeFigureOut">
              <a:rPr lang="en-US" smtClean="0"/>
              <a:t>11/25/2025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997FB14-03CC-441E-964A-E3C51C773F3A}" type="slidenum">
              <a:rPr lang="en-US" smtClean="0"/>
              <a:t>‹#›</a:t>
            </a:fld>
            <a:endParaRPr lang="en-US"/>
          </a:p>
        </p:txBody>
      </p:sp>
    </p:spTree>
    <p:extLst>
      <p:ext uri="{BB962C8B-B14F-4D97-AF65-F5344CB8AC3E}">
        <p14:creationId xmlns:p14="http://schemas.microsoft.com/office/powerpoint/2010/main" val="1075589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02F49BA4-05DA-0455-E276-3F87AA3ED0D4}"/>
              </a:ext>
            </a:extLst>
          </p:cNvPr>
          <p:cNvCxnSpPr>
            <a:cxnSpLocks/>
          </p:cNvCxnSpPr>
          <p:nvPr/>
        </p:nvCxnSpPr>
        <p:spPr>
          <a:xfrm>
            <a:off x="369145" y="548640"/>
            <a:ext cx="0" cy="1891417"/>
          </a:xfrm>
          <a:prstGeom prst="line">
            <a:avLst/>
          </a:prstGeom>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D78ACCB6-0719-23E0-8DA0-D51FD127D12D}"/>
              </a:ext>
            </a:extLst>
          </p:cNvPr>
          <p:cNvSpPr/>
          <p:nvPr/>
        </p:nvSpPr>
        <p:spPr>
          <a:xfrm>
            <a:off x="9560"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cxnSp>
        <p:nvCxnSpPr>
          <p:cNvPr id="21" name="Straight Connector 20">
            <a:extLst>
              <a:ext uri="{FF2B5EF4-FFF2-40B4-BE49-F238E27FC236}">
                <a16:creationId xmlns:a16="http://schemas.microsoft.com/office/drawing/2014/main" id="{3E0DE03E-A329-0400-81F7-02928FC8B9ED}"/>
              </a:ext>
            </a:extLst>
          </p:cNvPr>
          <p:cNvCxnSpPr/>
          <p:nvPr/>
        </p:nvCxnSpPr>
        <p:spPr>
          <a:xfrm>
            <a:off x="-4482928" y="99168"/>
            <a:ext cx="0" cy="2683566"/>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277EDC1B-A417-383A-82F9-D01FFF7537D3}"/>
              </a:ext>
            </a:extLst>
          </p:cNvPr>
          <p:cNvCxnSpPr/>
          <p:nvPr/>
        </p:nvCxnSpPr>
        <p:spPr>
          <a:xfrm>
            <a:off x="371928" y="1431036"/>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181AC458-B4EA-76B4-D60B-1BFF15629085}"/>
              </a:ext>
            </a:extLst>
          </p:cNvPr>
          <p:cNvSpPr txBox="1"/>
          <p:nvPr/>
        </p:nvSpPr>
        <p:spPr>
          <a:xfrm>
            <a:off x="1588159" y="1399032"/>
            <a:ext cx="457176" cy="261610"/>
          </a:xfrm>
          <a:prstGeom prst="rect">
            <a:avLst/>
          </a:prstGeom>
          <a:noFill/>
        </p:spPr>
        <p:txBody>
          <a:bodyPr wrap="none" rtlCol="0">
            <a:spAutoFit/>
          </a:bodyPr>
          <a:lstStyle/>
          <a:p>
            <a:r>
              <a:rPr lang="en-US" sz="1100" dirty="0"/>
              <a:t>time</a:t>
            </a:r>
          </a:p>
        </p:txBody>
      </p:sp>
      <p:sp>
        <p:nvSpPr>
          <p:cNvPr id="26" name="TextBox 25">
            <a:extLst>
              <a:ext uri="{FF2B5EF4-FFF2-40B4-BE49-F238E27FC236}">
                <a16:creationId xmlns:a16="http://schemas.microsoft.com/office/drawing/2014/main" id="{086F6B7B-0555-B189-233C-7D678BDF122B}"/>
              </a:ext>
            </a:extLst>
          </p:cNvPr>
          <p:cNvSpPr txBox="1"/>
          <p:nvPr/>
        </p:nvSpPr>
        <p:spPr>
          <a:xfrm rot="16200000">
            <a:off x="-107052" y="676132"/>
            <a:ext cx="679994" cy="261610"/>
          </a:xfrm>
          <a:prstGeom prst="rect">
            <a:avLst/>
          </a:prstGeom>
          <a:noFill/>
        </p:spPr>
        <p:txBody>
          <a:bodyPr wrap="none" rtlCol="0">
            <a:spAutoFit/>
          </a:bodyPr>
          <a:lstStyle/>
          <a:p>
            <a:r>
              <a:rPr lang="en-US" sz="1100" dirty="0"/>
              <a:t>position</a:t>
            </a:r>
          </a:p>
        </p:txBody>
      </p:sp>
      <p:sp>
        <p:nvSpPr>
          <p:cNvPr id="27" name="TextBox 26">
            <a:extLst>
              <a:ext uri="{FF2B5EF4-FFF2-40B4-BE49-F238E27FC236}">
                <a16:creationId xmlns:a16="http://schemas.microsoft.com/office/drawing/2014/main" id="{B9E3C67C-E4C2-9A15-245C-6609CBA92695}"/>
              </a:ext>
            </a:extLst>
          </p:cNvPr>
          <p:cNvSpPr txBox="1"/>
          <p:nvPr/>
        </p:nvSpPr>
        <p:spPr>
          <a:xfrm>
            <a:off x="114668" y="1300231"/>
            <a:ext cx="260008" cy="261610"/>
          </a:xfrm>
          <a:prstGeom prst="rect">
            <a:avLst/>
          </a:prstGeom>
          <a:noFill/>
        </p:spPr>
        <p:txBody>
          <a:bodyPr wrap="none" rtlCol="0">
            <a:spAutoFit/>
          </a:bodyPr>
          <a:lstStyle/>
          <a:p>
            <a:r>
              <a:rPr lang="en-US" sz="1100" dirty="0"/>
              <a:t>0</a:t>
            </a:r>
          </a:p>
        </p:txBody>
      </p:sp>
      <p:cxnSp>
        <p:nvCxnSpPr>
          <p:cNvPr id="29" name="Straight Connector 28">
            <a:extLst>
              <a:ext uri="{FF2B5EF4-FFF2-40B4-BE49-F238E27FC236}">
                <a16:creationId xmlns:a16="http://schemas.microsoft.com/office/drawing/2014/main" id="{DA1BA1F7-EDC2-157B-B008-833271DDE7F0}"/>
              </a:ext>
            </a:extLst>
          </p:cNvPr>
          <p:cNvCxnSpPr>
            <a:cxnSpLocks/>
          </p:cNvCxnSpPr>
          <p:nvPr/>
        </p:nvCxnSpPr>
        <p:spPr>
          <a:xfrm flipV="1">
            <a:off x="371928" y="753626"/>
            <a:ext cx="1343314" cy="430522"/>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31" name="Straight Connector 30">
            <a:extLst>
              <a:ext uri="{FF2B5EF4-FFF2-40B4-BE49-F238E27FC236}">
                <a16:creationId xmlns:a16="http://schemas.microsoft.com/office/drawing/2014/main" id="{CCFA9705-CE92-B58C-ADC1-558AB4E1CA37}"/>
              </a:ext>
            </a:extLst>
          </p:cNvPr>
          <p:cNvCxnSpPr>
            <a:cxnSpLocks/>
          </p:cNvCxnSpPr>
          <p:nvPr/>
        </p:nvCxnSpPr>
        <p:spPr>
          <a:xfrm>
            <a:off x="2423619" y="550164"/>
            <a:ext cx="0" cy="1891417"/>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DAD0398-DDB4-8ACD-215A-9BCF0CB76AA2}"/>
              </a:ext>
            </a:extLst>
          </p:cNvPr>
          <p:cNvCxnSpPr/>
          <p:nvPr/>
        </p:nvCxnSpPr>
        <p:spPr>
          <a:xfrm>
            <a:off x="2426402" y="1432560"/>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496597B6-0978-57FB-D955-BC40D191FC6C}"/>
              </a:ext>
            </a:extLst>
          </p:cNvPr>
          <p:cNvSpPr txBox="1"/>
          <p:nvPr/>
        </p:nvSpPr>
        <p:spPr>
          <a:xfrm>
            <a:off x="3642633" y="1400556"/>
            <a:ext cx="457176" cy="261610"/>
          </a:xfrm>
          <a:prstGeom prst="rect">
            <a:avLst/>
          </a:prstGeom>
          <a:noFill/>
        </p:spPr>
        <p:txBody>
          <a:bodyPr wrap="none" rtlCol="0">
            <a:spAutoFit/>
          </a:bodyPr>
          <a:lstStyle/>
          <a:p>
            <a:r>
              <a:rPr lang="en-US" sz="1100" dirty="0"/>
              <a:t>time</a:t>
            </a:r>
          </a:p>
        </p:txBody>
      </p:sp>
      <p:sp>
        <p:nvSpPr>
          <p:cNvPr id="34" name="TextBox 33">
            <a:extLst>
              <a:ext uri="{FF2B5EF4-FFF2-40B4-BE49-F238E27FC236}">
                <a16:creationId xmlns:a16="http://schemas.microsoft.com/office/drawing/2014/main" id="{79027C2F-D604-599A-8646-FA09FA7DB47B}"/>
              </a:ext>
            </a:extLst>
          </p:cNvPr>
          <p:cNvSpPr txBox="1"/>
          <p:nvPr/>
        </p:nvSpPr>
        <p:spPr>
          <a:xfrm rot="16200000">
            <a:off x="1960246" y="677656"/>
            <a:ext cx="654346" cy="261610"/>
          </a:xfrm>
          <a:prstGeom prst="rect">
            <a:avLst/>
          </a:prstGeom>
          <a:noFill/>
        </p:spPr>
        <p:txBody>
          <a:bodyPr wrap="none" rtlCol="0">
            <a:spAutoFit/>
          </a:bodyPr>
          <a:lstStyle/>
          <a:p>
            <a:r>
              <a:rPr lang="en-US" sz="1100" dirty="0"/>
              <a:t>velocity</a:t>
            </a:r>
          </a:p>
        </p:txBody>
      </p:sp>
      <p:sp>
        <p:nvSpPr>
          <p:cNvPr id="35" name="TextBox 34">
            <a:extLst>
              <a:ext uri="{FF2B5EF4-FFF2-40B4-BE49-F238E27FC236}">
                <a16:creationId xmlns:a16="http://schemas.microsoft.com/office/drawing/2014/main" id="{CA70A24D-C3A2-AEF2-8CEE-D8B5460E3888}"/>
              </a:ext>
            </a:extLst>
          </p:cNvPr>
          <p:cNvSpPr txBox="1"/>
          <p:nvPr/>
        </p:nvSpPr>
        <p:spPr>
          <a:xfrm>
            <a:off x="2169142" y="1301755"/>
            <a:ext cx="260008" cy="261610"/>
          </a:xfrm>
          <a:prstGeom prst="rect">
            <a:avLst/>
          </a:prstGeom>
          <a:noFill/>
        </p:spPr>
        <p:txBody>
          <a:bodyPr wrap="none" rtlCol="0">
            <a:spAutoFit/>
          </a:bodyPr>
          <a:lstStyle/>
          <a:p>
            <a:r>
              <a:rPr lang="en-US" sz="1100" dirty="0"/>
              <a:t>0</a:t>
            </a:r>
          </a:p>
        </p:txBody>
      </p:sp>
      <p:cxnSp>
        <p:nvCxnSpPr>
          <p:cNvPr id="36" name="Straight Connector 35">
            <a:extLst>
              <a:ext uri="{FF2B5EF4-FFF2-40B4-BE49-F238E27FC236}">
                <a16:creationId xmlns:a16="http://schemas.microsoft.com/office/drawing/2014/main" id="{D4D91BF5-8C84-9F40-EEA8-9F7362E2B8B4}"/>
              </a:ext>
            </a:extLst>
          </p:cNvPr>
          <p:cNvCxnSpPr>
            <a:cxnSpLocks/>
          </p:cNvCxnSpPr>
          <p:nvPr/>
        </p:nvCxnSpPr>
        <p:spPr>
          <a:xfrm flipV="1">
            <a:off x="2429013" y="1204446"/>
            <a:ext cx="1339842" cy="1524"/>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37" name="Straight Connector 36">
            <a:extLst>
              <a:ext uri="{FF2B5EF4-FFF2-40B4-BE49-F238E27FC236}">
                <a16:creationId xmlns:a16="http://schemas.microsoft.com/office/drawing/2014/main" id="{9B67C358-D2A2-C2C0-9A10-CE7CDC933728}"/>
              </a:ext>
            </a:extLst>
          </p:cNvPr>
          <p:cNvCxnSpPr>
            <a:cxnSpLocks/>
          </p:cNvCxnSpPr>
          <p:nvPr/>
        </p:nvCxnSpPr>
        <p:spPr>
          <a:xfrm>
            <a:off x="4464265" y="548640"/>
            <a:ext cx="0" cy="1891417"/>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AF1F816-A835-8CDB-34AD-C69945176D3A}"/>
              </a:ext>
            </a:extLst>
          </p:cNvPr>
          <p:cNvCxnSpPr/>
          <p:nvPr/>
        </p:nvCxnSpPr>
        <p:spPr>
          <a:xfrm>
            <a:off x="4467048" y="1431036"/>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37F3C89-8500-8DA8-7D78-86AF4CC1A557}"/>
              </a:ext>
            </a:extLst>
          </p:cNvPr>
          <p:cNvSpPr txBox="1"/>
          <p:nvPr/>
        </p:nvSpPr>
        <p:spPr>
          <a:xfrm>
            <a:off x="5699933" y="1399032"/>
            <a:ext cx="457176" cy="261610"/>
          </a:xfrm>
          <a:prstGeom prst="rect">
            <a:avLst/>
          </a:prstGeom>
          <a:noFill/>
        </p:spPr>
        <p:txBody>
          <a:bodyPr wrap="none" rtlCol="0">
            <a:spAutoFit/>
          </a:bodyPr>
          <a:lstStyle/>
          <a:p>
            <a:r>
              <a:rPr lang="en-US" sz="1100" dirty="0"/>
              <a:t>time</a:t>
            </a:r>
          </a:p>
        </p:txBody>
      </p:sp>
      <p:sp>
        <p:nvSpPr>
          <p:cNvPr id="40" name="TextBox 39">
            <a:extLst>
              <a:ext uri="{FF2B5EF4-FFF2-40B4-BE49-F238E27FC236}">
                <a16:creationId xmlns:a16="http://schemas.microsoft.com/office/drawing/2014/main" id="{8C2E8DDB-B607-73EB-D28B-A0565DDCF3CA}"/>
              </a:ext>
            </a:extLst>
          </p:cNvPr>
          <p:cNvSpPr txBox="1"/>
          <p:nvPr/>
        </p:nvSpPr>
        <p:spPr>
          <a:xfrm rot="16200000">
            <a:off x="3853417" y="676132"/>
            <a:ext cx="949299" cy="261610"/>
          </a:xfrm>
          <a:prstGeom prst="rect">
            <a:avLst/>
          </a:prstGeom>
          <a:noFill/>
        </p:spPr>
        <p:txBody>
          <a:bodyPr wrap="none" rtlCol="0">
            <a:spAutoFit/>
          </a:bodyPr>
          <a:lstStyle/>
          <a:p>
            <a:r>
              <a:rPr lang="en-US" sz="1100" dirty="0"/>
              <a:t>acceleration</a:t>
            </a:r>
          </a:p>
        </p:txBody>
      </p:sp>
      <p:sp>
        <p:nvSpPr>
          <p:cNvPr id="41" name="TextBox 40">
            <a:extLst>
              <a:ext uri="{FF2B5EF4-FFF2-40B4-BE49-F238E27FC236}">
                <a16:creationId xmlns:a16="http://schemas.microsoft.com/office/drawing/2014/main" id="{2BEEC659-A265-49E4-B835-42315593A9B8}"/>
              </a:ext>
            </a:extLst>
          </p:cNvPr>
          <p:cNvSpPr txBox="1"/>
          <p:nvPr/>
        </p:nvSpPr>
        <p:spPr>
          <a:xfrm>
            <a:off x="4209788" y="1300231"/>
            <a:ext cx="260008" cy="261610"/>
          </a:xfrm>
          <a:prstGeom prst="rect">
            <a:avLst/>
          </a:prstGeom>
          <a:noFill/>
        </p:spPr>
        <p:txBody>
          <a:bodyPr wrap="none" rtlCol="0">
            <a:spAutoFit/>
          </a:bodyPr>
          <a:lstStyle/>
          <a:p>
            <a:r>
              <a:rPr lang="en-US" sz="1100" dirty="0"/>
              <a:t>0</a:t>
            </a:r>
          </a:p>
        </p:txBody>
      </p:sp>
      <p:cxnSp>
        <p:nvCxnSpPr>
          <p:cNvPr id="42" name="Straight Connector 41">
            <a:extLst>
              <a:ext uri="{FF2B5EF4-FFF2-40B4-BE49-F238E27FC236}">
                <a16:creationId xmlns:a16="http://schemas.microsoft.com/office/drawing/2014/main" id="{3398AF9E-0D7E-0031-9C16-3010750990DD}"/>
              </a:ext>
            </a:extLst>
          </p:cNvPr>
          <p:cNvCxnSpPr>
            <a:cxnSpLocks/>
            <a:stCxn id="41" idx="3"/>
          </p:cNvCxnSpPr>
          <p:nvPr/>
        </p:nvCxnSpPr>
        <p:spPr>
          <a:xfrm>
            <a:off x="4469796" y="1431036"/>
            <a:ext cx="1292968" cy="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sp>
        <p:nvSpPr>
          <p:cNvPr id="49" name="TextBox 48">
            <a:extLst>
              <a:ext uri="{FF2B5EF4-FFF2-40B4-BE49-F238E27FC236}">
                <a16:creationId xmlns:a16="http://schemas.microsoft.com/office/drawing/2014/main" id="{812D0A1F-1916-6E38-7034-3DD1A9342EBE}"/>
              </a:ext>
            </a:extLst>
          </p:cNvPr>
          <p:cNvSpPr txBox="1"/>
          <p:nvPr/>
        </p:nvSpPr>
        <p:spPr>
          <a:xfrm>
            <a:off x="2284070" y="3971718"/>
            <a:ext cx="1612447" cy="584775"/>
          </a:xfrm>
          <a:prstGeom prst="rect">
            <a:avLst/>
          </a:prstGeom>
          <a:noFill/>
        </p:spPr>
        <p:txBody>
          <a:bodyPr wrap="square" rtlCol="0">
            <a:spAutoFit/>
          </a:bodyPr>
          <a:lstStyle/>
          <a:p>
            <a:pPr algn="ctr"/>
            <a:r>
              <a:rPr lang="en-US" sz="1600" b="1" dirty="0">
                <a:solidFill>
                  <a:schemeClr val="accent6">
                    <a:lumMod val="75000"/>
                  </a:schemeClr>
                </a:solidFill>
              </a:rPr>
              <a:t>Zero Acceleration</a:t>
            </a:r>
          </a:p>
        </p:txBody>
      </p:sp>
      <p:sp>
        <p:nvSpPr>
          <p:cNvPr id="50" name="TextBox 49">
            <a:extLst>
              <a:ext uri="{FF2B5EF4-FFF2-40B4-BE49-F238E27FC236}">
                <a16:creationId xmlns:a16="http://schemas.microsoft.com/office/drawing/2014/main" id="{C1207D28-A52A-30DE-7521-D8F420D30381}"/>
              </a:ext>
            </a:extLst>
          </p:cNvPr>
          <p:cNvSpPr txBox="1"/>
          <p:nvPr/>
        </p:nvSpPr>
        <p:spPr>
          <a:xfrm>
            <a:off x="232944" y="3970454"/>
            <a:ext cx="1612447" cy="584775"/>
          </a:xfrm>
          <a:prstGeom prst="rect">
            <a:avLst/>
          </a:prstGeom>
          <a:noFill/>
        </p:spPr>
        <p:txBody>
          <a:bodyPr wrap="square" rtlCol="0">
            <a:spAutoFit/>
          </a:bodyPr>
          <a:lstStyle/>
          <a:p>
            <a:pPr algn="ctr"/>
            <a:r>
              <a:rPr lang="en-US" sz="1600" b="1" dirty="0">
                <a:solidFill>
                  <a:schemeClr val="accent5">
                    <a:lumMod val="75000"/>
                  </a:schemeClr>
                </a:solidFill>
              </a:rPr>
              <a:t>Positive Velocity</a:t>
            </a:r>
          </a:p>
        </p:txBody>
      </p:sp>
      <p:sp>
        <p:nvSpPr>
          <p:cNvPr id="51" name="Oval 50">
            <a:extLst>
              <a:ext uri="{FF2B5EF4-FFF2-40B4-BE49-F238E27FC236}">
                <a16:creationId xmlns:a16="http://schemas.microsoft.com/office/drawing/2014/main" id="{F68D0F9A-895A-5F3C-7489-066F987F0D65}"/>
              </a:ext>
            </a:extLst>
          </p:cNvPr>
          <p:cNvSpPr/>
          <p:nvPr/>
        </p:nvSpPr>
        <p:spPr>
          <a:xfrm>
            <a:off x="4513491" y="4335809"/>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7A4F8E60-A159-838D-7CDE-70FFFEB0FAEE}"/>
              </a:ext>
            </a:extLst>
          </p:cNvPr>
          <p:cNvSpPr/>
          <p:nvPr/>
        </p:nvSpPr>
        <p:spPr>
          <a:xfrm>
            <a:off x="4984615" y="4335809"/>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8D2AA397-48A9-891D-9248-EA4CB25BAE4E}"/>
              </a:ext>
            </a:extLst>
          </p:cNvPr>
          <p:cNvSpPr/>
          <p:nvPr/>
        </p:nvSpPr>
        <p:spPr>
          <a:xfrm>
            <a:off x="5450525" y="4331935"/>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92BDFF34-CAD6-0BF4-3ADD-B61F45CAAF84}"/>
              </a:ext>
            </a:extLst>
          </p:cNvPr>
          <p:cNvSpPr/>
          <p:nvPr/>
        </p:nvSpPr>
        <p:spPr>
          <a:xfrm>
            <a:off x="5921649" y="4331935"/>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8FA3CB05-548A-96AB-65BC-41B6E2738006}"/>
              </a:ext>
            </a:extLst>
          </p:cNvPr>
          <p:cNvSpPr txBox="1"/>
          <p:nvPr/>
        </p:nvSpPr>
        <p:spPr>
          <a:xfrm>
            <a:off x="4404311" y="4430006"/>
            <a:ext cx="260008" cy="261610"/>
          </a:xfrm>
          <a:prstGeom prst="rect">
            <a:avLst/>
          </a:prstGeom>
          <a:noFill/>
        </p:spPr>
        <p:txBody>
          <a:bodyPr wrap="none" rtlCol="0">
            <a:spAutoFit/>
          </a:bodyPr>
          <a:lstStyle/>
          <a:p>
            <a:r>
              <a:rPr lang="en-US" sz="1100" dirty="0"/>
              <a:t>1</a:t>
            </a:r>
          </a:p>
        </p:txBody>
      </p:sp>
      <p:sp>
        <p:nvSpPr>
          <p:cNvPr id="64" name="TextBox 63">
            <a:extLst>
              <a:ext uri="{FF2B5EF4-FFF2-40B4-BE49-F238E27FC236}">
                <a16:creationId xmlns:a16="http://schemas.microsoft.com/office/drawing/2014/main" id="{06A85D64-CD93-A548-BC2A-26EB69137925}"/>
              </a:ext>
            </a:extLst>
          </p:cNvPr>
          <p:cNvSpPr txBox="1"/>
          <p:nvPr/>
        </p:nvSpPr>
        <p:spPr>
          <a:xfrm>
            <a:off x="4883997" y="4430006"/>
            <a:ext cx="260008" cy="261610"/>
          </a:xfrm>
          <a:prstGeom prst="rect">
            <a:avLst/>
          </a:prstGeom>
          <a:noFill/>
        </p:spPr>
        <p:txBody>
          <a:bodyPr wrap="none" rtlCol="0">
            <a:spAutoFit/>
          </a:bodyPr>
          <a:lstStyle/>
          <a:p>
            <a:r>
              <a:rPr lang="en-US" sz="1100" dirty="0"/>
              <a:t>2</a:t>
            </a:r>
          </a:p>
        </p:txBody>
      </p:sp>
      <p:sp>
        <p:nvSpPr>
          <p:cNvPr id="65" name="TextBox 64">
            <a:extLst>
              <a:ext uri="{FF2B5EF4-FFF2-40B4-BE49-F238E27FC236}">
                <a16:creationId xmlns:a16="http://schemas.microsoft.com/office/drawing/2014/main" id="{C6F59481-36C9-C539-3984-FF1A0D22D00E}"/>
              </a:ext>
            </a:extLst>
          </p:cNvPr>
          <p:cNvSpPr txBox="1"/>
          <p:nvPr/>
        </p:nvSpPr>
        <p:spPr>
          <a:xfrm>
            <a:off x="5342785" y="4430006"/>
            <a:ext cx="260008" cy="261610"/>
          </a:xfrm>
          <a:prstGeom prst="rect">
            <a:avLst/>
          </a:prstGeom>
          <a:noFill/>
        </p:spPr>
        <p:txBody>
          <a:bodyPr wrap="none" rtlCol="0">
            <a:spAutoFit/>
          </a:bodyPr>
          <a:lstStyle/>
          <a:p>
            <a:r>
              <a:rPr lang="en-US" sz="1100" dirty="0"/>
              <a:t>3</a:t>
            </a:r>
          </a:p>
        </p:txBody>
      </p:sp>
      <p:sp>
        <p:nvSpPr>
          <p:cNvPr id="66" name="TextBox 65">
            <a:extLst>
              <a:ext uri="{FF2B5EF4-FFF2-40B4-BE49-F238E27FC236}">
                <a16:creationId xmlns:a16="http://schemas.microsoft.com/office/drawing/2014/main" id="{24183E36-24E4-2297-3259-3EE2C7890B23}"/>
              </a:ext>
            </a:extLst>
          </p:cNvPr>
          <p:cNvSpPr txBox="1"/>
          <p:nvPr/>
        </p:nvSpPr>
        <p:spPr>
          <a:xfrm>
            <a:off x="5817216" y="4428433"/>
            <a:ext cx="260008" cy="261610"/>
          </a:xfrm>
          <a:prstGeom prst="rect">
            <a:avLst/>
          </a:prstGeom>
          <a:noFill/>
        </p:spPr>
        <p:txBody>
          <a:bodyPr wrap="none" rtlCol="0">
            <a:spAutoFit/>
          </a:bodyPr>
          <a:lstStyle/>
          <a:p>
            <a:r>
              <a:rPr lang="en-US" sz="1100" dirty="0"/>
              <a:t>4</a:t>
            </a:r>
          </a:p>
        </p:txBody>
      </p:sp>
      <p:sp>
        <p:nvSpPr>
          <p:cNvPr id="67" name="Oval 66">
            <a:extLst>
              <a:ext uri="{FF2B5EF4-FFF2-40B4-BE49-F238E27FC236}">
                <a16:creationId xmlns:a16="http://schemas.microsoft.com/office/drawing/2014/main" id="{C3A18827-42E5-5079-E619-7DBAA879C41E}"/>
              </a:ext>
            </a:extLst>
          </p:cNvPr>
          <p:cNvSpPr/>
          <p:nvPr/>
        </p:nvSpPr>
        <p:spPr>
          <a:xfrm>
            <a:off x="7131763" y="4395809"/>
            <a:ext cx="96963" cy="8883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Arrow Connector 67">
            <a:extLst>
              <a:ext uri="{FF2B5EF4-FFF2-40B4-BE49-F238E27FC236}">
                <a16:creationId xmlns:a16="http://schemas.microsoft.com/office/drawing/2014/main" id="{185ECF85-E7C7-010A-DC30-FA51DA4957E0}"/>
              </a:ext>
            </a:extLst>
          </p:cNvPr>
          <p:cNvCxnSpPr>
            <a:cxnSpLocks/>
          </p:cNvCxnSpPr>
          <p:nvPr/>
        </p:nvCxnSpPr>
        <p:spPr>
          <a:xfrm flipV="1">
            <a:off x="7182799" y="3912542"/>
            <a:ext cx="0" cy="483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0478DEA6-595B-C97B-2188-A11E1BAE67F2}"/>
              </a:ext>
            </a:extLst>
          </p:cNvPr>
          <p:cNvCxnSpPr>
            <a:cxnSpLocks/>
          </p:cNvCxnSpPr>
          <p:nvPr/>
        </p:nvCxnSpPr>
        <p:spPr>
          <a:xfrm>
            <a:off x="7182818" y="4491496"/>
            <a:ext cx="0" cy="483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7CE7257E-8874-866A-5553-DBAE38C4AD6F}"/>
              </a:ext>
            </a:extLst>
          </p:cNvPr>
          <p:cNvCxnSpPr/>
          <p:nvPr/>
        </p:nvCxnSpPr>
        <p:spPr>
          <a:xfrm>
            <a:off x="7236449" y="4440797"/>
            <a:ext cx="39005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A1734C92-151F-7B17-6CE1-B8BAC996E6F0}"/>
              </a:ext>
            </a:extLst>
          </p:cNvPr>
          <p:cNvCxnSpPr/>
          <p:nvPr/>
        </p:nvCxnSpPr>
        <p:spPr>
          <a:xfrm>
            <a:off x="6733981" y="4440638"/>
            <a:ext cx="390059" cy="0"/>
          </a:xfrm>
          <a:prstGeom prst="straightConnector1">
            <a:avLst/>
          </a:prstGeom>
          <a:ln>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F925A87C-68B5-E3CE-5EE1-5EBE60A40E0E}"/>
              </a:ext>
            </a:extLst>
          </p:cNvPr>
          <p:cNvSpPr txBox="1"/>
          <p:nvPr/>
        </p:nvSpPr>
        <p:spPr>
          <a:xfrm>
            <a:off x="7180244" y="3761761"/>
            <a:ext cx="726481" cy="261610"/>
          </a:xfrm>
          <a:prstGeom prst="rect">
            <a:avLst/>
          </a:prstGeom>
          <a:noFill/>
        </p:spPr>
        <p:txBody>
          <a:bodyPr wrap="none" rtlCol="0">
            <a:spAutoFit/>
          </a:bodyPr>
          <a:lstStyle/>
          <a:p>
            <a:r>
              <a:rPr lang="en-US" sz="1100" dirty="0"/>
              <a:t>F</a:t>
            </a:r>
            <a:r>
              <a:rPr lang="en-US" sz="1100" baseline="-25000" dirty="0"/>
              <a:t>N </a:t>
            </a:r>
            <a:r>
              <a:rPr lang="en-US" sz="1100" dirty="0"/>
              <a:t>= 12 N</a:t>
            </a:r>
          </a:p>
        </p:txBody>
      </p:sp>
      <p:sp>
        <p:nvSpPr>
          <p:cNvPr id="76" name="TextBox 75">
            <a:extLst>
              <a:ext uri="{FF2B5EF4-FFF2-40B4-BE49-F238E27FC236}">
                <a16:creationId xmlns:a16="http://schemas.microsoft.com/office/drawing/2014/main" id="{8697818C-919A-7CC3-6855-C4E32C269235}"/>
              </a:ext>
            </a:extLst>
          </p:cNvPr>
          <p:cNvSpPr txBox="1"/>
          <p:nvPr/>
        </p:nvSpPr>
        <p:spPr>
          <a:xfrm>
            <a:off x="7180243" y="4856810"/>
            <a:ext cx="697627" cy="261610"/>
          </a:xfrm>
          <a:prstGeom prst="rect">
            <a:avLst/>
          </a:prstGeom>
          <a:noFill/>
        </p:spPr>
        <p:txBody>
          <a:bodyPr wrap="none" rtlCol="0">
            <a:spAutoFit/>
          </a:bodyPr>
          <a:lstStyle/>
          <a:p>
            <a:r>
              <a:rPr lang="en-US" sz="1100" dirty="0"/>
              <a:t>w = 12 N</a:t>
            </a:r>
          </a:p>
        </p:txBody>
      </p:sp>
      <p:sp>
        <p:nvSpPr>
          <p:cNvPr id="77" name="TextBox 76">
            <a:extLst>
              <a:ext uri="{FF2B5EF4-FFF2-40B4-BE49-F238E27FC236}">
                <a16:creationId xmlns:a16="http://schemas.microsoft.com/office/drawing/2014/main" id="{3DCDCB51-CCB2-40F8-2D6A-45EB11777F76}"/>
              </a:ext>
            </a:extLst>
          </p:cNvPr>
          <p:cNvSpPr txBox="1"/>
          <p:nvPr/>
        </p:nvSpPr>
        <p:spPr>
          <a:xfrm>
            <a:off x="7279762" y="4162815"/>
            <a:ext cx="889987" cy="261610"/>
          </a:xfrm>
          <a:prstGeom prst="rect">
            <a:avLst/>
          </a:prstGeom>
          <a:noFill/>
        </p:spPr>
        <p:txBody>
          <a:bodyPr wrap="none" rtlCol="0">
            <a:spAutoFit/>
          </a:bodyPr>
          <a:lstStyle/>
          <a:p>
            <a:r>
              <a:rPr lang="en-US" sz="1100" dirty="0" err="1"/>
              <a:t>F</a:t>
            </a:r>
            <a:r>
              <a:rPr lang="en-US" sz="1100" baseline="-25000" dirty="0" err="1"/>
              <a:t>applied</a:t>
            </a:r>
            <a:r>
              <a:rPr lang="en-US" sz="1100" baseline="-25000" dirty="0"/>
              <a:t> </a:t>
            </a:r>
            <a:r>
              <a:rPr lang="en-US" sz="1100" dirty="0"/>
              <a:t>= 7 N</a:t>
            </a:r>
          </a:p>
        </p:txBody>
      </p:sp>
      <p:sp>
        <p:nvSpPr>
          <p:cNvPr id="78" name="TextBox 77">
            <a:extLst>
              <a:ext uri="{FF2B5EF4-FFF2-40B4-BE49-F238E27FC236}">
                <a16:creationId xmlns:a16="http://schemas.microsoft.com/office/drawing/2014/main" id="{799C8720-E0E1-9260-11C8-916635E126A9}"/>
              </a:ext>
            </a:extLst>
          </p:cNvPr>
          <p:cNvSpPr txBox="1"/>
          <p:nvPr/>
        </p:nvSpPr>
        <p:spPr>
          <a:xfrm>
            <a:off x="6484016" y="4169925"/>
            <a:ext cx="601447" cy="261610"/>
          </a:xfrm>
          <a:prstGeom prst="rect">
            <a:avLst/>
          </a:prstGeom>
          <a:noFill/>
        </p:spPr>
        <p:txBody>
          <a:bodyPr wrap="none" rtlCol="0">
            <a:spAutoFit/>
          </a:bodyPr>
          <a:lstStyle/>
          <a:p>
            <a:r>
              <a:rPr lang="en-US" sz="1100" dirty="0" err="1"/>
              <a:t>f</a:t>
            </a:r>
            <a:r>
              <a:rPr lang="en-US" sz="1100" baseline="-25000" dirty="0" err="1"/>
              <a:t>k</a:t>
            </a:r>
            <a:r>
              <a:rPr lang="en-US" sz="1100" baseline="-25000" dirty="0"/>
              <a:t> </a:t>
            </a:r>
            <a:r>
              <a:rPr lang="en-US" sz="1100" dirty="0"/>
              <a:t>= 7 N</a:t>
            </a:r>
          </a:p>
        </p:txBody>
      </p:sp>
      <p:sp>
        <p:nvSpPr>
          <p:cNvPr id="80" name="TextBox 79">
            <a:extLst>
              <a:ext uri="{FF2B5EF4-FFF2-40B4-BE49-F238E27FC236}">
                <a16:creationId xmlns:a16="http://schemas.microsoft.com/office/drawing/2014/main" id="{60978B22-0C2F-8DE1-37D8-A5F4CA72F6F1}"/>
              </a:ext>
            </a:extLst>
          </p:cNvPr>
          <p:cNvSpPr txBox="1"/>
          <p:nvPr/>
        </p:nvSpPr>
        <p:spPr>
          <a:xfrm>
            <a:off x="309993" y="6324206"/>
            <a:ext cx="604653" cy="261610"/>
          </a:xfrm>
          <a:prstGeom prst="rect">
            <a:avLst/>
          </a:prstGeom>
          <a:noFill/>
        </p:spPr>
        <p:txBody>
          <a:bodyPr wrap="none" rtlCol="0">
            <a:spAutoFit/>
          </a:bodyPr>
          <a:lstStyle/>
          <a:p>
            <a:r>
              <a:rPr lang="en-US" sz="1100" dirty="0"/>
              <a:t>Case 1</a:t>
            </a:r>
          </a:p>
        </p:txBody>
      </p:sp>
      <p:sp>
        <p:nvSpPr>
          <p:cNvPr id="3" name="TextBox 2">
            <a:extLst>
              <a:ext uri="{FF2B5EF4-FFF2-40B4-BE49-F238E27FC236}">
                <a16:creationId xmlns:a16="http://schemas.microsoft.com/office/drawing/2014/main" id="{7A811B7C-E083-1B1C-C908-F6047D026542}"/>
              </a:ext>
            </a:extLst>
          </p:cNvPr>
          <p:cNvSpPr txBox="1"/>
          <p:nvPr/>
        </p:nvSpPr>
        <p:spPr>
          <a:xfrm>
            <a:off x="68492" y="2575731"/>
            <a:ext cx="662361" cy="261610"/>
          </a:xfrm>
          <a:prstGeom prst="rect">
            <a:avLst/>
          </a:prstGeom>
          <a:noFill/>
        </p:spPr>
        <p:txBody>
          <a:bodyPr wrap="none" rtlCol="0">
            <a:spAutoFit/>
          </a:bodyPr>
          <a:lstStyle/>
          <a:p>
            <a:r>
              <a:rPr lang="en-US" sz="1100" dirty="0"/>
              <a:t>Card 15</a:t>
            </a:r>
          </a:p>
        </p:txBody>
      </p:sp>
      <p:sp>
        <p:nvSpPr>
          <p:cNvPr id="5" name="TextBox 4">
            <a:extLst>
              <a:ext uri="{FF2B5EF4-FFF2-40B4-BE49-F238E27FC236}">
                <a16:creationId xmlns:a16="http://schemas.microsoft.com/office/drawing/2014/main" id="{FC54FE83-8DB4-CCA9-8F19-75D5E64D666B}"/>
              </a:ext>
            </a:extLst>
          </p:cNvPr>
          <p:cNvSpPr txBox="1"/>
          <p:nvPr/>
        </p:nvSpPr>
        <p:spPr>
          <a:xfrm>
            <a:off x="68492" y="5557769"/>
            <a:ext cx="587020" cy="261610"/>
          </a:xfrm>
          <a:prstGeom prst="rect">
            <a:avLst/>
          </a:prstGeom>
          <a:noFill/>
        </p:spPr>
        <p:txBody>
          <a:bodyPr wrap="none" rtlCol="0">
            <a:spAutoFit/>
          </a:bodyPr>
          <a:lstStyle/>
          <a:p>
            <a:r>
              <a:rPr lang="en-US" sz="1100" dirty="0"/>
              <a:t>Card 8</a:t>
            </a:r>
          </a:p>
        </p:txBody>
      </p:sp>
      <p:sp>
        <p:nvSpPr>
          <p:cNvPr id="6" name="TextBox 5">
            <a:extLst>
              <a:ext uri="{FF2B5EF4-FFF2-40B4-BE49-F238E27FC236}">
                <a16:creationId xmlns:a16="http://schemas.microsoft.com/office/drawing/2014/main" id="{4FBF544B-4D20-AB5F-3AA0-240395A9AF94}"/>
              </a:ext>
            </a:extLst>
          </p:cNvPr>
          <p:cNvSpPr txBox="1"/>
          <p:nvPr/>
        </p:nvSpPr>
        <p:spPr>
          <a:xfrm>
            <a:off x="2210492" y="5556245"/>
            <a:ext cx="587020" cy="261610"/>
          </a:xfrm>
          <a:prstGeom prst="rect">
            <a:avLst/>
          </a:prstGeom>
          <a:noFill/>
        </p:spPr>
        <p:txBody>
          <a:bodyPr wrap="none" rtlCol="0">
            <a:spAutoFit/>
          </a:bodyPr>
          <a:lstStyle/>
          <a:p>
            <a:r>
              <a:rPr lang="en-US" sz="1100" dirty="0"/>
              <a:t>Card 9</a:t>
            </a:r>
          </a:p>
        </p:txBody>
      </p:sp>
      <p:sp>
        <p:nvSpPr>
          <p:cNvPr id="9" name="TextBox 8">
            <a:extLst>
              <a:ext uri="{FF2B5EF4-FFF2-40B4-BE49-F238E27FC236}">
                <a16:creationId xmlns:a16="http://schemas.microsoft.com/office/drawing/2014/main" id="{0D97C2AD-0E2C-689D-7D06-E79D7B4DC458}"/>
              </a:ext>
            </a:extLst>
          </p:cNvPr>
          <p:cNvSpPr txBox="1"/>
          <p:nvPr/>
        </p:nvSpPr>
        <p:spPr>
          <a:xfrm>
            <a:off x="2153694" y="2610998"/>
            <a:ext cx="662361" cy="261610"/>
          </a:xfrm>
          <a:prstGeom prst="rect">
            <a:avLst/>
          </a:prstGeom>
          <a:noFill/>
        </p:spPr>
        <p:txBody>
          <a:bodyPr wrap="none" rtlCol="0">
            <a:spAutoFit/>
          </a:bodyPr>
          <a:lstStyle/>
          <a:p>
            <a:r>
              <a:rPr lang="en-US" sz="1100" dirty="0"/>
              <a:t>Card 18</a:t>
            </a:r>
          </a:p>
        </p:txBody>
      </p:sp>
      <p:sp>
        <p:nvSpPr>
          <p:cNvPr id="10" name="TextBox 9">
            <a:extLst>
              <a:ext uri="{FF2B5EF4-FFF2-40B4-BE49-F238E27FC236}">
                <a16:creationId xmlns:a16="http://schemas.microsoft.com/office/drawing/2014/main" id="{219D89C5-B1A3-FCEF-5EB9-F638F81EF5E4}"/>
              </a:ext>
            </a:extLst>
          </p:cNvPr>
          <p:cNvSpPr txBox="1"/>
          <p:nvPr/>
        </p:nvSpPr>
        <p:spPr>
          <a:xfrm>
            <a:off x="4256608" y="2645428"/>
            <a:ext cx="662361" cy="261610"/>
          </a:xfrm>
          <a:prstGeom prst="rect">
            <a:avLst/>
          </a:prstGeom>
          <a:noFill/>
        </p:spPr>
        <p:txBody>
          <a:bodyPr wrap="none" rtlCol="0">
            <a:spAutoFit/>
          </a:bodyPr>
          <a:lstStyle/>
          <a:p>
            <a:r>
              <a:rPr lang="en-US" sz="1100" dirty="0"/>
              <a:t>Card 26</a:t>
            </a:r>
          </a:p>
        </p:txBody>
      </p:sp>
      <p:sp>
        <p:nvSpPr>
          <p:cNvPr id="15" name="TextBox 14">
            <a:extLst>
              <a:ext uri="{FF2B5EF4-FFF2-40B4-BE49-F238E27FC236}">
                <a16:creationId xmlns:a16="http://schemas.microsoft.com/office/drawing/2014/main" id="{F1F78826-7E1C-806A-AA29-134640A61BA7}"/>
              </a:ext>
            </a:extLst>
          </p:cNvPr>
          <p:cNvSpPr txBox="1"/>
          <p:nvPr/>
        </p:nvSpPr>
        <p:spPr>
          <a:xfrm>
            <a:off x="4301001" y="5556245"/>
            <a:ext cx="587020" cy="261610"/>
          </a:xfrm>
          <a:prstGeom prst="rect">
            <a:avLst/>
          </a:prstGeom>
          <a:noFill/>
        </p:spPr>
        <p:txBody>
          <a:bodyPr wrap="none" rtlCol="0">
            <a:spAutoFit/>
          </a:bodyPr>
          <a:lstStyle/>
          <a:p>
            <a:r>
              <a:rPr lang="en-US" sz="1100" dirty="0"/>
              <a:t>Card 2</a:t>
            </a:r>
          </a:p>
        </p:txBody>
      </p:sp>
      <p:sp>
        <p:nvSpPr>
          <p:cNvPr id="22" name="TextBox 21">
            <a:extLst>
              <a:ext uri="{FF2B5EF4-FFF2-40B4-BE49-F238E27FC236}">
                <a16:creationId xmlns:a16="http://schemas.microsoft.com/office/drawing/2014/main" id="{535E65F9-76B3-5B41-2C74-0674E2DDFBBC}"/>
              </a:ext>
            </a:extLst>
          </p:cNvPr>
          <p:cNvSpPr txBox="1"/>
          <p:nvPr/>
        </p:nvSpPr>
        <p:spPr>
          <a:xfrm>
            <a:off x="6330238" y="5552036"/>
            <a:ext cx="662361" cy="261610"/>
          </a:xfrm>
          <a:prstGeom prst="rect">
            <a:avLst/>
          </a:prstGeom>
          <a:noFill/>
        </p:spPr>
        <p:txBody>
          <a:bodyPr wrap="none" rtlCol="0">
            <a:spAutoFit/>
          </a:bodyPr>
          <a:lstStyle/>
          <a:p>
            <a:r>
              <a:rPr lang="en-US" sz="1100" dirty="0"/>
              <a:t>Card 29</a:t>
            </a:r>
          </a:p>
        </p:txBody>
      </p:sp>
      <p:sp>
        <p:nvSpPr>
          <p:cNvPr id="2" name="Rectangle 1">
            <a:extLst>
              <a:ext uri="{FF2B5EF4-FFF2-40B4-BE49-F238E27FC236}">
                <a16:creationId xmlns:a16="http://schemas.microsoft.com/office/drawing/2014/main" id="{786F10D7-ADD4-4790-EA22-DEDB8591DFF2}"/>
              </a:ext>
            </a:extLst>
          </p:cNvPr>
          <p:cNvSpPr/>
          <p:nvPr/>
        </p:nvSpPr>
        <p:spPr>
          <a:xfrm>
            <a:off x="207995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 name="Rectangle 3">
            <a:extLst>
              <a:ext uri="{FF2B5EF4-FFF2-40B4-BE49-F238E27FC236}">
                <a16:creationId xmlns:a16="http://schemas.microsoft.com/office/drawing/2014/main" id="{02687B54-766E-D287-98C5-534FCEE802B5}"/>
              </a:ext>
            </a:extLst>
          </p:cNvPr>
          <p:cNvSpPr/>
          <p:nvPr/>
        </p:nvSpPr>
        <p:spPr>
          <a:xfrm>
            <a:off x="415887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0" name="Rectangle 29">
            <a:extLst>
              <a:ext uri="{FF2B5EF4-FFF2-40B4-BE49-F238E27FC236}">
                <a16:creationId xmlns:a16="http://schemas.microsoft.com/office/drawing/2014/main" id="{3CE7A719-44DE-6E63-0338-9941F83589F5}"/>
              </a:ext>
            </a:extLst>
          </p:cNvPr>
          <p:cNvSpPr/>
          <p:nvPr/>
        </p:nvSpPr>
        <p:spPr>
          <a:xfrm>
            <a:off x="9560"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3" name="Rectangle 42">
            <a:extLst>
              <a:ext uri="{FF2B5EF4-FFF2-40B4-BE49-F238E27FC236}">
                <a16:creationId xmlns:a16="http://schemas.microsoft.com/office/drawing/2014/main" id="{82444231-B278-A9F8-1BDE-1875EB5578D1}"/>
              </a:ext>
            </a:extLst>
          </p:cNvPr>
          <p:cNvSpPr/>
          <p:nvPr/>
        </p:nvSpPr>
        <p:spPr>
          <a:xfrm>
            <a:off x="2079956"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4" name="Rectangle 43">
            <a:extLst>
              <a:ext uri="{FF2B5EF4-FFF2-40B4-BE49-F238E27FC236}">
                <a16:creationId xmlns:a16="http://schemas.microsoft.com/office/drawing/2014/main" id="{5A6F7B89-D0BF-61A7-4561-83897398C075}"/>
              </a:ext>
            </a:extLst>
          </p:cNvPr>
          <p:cNvSpPr/>
          <p:nvPr/>
        </p:nvSpPr>
        <p:spPr>
          <a:xfrm>
            <a:off x="4158876"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5" name="Rectangle 44">
            <a:extLst>
              <a:ext uri="{FF2B5EF4-FFF2-40B4-BE49-F238E27FC236}">
                <a16:creationId xmlns:a16="http://schemas.microsoft.com/office/drawing/2014/main" id="{D01BF4AD-EA66-8EE3-50EE-55095887ED34}"/>
              </a:ext>
            </a:extLst>
          </p:cNvPr>
          <p:cNvSpPr/>
          <p:nvPr/>
        </p:nvSpPr>
        <p:spPr>
          <a:xfrm>
            <a:off x="6226082" y="2955663"/>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6" name="Rectangle 45">
            <a:extLst>
              <a:ext uri="{FF2B5EF4-FFF2-40B4-BE49-F238E27FC236}">
                <a16:creationId xmlns:a16="http://schemas.microsoft.com/office/drawing/2014/main" id="{C3F7EBDF-DF2D-EB9A-DE72-DC175D91E618}"/>
              </a:ext>
            </a:extLst>
          </p:cNvPr>
          <p:cNvSpPr/>
          <p:nvPr/>
        </p:nvSpPr>
        <p:spPr>
          <a:xfrm>
            <a:off x="-1950" y="0"/>
            <a:ext cx="2087925" cy="25205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 vs t graph</a:t>
            </a:r>
          </a:p>
        </p:txBody>
      </p:sp>
      <p:sp>
        <p:nvSpPr>
          <p:cNvPr id="47" name="Rectangle 46">
            <a:extLst>
              <a:ext uri="{FF2B5EF4-FFF2-40B4-BE49-F238E27FC236}">
                <a16:creationId xmlns:a16="http://schemas.microsoft.com/office/drawing/2014/main" id="{AD4A588C-2C1B-F24E-7DFA-E6D49CE1B1CB}"/>
              </a:ext>
            </a:extLst>
          </p:cNvPr>
          <p:cNvSpPr/>
          <p:nvPr/>
        </p:nvSpPr>
        <p:spPr>
          <a:xfrm>
            <a:off x="2083595" y="374"/>
            <a:ext cx="2076450" cy="252056"/>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v vs t graph</a:t>
            </a:r>
          </a:p>
        </p:txBody>
      </p:sp>
      <p:sp>
        <p:nvSpPr>
          <p:cNvPr id="48" name="Rectangle 47">
            <a:extLst>
              <a:ext uri="{FF2B5EF4-FFF2-40B4-BE49-F238E27FC236}">
                <a16:creationId xmlns:a16="http://schemas.microsoft.com/office/drawing/2014/main" id="{96CA27D2-0540-E616-A1AB-35CCD8826CA5}"/>
              </a:ext>
            </a:extLst>
          </p:cNvPr>
          <p:cNvSpPr/>
          <p:nvPr/>
        </p:nvSpPr>
        <p:spPr>
          <a:xfrm>
            <a:off x="4160044" y="202"/>
            <a:ext cx="2074563" cy="252056"/>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 vs t graph</a:t>
            </a:r>
          </a:p>
        </p:txBody>
      </p:sp>
      <p:sp>
        <p:nvSpPr>
          <p:cNvPr id="54" name="Rectangle 53">
            <a:extLst>
              <a:ext uri="{FF2B5EF4-FFF2-40B4-BE49-F238E27FC236}">
                <a16:creationId xmlns:a16="http://schemas.microsoft.com/office/drawing/2014/main" id="{96ECC7EA-71F6-F375-0393-83BA86A77666}"/>
              </a:ext>
            </a:extLst>
          </p:cNvPr>
          <p:cNvSpPr/>
          <p:nvPr/>
        </p:nvSpPr>
        <p:spPr>
          <a:xfrm>
            <a:off x="0" y="2959172"/>
            <a:ext cx="2088480" cy="252056"/>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Velocity</a:t>
            </a:r>
          </a:p>
        </p:txBody>
      </p:sp>
      <p:sp>
        <p:nvSpPr>
          <p:cNvPr id="56" name="Rectangle 55">
            <a:extLst>
              <a:ext uri="{FF2B5EF4-FFF2-40B4-BE49-F238E27FC236}">
                <a16:creationId xmlns:a16="http://schemas.microsoft.com/office/drawing/2014/main" id="{E92C4907-529E-DFFE-F283-F3CE430C968F}"/>
              </a:ext>
            </a:extLst>
          </p:cNvPr>
          <p:cNvSpPr/>
          <p:nvPr/>
        </p:nvSpPr>
        <p:spPr>
          <a:xfrm>
            <a:off x="2081269" y="2960748"/>
            <a:ext cx="2077606" cy="252056"/>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Acceleration</a:t>
            </a:r>
          </a:p>
        </p:txBody>
      </p:sp>
      <p:sp>
        <p:nvSpPr>
          <p:cNvPr id="58" name="Rectangle 57">
            <a:extLst>
              <a:ext uri="{FF2B5EF4-FFF2-40B4-BE49-F238E27FC236}">
                <a16:creationId xmlns:a16="http://schemas.microsoft.com/office/drawing/2014/main" id="{56D8F868-3CA1-98B2-30FB-ACA1FEC74C3B}"/>
              </a:ext>
            </a:extLst>
          </p:cNvPr>
          <p:cNvSpPr/>
          <p:nvPr/>
        </p:nvSpPr>
        <p:spPr>
          <a:xfrm>
            <a:off x="4158875" y="2959073"/>
            <a:ext cx="2076986" cy="25205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Motion diagram</a:t>
            </a:r>
          </a:p>
        </p:txBody>
      </p:sp>
      <p:sp>
        <p:nvSpPr>
          <p:cNvPr id="59" name="Rectangle 58">
            <a:extLst>
              <a:ext uri="{FF2B5EF4-FFF2-40B4-BE49-F238E27FC236}">
                <a16:creationId xmlns:a16="http://schemas.microsoft.com/office/drawing/2014/main" id="{E10974B5-8102-9D78-206D-12C37D775E45}"/>
              </a:ext>
            </a:extLst>
          </p:cNvPr>
          <p:cNvSpPr/>
          <p:nvPr/>
        </p:nvSpPr>
        <p:spPr>
          <a:xfrm>
            <a:off x="6236557" y="2959073"/>
            <a:ext cx="2068598" cy="252056"/>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Free Body Diagram</a:t>
            </a:r>
          </a:p>
        </p:txBody>
      </p:sp>
      <p:sp>
        <p:nvSpPr>
          <p:cNvPr id="11" name="Rectangle 10">
            <a:extLst>
              <a:ext uri="{FF2B5EF4-FFF2-40B4-BE49-F238E27FC236}">
                <a16:creationId xmlns:a16="http://schemas.microsoft.com/office/drawing/2014/main" id="{8045EF41-1CE6-BF80-1635-DFA18D53EFBA}"/>
              </a:ext>
            </a:extLst>
          </p:cNvPr>
          <p:cNvSpPr/>
          <p:nvPr/>
        </p:nvSpPr>
        <p:spPr>
          <a:xfrm>
            <a:off x="6226082" y="-7609"/>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2" name="TextBox 11">
            <a:extLst>
              <a:ext uri="{FF2B5EF4-FFF2-40B4-BE49-F238E27FC236}">
                <a16:creationId xmlns:a16="http://schemas.microsoft.com/office/drawing/2014/main" id="{410AF698-4C94-8C91-3488-9659F87CB78E}"/>
              </a:ext>
            </a:extLst>
          </p:cNvPr>
          <p:cNvSpPr txBox="1"/>
          <p:nvPr/>
        </p:nvSpPr>
        <p:spPr>
          <a:xfrm>
            <a:off x="6274014" y="1250290"/>
            <a:ext cx="2169169" cy="846386"/>
          </a:xfrm>
          <a:prstGeom prst="rect">
            <a:avLst/>
          </a:prstGeom>
          <a:noFill/>
        </p:spPr>
        <p:txBody>
          <a:bodyPr wrap="square" rtlCol="0">
            <a:spAutoFit/>
          </a:bodyPr>
          <a:lstStyle/>
          <a:p>
            <a:pPr algn="ctr"/>
            <a:r>
              <a:rPr lang="en-US" sz="1400" dirty="0"/>
              <a:t>Object moving in the </a:t>
            </a:r>
            <a:r>
              <a:rPr lang="en-US" sz="1400" b="1" dirty="0"/>
              <a:t>positive</a:t>
            </a:r>
            <a:r>
              <a:rPr lang="en-US" sz="1400" dirty="0"/>
              <a:t> direction at </a:t>
            </a:r>
            <a:r>
              <a:rPr lang="en-US" sz="1400" dirty="0">
                <a:solidFill>
                  <a:schemeClr val="tx2">
                    <a:lumMod val="75000"/>
                    <a:lumOff val="25000"/>
                  </a:schemeClr>
                </a:solidFill>
              </a:rPr>
              <a:t>constant</a:t>
            </a:r>
            <a:r>
              <a:rPr lang="en-US" sz="1400" dirty="0"/>
              <a:t> velocity</a:t>
            </a:r>
          </a:p>
          <a:p>
            <a:pPr algn="ctr"/>
            <a:endParaRPr lang="en-US" sz="600" dirty="0"/>
          </a:p>
        </p:txBody>
      </p:sp>
      <p:sp>
        <p:nvSpPr>
          <p:cNvPr id="19" name="Diagonal Stripe 18">
            <a:extLst>
              <a:ext uri="{FF2B5EF4-FFF2-40B4-BE49-F238E27FC236}">
                <a16:creationId xmlns:a16="http://schemas.microsoft.com/office/drawing/2014/main" id="{EB3BAEC8-418B-101B-9947-CE9477E2D1FE}"/>
              </a:ext>
            </a:extLst>
          </p:cNvPr>
          <p:cNvSpPr/>
          <p:nvPr/>
        </p:nvSpPr>
        <p:spPr>
          <a:xfrm>
            <a:off x="6247969" y="0"/>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Diagonal Stripe 19">
            <a:extLst>
              <a:ext uri="{FF2B5EF4-FFF2-40B4-BE49-F238E27FC236}">
                <a16:creationId xmlns:a16="http://schemas.microsoft.com/office/drawing/2014/main" id="{C892DA90-FA2C-D89E-CE7F-40F0C5CA0D45}"/>
              </a:ext>
            </a:extLst>
          </p:cNvPr>
          <p:cNvSpPr/>
          <p:nvPr/>
        </p:nvSpPr>
        <p:spPr>
          <a:xfrm rot="10800000">
            <a:off x="7717891" y="2367056"/>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TextBox 22">
            <a:extLst>
              <a:ext uri="{FF2B5EF4-FFF2-40B4-BE49-F238E27FC236}">
                <a16:creationId xmlns:a16="http://schemas.microsoft.com/office/drawing/2014/main" id="{280F59A1-D237-FBA7-0CAF-05F5A2AAEC3F}"/>
              </a:ext>
            </a:extLst>
          </p:cNvPr>
          <p:cNvSpPr txBox="1"/>
          <p:nvPr/>
        </p:nvSpPr>
        <p:spPr>
          <a:xfrm>
            <a:off x="6622921" y="2381869"/>
            <a:ext cx="1294640" cy="430887"/>
          </a:xfrm>
          <a:prstGeom prst="rect">
            <a:avLst/>
          </a:prstGeom>
          <a:noFill/>
        </p:spPr>
        <p:txBody>
          <a:bodyPr wrap="square" rtlCol="0">
            <a:spAutoFit/>
          </a:bodyPr>
          <a:lstStyle/>
          <a:p>
            <a:pPr algn="ctr"/>
            <a:r>
              <a:rPr lang="en-US" sz="1100" dirty="0"/>
              <a:t>Answer key on reverse side</a:t>
            </a:r>
          </a:p>
        </p:txBody>
      </p:sp>
      <p:sp>
        <p:nvSpPr>
          <p:cNvPr id="28" name="Arrow: Pentagon 27">
            <a:extLst>
              <a:ext uri="{FF2B5EF4-FFF2-40B4-BE49-F238E27FC236}">
                <a16:creationId xmlns:a16="http://schemas.microsoft.com/office/drawing/2014/main" id="{E0027498-5FD9-52E7-0476-4A7B97CB909E}"/>
              </a:ext>
            </a:extLst>
          </p:cNvPr>
          <p:cNvSpPr/>
          <p:nvPr/>
        </p:nvSpPr>
        <p:spPr>
          <a:xfrm>
            <a:off x="6585852" y="450740"/>
            <a:ext cx="1447642" cy="338554"/>
          </a:xfrm>
          <a:prstGeom prst="homePlate">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Scenario 1</a:t>
            </a:r>
          </a:p>
        </p:txBody>
      </p:sp>
    </p:spTree>
    <p:extLst>
      <p:ext uri="{BB962C8B-B14F-4D97-AF65-F5344CB8AC3E}">
        <p14:creationId xmlns:p14="http://schemas.microsoft.com/office/powerpoint/2010/main" val="581897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8F1B6-95A3-DDAD-05BF-7A8656ED2A1C}"/>
            </a:ext>
          </a:extLst>
        </p:cNvPr>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B6EAC82F-63F2-CBF6-041A-31482D80DB74}"/>
              </a:ext>
            </a:extLst>
          </p:cNvPr>
          <p:cNvCxnSpPr>
            <a:cxnSpLocks/>
          </p:cNvCxnSpPr>
          <p:nvPr/>
        </p:nvCxnSpPr>
        <p:spPr>
          <a:xfrm>
            <a:off x="369145" y="548640"/>
            <a:ext cx="0" cy="1891417"/>
          </a:xfrm>
          <a:prstGeom prst="line">
            <a:avLst/>
          </a:prstGeom>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F2B8733A-F48E-F8CC-EF80-685814057ABF}"/>
              </a:ext>
            </a:extLst>
          </p:cNvPr>
          <p:cNvSpPr/>
          <p:nvPr/>
        </p:nvSpPr>
        <p:spPr>
          <a:xfrm>
            <a:off x="0" y="-9848"/>
            <a:ext cx="2085290" cy="2963272"/>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cxnSp>
        <p:nvCxnSpPr>
          <p:cNvPr id="21" name="Straight Connector 20">
            <a:extLst>
              <a:ext uri="{FF2B5EF4-FFF2-40B4-BE49-F238E27FC236}">
                <a16:creationId xmlns:a16="http://schemas.microsoft.com/office/drawing/2014/main" id="{FBE32ED3-2892-DEDF-4B1F-57BD16109CAB}"/>
              </a:ext>
            </a:extLst>
          </p:cNvPr>
          <p:cNvCxnSpPr/>
          <p:nvPr/>
        </p:nvCxnSpPr>
        <p:spPr>
          <a:xfrm>
            <a:off x="-4482928" y="99168"/>
            <a:ext cx="0" cy="2683566"/>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2B7CFE0D-3B63-B8EE-CB29-D4C3604989A4}"/>
              </a:ext>
            </a:extLst>
          </p:cNvPr>
          <p:cNvCxnSpPr/>
          <p:nvPr/>
        </p:nvCxnSpPr>
        <p:spPr>
          <a:xfrm>
            <a:off x="371928" y="1431036"/>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C8D5662C-A6B7-7413-9EC9-28BC59000581}"/>
              </a:ext>
            </a:extLst>
          </p:cNvPr>
          <p:cNvSpPr txBox="1"/>
          <p:nvPr/>
        </p:nvSpPr>
        <p:spPr>
          <a:xfrm>
            <a:off x="1588159" y="1399032"/>
            <a:ext cx="457176" cy="261610"/>
          </a:xfrm>
          <a:prstGeom prst="rect">
            <a:avLst/>
          </a:prstGeom>
          <a:noFill/>
        </p:spPr>
        <p:txBody>
          <a:bodyPr wrap="none" rtlCol="0">
            <a:spAutoFit/>
          </a:bodyPr>
          <a:lstStyle/>
          <a:p>
            <a:r>
              <a:rPr lang="en-US" sz="1100" dirty="0"/>
              <a:t>time</a:t>
            </a:r>
          </a:p>
        </p:txBody>
      </p:sp>
      <p:sp>
        <p:nvSpPr>
          <p:cNvPr id="26" name="TextBox 25">
            <a:extLst>
              <a:ext uri="{FF2B5EF4-FFF2-40B4-BE49-F238E27FC236}">
                <a16:creationId xmlns:a16="http://schemas.microsoft.com/office/drawing/2014/main" id="{F86D61E6-B586-54C9-BF6D-83C6EA2D43BC}"/>
              </a:ext>
            </a:extLst>
          </p:cNvPr>
          <p:cNvSpPr txBox="1"/>
          <p:nvPr/>
        </p:nvSpPr>
        <p:spPr>
          <a:xfrm rot="16200000">
            <a:off x="-107052" y="676132"/>
            <a:ext cx="679994" cy="261610"/>
          </a:xfrm>
          <a:prstGeom prst="rect">
            <a:avLst/>
          </a:prstGeom>
          <a:noFill/>
        </p:spPr>
        <p:txBody>
          <a:bodyPr wrap="none" rtlCol="0">
            <a:spAutoFit/>
          </a:bodyPr>
          <a:lstStyle/>
          <a:p>
            <a:r>
              <a:rPr lang="en-US" sz="1100" dirty="0"/>
              <a:t>position</a:t>
            </a:r>
          </a:p>
        </p:txBody>
      </p:sp>
      <p:sp>
        <p:nvSpPr>
          <p:cNvPr id="27" name="TextBox 26">
            <a:extLst>
              <a:ext uri="{FF2B5EF4-FFF2-40B4-BE49-F238E27FC236}">
                <a16:creationId xmlns:a16="http://schemas.microsoft.com/office/drawing/2014/main" id="{7A186A9C-E7FB-3259-1B7F-E3405428B5DC}"/>
              </a:ext>
            </a:extLst>
          </p:cNvPr>
          <p:cNvSpPr txBox="1"/>
          <p:nvPr/>
        </p:nvSpPr>
        <p:spPr>
          <a:xfrm>
            <a:off x="114668" y="1300231"/>
            <a:ext cx="260008" cy="261610"/>
          </a:xfrm>
          <a:prstGeom prst="rect">
            <a:avLst/>
          </a:prstGeom>
          <a:noFill/>
        </p:spPr>
        <p:txBody>
          <a:bodyPr wrap="none" rtlCol="0">
            <a:spAutoFit/>
          </a:bodyPr>
          <a:lstStyle/>
          <a:p>
            <a:r>
              <a:rPr lang="en-US" sz="1100" dirty="0"/>
              <a:t>0</a:t>
            </a:r>
          </a:p>
        </p:txBody>
      </p:sp>
      <p:cxnSp>
        <p:nvCxnSpPr>
          <p:cNvPr id="31" name="Straight Connector 30">
            <a:extLst>
              <a:ext uri="{FF2B5EF4-FFF2-40B4-BE49-F238E27FC236}">
                <a16:creationId xmlns:a16="http://schemas.microsoft.com/office/drawing/2014/main" id="{AE8A80D4-0731-369D-C3EA-3B946AF90AED}"/>
              </a:ext>
            </a:extLst>
          </p:cNvPr>
          <p:cNvCxnSpPr>
            <a:cxnSpLocks/>
          </p:cNvCxnSpPr>
          <p:nvPr/>
        </p:nvCxnSpPr>
        <p:spPr>
          <a:xfrm>
            <a:off x="2423619" y="550164"/>
            <a:ext cx="0" cy="1891417"/>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408AA98-A57D-26D2-DA0B-B498A43B0380}"/>
              </a:ext>
            </a:extLst>
          </p:cNvPr>
          <p:cNvCxnSpPr/>
          <p:nvPr/>
        </p:nvCxnSpPr>
        <p:spPr>
          <a:xfrm>
            <a:off x="2426402" y="1432560"/>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C4C4C42B-7BF8-9CCC-5F06-EC090B52112B}"/>
              </a:ext>
            </a:extLst>
          </p:cNvPr>
          <p:cNvSpPr txBox="1"/>
          <p:nvPr/>
        </p:nvSpPr>
        <p:spPr>
          <a:xfrm>
            <a:off x="3642633" y="1400556"/>
            <a:ext cx="457176" cy="261610"/>
          </a:xfrm>
          <a:prstGeom prst="rect">
            <a:avLst/>
          </a:prstGeom>
          <a:noFill/>
        </p:spPr>
        <p:txBody>
          <a:bodyPr wrap="none" rtlCol="0">
            <a:spAutoFit/>
          </a:bodyPr>
          <a:lstStyle/>
          <a:p>
            <a:r>
              <a:rPr lang="en-US" sz="1100" dirty="0"/>
              <a:t>time</a:t>
            </a:r>
          </a:p>
        </p:txBody>
      </p:sp>
      <p:sp>
        <p:nvSpPr>
          <p:cNvPr id="34" name="TextBox 33">
            <a:extLst>
              <a:ext uri="{FF2B5EF4-FFF2-40B4-BE49-F238E27FC236}">
                <a16:creationId xmlns:a16="http://schemas.microsoft.com/office/drawing/2014/main" id="{0F60E84C-F025-033F-C8B0-AD14A357D833}"/>
              </a:ext>
            </a:extLst>
          </p:cNvPr>
          <p:cNvSpPr txBox="1"/>
          <p:nvPr/>
        </p:nvSpPr>
        <p:spPr>
          <a:xfrm rot="16200000">
            <a:off x="1960246" y="677656"/>
            <a:ext cx="654346" cy="261610"/>
          </a:xfrm>
          <a:prstGeom prst="rect">
            <a:avLst/>
          </a:prstGeom>
          <a:noFill/>
        </p:spPr>
        <p:txBody>
          <a:bodyPr wrap="none" rtlCol="0">
            <a:spAutoFit/>
          </a:bodyPr>
          <a:lstStyle/>
          <a:p>
            <a:r>
              <a:rPr lang="en-US" sz="1100" dirty="0"/>
              <a:t>velocity</a:t>
            </a:r>
          </a:p>
        </p:txBody>
      </p:sp>
      <p:sp>
        <p:nvSpPr>
          <p:cNvPr id="35" name="TextBox 34">
            <a:extLst>
              <a:ext uri="{FF2B5EF4-FFF2-40B4-BE49-F238E27FC236}">
                <a16:creationId xmlns:a16="http://schemas.microsoft.com/office/drawing/2014/main" id="{2B6C10F7-1789-7E37-85FD-9EF99148469A}"/>
              </a:ext>
            </a:extLst>
          </p:cNvPr>
          <p:cNvSpPr txBox="1"/>
          <p:nvPr/>
        </p:nvSpPr>
        <p:spPr>
          <a:xfrm>
            <a:off x="2169142" y="1301755"/>
            <a:ext cx="260008" cy="261610"/>
          </a:xfrm>
          <a:prstGeom prst="rect">
            <a:avLst/>
          </a:prstGeom>
          <a:noFill/>
        </p:spPr>
        <p:txBody>
          <a:bodyPr wrap="none" rtlCol="0">
            <a:spAutoFit/>
          </a:bodyPr>
          <a:lstStyle/>
          <a:p>
            <a:r>
              <a:rPr lang="en-US" sz="1100" dirty="0"/>
              <a:t>0</a:t>
            </a:r>
          </a:p>
        </p:txBody>
      </p:sp>
      <p:cxnSp>
        <p:nvCxnSpPr>
          <p:cNvPr id="37" name="Straight Connector 36">
            <a:extLst>
              <a:ext uri="{FF2B5EF4-FFF2-40B4-BE49-F238E27FC236}">
                <a16:creationId xmlns:a16="http://schemas.microsoft.com/office/drawing/2014/main" id="{F83CE066-20A1-42D1-C959-2C1FC2776C53}"/>
              </a:ext>
            </a:extLst>
          </p:cNvPr>
          <p:cNvCxnSpPr>
            <a:cxnSpLocks/>
          </p:cNvCxnSpPr>
          <p:nvPr/>
        </p:nvCxnSpPr>
        <p:spPr>
          <a:xfrm>
            <a:off x="4464265" y="548640"/>
            <a:ext cx="0" cy="1891417"/>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823B4A1-F79E-65B7-113B-B1ED4C32E3B1}"/>
              </a:ext>
            </a:extLst>
          </p:cNvPr>
          <p:cNvCxnSpPr/>
          <p:nvPr/>
        </p:nvCxnSpPr>
        <p:spPr>
          <a:xfrm>
            <a:off x="4467048" y="1431036"/>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E7E304AD-70B8-F686-4653-9C82F808B088}"/>
              </a:ext>
            </a:extLst>
          </p:cNvPr>
          <p:cNvSpPr txBox="1"/>
          <p:nvPr/>
        </p:nvSpPr>
        <p:spPr>
          <a:xfrm>
            <a:off x="5699933" y="1399032"/>
            <a:ext cx="457176" cy="261610"/>
          </a:xfrm>
          <a:prstGeom prst="rect">
            <a:avLst/>
          </a:prstGeom>
          <a:noFill/>
        </p:spPr>
        <p:txBody>
          <a:bodyPr wrap="none" rtlCol="0">
            <a:spAutoFit/>
          </a:bodyPr>
          <a:lstStyle/>
          <a:p>
            <a:r>
              <a:rPr lang="en-US" sz="1100" dirty="0"/>
              <a:t>time</a:t>
            </a:r>
          </a:p>
        </p:txBody>
      </p:sp>
      <p:sp>
        <p:nvSpPr>
          <p:cNvPr id="40" name="TextBox 39">
            <a:extLst>
              <a:ext uri="{FF2B5EF4-FFF2-40B4-BE49-F238E27FC236}">
                <a16:creationId xmlns:a16="http://schemas.microsoft.com/office/drawing/2014/main" id="{471B71F8-2206-A038-F534-499C65ED3C8B}"/>
              </a:ext>
            </a:extLst>
          </p:cNvPr>
          <p:cNvSpPr txBox="1"/>
          <p:nvPr/>
        </p:nvSpPr>
        <p:spPr>
          <a:xfrm rot="16200000">
            <a:off x="3853417" y="676132"/>
            <a:ext cx="949299" cy="261610"/>
          </a:xfrm>
          <a:prstGeom prst="rect">
            <a:avLst/>
          </a:prstGeom>
          <a:noFill/>
        </p:spPr>
        <p:txBody>
          <a:bodyPr wrap="none" rtlCol="0">
            <a:spAutoFit/>
          </a:bodyPr>
          <a:lstStyle/>
          <a:p>
            <a:r>
              <a:rPr lang="en-US" sz="1100" dirty="0"/>
              <a:t>acceleration</a:t>
            </a:r>
          </a:p>
        </p:txBody>
      </p:sp>
      <p:sp>
        <p:nvSpPr>
          <p:cNvPr id="41" name="TextBox 40">
            <a:extLst>
              <a:ext uri="{FF2B5EF4-FFF2-40B4-BE49-F238E27FC236}">
                <a16:creationId xmlns:a16="http://schemas.microsoft.com/office/drawing/2014/main" id="{E418D724-3392-3B95-0B51-F058D81CC6A5}"/>
              </a:ext>
            </a:extLst>
          </p:cNvPr>
          <p:cNvSpPr txBox="1"/>
          <p:nvPr/>
        </p:nvSpPr>
        <p:spPr>
          <a:xfrm>
            <a:off x="4209788" y="1300231"/>
            <a:ext cx="260008" cy="261610"/>
          </a:xfrm>
          <a:prstGeom prst="rect">
            <a:avLst/>
          </a:prstGeom>
          <a:noFill/>
        </p:spPr>
        <p:txBody>
          <a:bodyPr wrap="none" rtlCol="0">
            <a:spAutoFit/>
          </a:bodyPr>
          <a:lstStyle/>
          <a:p>
            <a:r>
              <a:rPr lang="en-US" sz="1100" dirty="0"/>
              <a:t>0</a:t>
            </a:r>
          </a:p>
        </p:txBody>
      </p:sp>
      <p:sp>
        <p:nvSpPr>
          <p:cNvPr id="49" name="TextBox 48">
            <a:extLst>
              <a:ext uri="{FF2B5EF4-FFF2-40B4-BE49-F238E27FC236}">
                <a16:creationId xmlns:a16="http://schemas.microsoft.com/office/drawing/2014/main" id="{DF7AC1A2-D311-DA6B-062E-86DF62D357BD}"/>
              </a:ext>
            </a:extLst>
          </p:cNvPr>
          <p:cNvSpPr txBox="1"/>
          <p:nvPr/>
        </p:nvSpPr>
        <p:spPr>
          <a:xfrm>
            <a:off x="2284070" y="3971718"/>
            <a:ext cx="1612447" cy="584775"/>
          </a:xfrm>
          <a:prstGeom prst="rect">
            <a:avLst/>
          </a:prstGeom>
          <a:noFill/>
        </p:spPr>
        <p:txBody>
          <a:bodyPr wrap="square" rtlCol="0">
            <a:spAutoFit/>
          </a:bodyPr>
          <a:lstStyle/>
          <a:p>
            <a:pPr algn="ctr"/>
            <a:r>
              <a:rPr lang="en-US" sz="1600" b="1" dirty="0">
                <a:solidFill>
                  <a:schemeClr val="accent6">
                    <a:lumMod val="75000"/>
                  </a:schemeClr>
                </a:solidFill>
              </a:rPr>
              <a:t>Positive Acceleration</a:t>
            </a:r>
          </a:p>
        </p:txBody>
      </p:sp>
      <p:sp>
        <p:nvSpPr>
          <p:cNvPr id="50" name="TextBox 49">
            <a:extLst>
              <a:ext uri="{FF2B5EF4-FFF2-40B4-BE49-F238E27FC236}">
                <a16:creationId xmlns:a16="http://schemas.microsoft.com/office/drawing/2014/main" id="{6964DA3C-592A-84F4-4AB2-E8BFD32DC2AE}"/>
              </a:ext>
            </a:extLst>
          </p:cNvPr>
          <p:cNvSpPr txBox="1"/>
          <p:nvPr/>
        </p:nvSpPr>
        <p:spPr>
          <a:xfrm>
            <a:off x="232944" y="3970454"/>
            <a:ext cx="1612447" cy="584775"/>
          </a:xfrm>
          <a:prstGeom prst="rect">
            <a:avLst/>
          </a:prstGeom>
          <a:noFill/>
        </p:spPr>
        <p:txBody>
          <a:bodyPr wrap="square" rtlCol="0">
            <a:spAutoFit/>
          </a:bodyPr>
          <a:lstStyle/>
          <a:p>
            <a:pPr algn="ctr"/>
            <a:r>
              <a:rPr lang="en-US" sz="1600" b="1" dirty="0">
                <a:solidFill>
                  <a:schemeClr val="accent5">
                    <a:lumMod val="75000"/>
                  </a:schemeClr>
                </a:solidFill>
              </a:rPr>
              <a:t>Positive Velocity</a:t>
            </a:r>
          </a:p>
        </p:txBody>
      </p:sp>
      <p:sp>
        <p:nvSpPr>
          <p:cNvPr id="51" name="Oval 50">
            <a:extLst>
              <a:ext uri="{FF2B5EF4-FFF2-40B4-BE49-F238E27FC236}">
                <a16:creationId xmlns:a16="http://schemas.microsoft.com/office/drawing/2014/main" id="{F9971906-9C3C-9E6A-8953-AA71B52AD7B3}"/>
              </a:ext>
            </a:extLst>
          </p:cNvPr>
          <p:cNvSpPr/>
          <p:nvPr/>
        </p:nvSpPr>
        <p:spPr>
          <a:xfrm>
            <a:off x="4513491" y="4335809"/>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EF4E3107-7F02-6D46-AE44-516AED0B7827}"/>
              </a:ext>
            </a:extLst>
          </p:cNvPr>
          <p:cNvSpPr/>
          <p:nvPr/>
        </p:nvSpPr>
        <p:spPr>
          <a:xfrm>
            <a:off x="4828304" y="4335809"/>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CB83A812-558D-9F51-8553-1D43C7A5ABC3}"/>
              </a:ext>
            </a:extLst>
          </p:cNvPr>
          <p:cNvSpPr/>
          <p:nvPr/>
        </p:nvSpPr>
        <p:spPr>
          <a:xfrm>
            <a:off x="5294214" y="4331935"/>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CCEE1EB3-5E86-4C22-2099-DA08F9C9E9CF}"/>
              </a:ext>
            </a:extLst>
          </p:cNvPr>
          <p:cNvSpPr/>
          <p:nvPr/>
        </p:nvSpPr>
        <p:spPr>
          <a:xfrm>
            <a:off x="5921649" y="4331935"/>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DE5639EE-32D7-FFD3-1DAE-0B35A0933FBB}"/>
              </a:ext>
            </a:extLst>
          </p:cNvPr>
          <p:cNvSpPr txBox="1"/>
          <p:nvPr/>
        </p:nvSpPr>
        <p:spPr>
          <a:xfrm>
            <a:off x="4404311" y="4430006"/>
            <a:ext cx="260008" cy="261610"/>
          </a:xfrm>
          <a:prstGeom prst="rect">
            <a:avLst/>
          </a:prstGeom>
          <a:noFill/>
        </p:spPr>
        <p:txBody>
          <a:bodyPr wrap="none" rtlCol="0">
            <a:spAutoFit/>
          </a:bodyPr>
          <a:lstStyle/>
          <a:p>
            <a:r>
              <a:rPr lang="en-US" sz="1100" dirty="0"/>
              <a:t>1</a:t>
            </a:r>
          </a:p>
        </p:txBody>
      </p:sp>
      <p:sp>
        <p:nvSpPr>
          <p:cNvPr id="64" name="TextBox 63">
            <a:extLst>
              <a:ext uri="{FF2B5EF4-FFF2-40B4-BE49-F238E27FC236}">
                <a16:creationId xmlns:a16="http://schemas.microsoft.com/office/drawing/2014/main" id="{90F24FEF-FCA7-23DB-1BA2-C6CC202426D9}"/>
              </a:ext>
            </a:extLst>
          </p:cNvPr>
          <p:cNvSpPr txBox="1"/>
          <p:nvPr/>
        </p:nvSpPr>
        <p:spPr>
          <a:xfrm>
            <a:off x="4727686" y="4430006"/>
            <a:ext cx="260008" cy="261610"/>
          </a:xfrm>
          <a:prstGeom prst="rect">
            <a:avLst/>
          </a:prstGeom>
          <a:noFill/>
        </p:spPr>
        <p:txBody>
          <a:bodyPr wrap="none" rtlCol="0">
            <a:spAutoFit/>
          </a:bodyPr>
          <a:lstStyle/>
          <a:p>
            <a:r>
              <a:rPr lang="en-US" sz="1100" dirty="0"/>
              <a:t>2</a:t>
            </a:r>
          </a:p>
        </p:txBody>
      </p:sp>
      <p:sp>
        <p:nvSpPr>
          <p:cNvPr id="65" name="TextBox 64">
            <a:extLst>
              <a:ext uri="{FF2B5EF4-FFF2-40B4-BE49-F238E27FC236}">
                <a16:creationId xmlns:a16="http://schemas.microsoft.com/office/drawing/2014/main" id="{40618323-E05A-209F-35D5-73DD97C511E6}"/>
              </a:ext>
            </a:extLst>
          </p:cNvPr>
          <p:cNvSpPr txBox="1"/>
          <p:nvPr/>
        </p:nvSpPr>
        <p:spPr>
          <a:xfrm>
            <a:off x="5186474" y="4430006"/>
            <a:ext cx="260008" cy="261610"/>
          </a:xfrm>
          <a:prstGeom prst="rect">
            <a:avLst/>
          </a:prstGeom>
          <a:noFill/>
        </p:spPr>
        <p:txBody>
          <a:bodyPr wrap="none" rtlCol="0">
            <a:spAutoFit/>
          </a:bodyPr>
          <a:lstStyle/>
          <a:p>
            <a:r>
              <a:rPr lang="en-US" sz="1100" dirty="0"/>
              <a:t>3</a:t>
            </a:r>
          </a:p>
        </p:txBody>
      </p:sp>
      <p:sp>
        <p:nvSpPr>
          <p:cNvPr id="66" name="TextBox 65">
            <a:extLst>
              <a:ext uri="{FF2B5EF4-FFF2-40B4-BE49-F238E27FC236}">
                <a16:creationId xmlns:a16="http://schemas.microsoft.com/office/drawing/2014/main" id="{8C3357CE-D3EF-B6E3-B50B-E77B61A011DD}"/>
              </a:ext>
            </a:extLst>
          </p:cNvPr>
          <p:cNvSpPr txBox="1"/>
          <p:nvPr/>
        </p:nvSpPr>
        <p:spPr>
          <a:xfrm>
            <a:off x="5817216" y="4428433"/>
            <a:ext cx="260008" cy="261610"/>
          </a:xfrm>
          <a:prstGeom prst="rect">
            <a:avLst/>
          </a:prstGeom>
          <a:noFill/>
        </p:spPr>
        <p:txBody>
          <a:bodyPr wrap="none" rtlCol="0">
            <a:spAutoFit/>
          </a:bodyPr>
          <a:lstStyle/>
          <a:p>
            <a:r>
              <a:rPr lang="en-US" sz="1100" dirty="0"/>
              <a:t>4</a:t>
            </a:r>
          </a:p>
        </p:txBody>
      </p:sp>
      <p:sp>
        <p:nvSpPr>
          <p:cNvPr id="67" name="Oval 66">
            <a:extLst>
              <a:ext uri="{FF2B5EF4-FFF2-40B4-BE49-F238E27FC236}">
                <a16:creationId xmlns:a16="http://schemas.microsoft.com/office/drawing/2014/main" id="{E1DAC61C-F703-2D36-36ED-11527910B22C}"/>
              </a:ext>
            </a:extLst>
          </p:cNvPr>
          <p:cNvSpPr/>
          <p:nvPr/>
        </p:nvSpPr>
        <p:spPr>
          <a:xfrm>
            <a:off x="7131763" y="4395809"/>
            <a:ext cx="96963" cy="8883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Arrow Connector 67">
            <a:extLst>
              <a:ext uri="{FF2B5EF4-FFF2-40B4-BE49-F238E27FC236}">
                <a16:creationId xmlns:a16="http://schemas.microsoft.com/office/drawing/2014/main" id="{C59C481A-EFE4-5869-BCF5-F76E8BC4830C}"/>
              </a:ext>
            </a:extLst>
          </p:cNvPr>
          <p:cNvCxnSpPr>
            <a:cxnSpLocks/>
          </p:cNvCxnSpPr>
          <p:nvPr/>
        </p:nvCxnSpPr>
        <p:spPr>
          <a:xfrm flipV="1">
            <a:off x="7182799" y="3912542"/>
            <a:ext cx="0" cy="483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07939219-6DF4-63D2-10D2-1EE5D57E1ED2}"/>
              </a:ext>
            </a:extLst>
          </p:cNvPr>
          <p:cNvCxnSpPr>
            <a:cxnSpLocks/>
          </p:cNvCxnSpPr>
          <p:nvPr/>
        </p:nvCxnSpPr>
        <p:spPr>
          <a:xfrm>
            <a:off x="7182818" y="4491496"/>
            <a:ext cx="0" cy="483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E6391DF6-93D9-00D2-FBD8-D72A50043D93}"/>
              </a:ext>
            </a:extLst>
          </p:cNvPr>
          <p:cNvCxnSpPr>
            <a:cxnSpLocks/>
          </p:cNvCxnSpPr>
          <p:nvPr/>
        </p:nvCxnSpPr>
        <p:spPr>
          <a:xfrm>
            <a:off x="7236449" y="4440797"/>
            <a:ext cx="507376" cy="73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FA2BEEDA-147E-D9C2-8ADC-CCC859701328}"/>
              </a:ext>
            </a:extLst>
          </p:cNvPr>
          <p:cNvCxnSpPr/>
          <p:nvPr/>
        </p:nvCxnSpPr>
        <p:spPr>
          <a:xfrm>
            <a:off x="6733981" y="4440638"/>
            <a:ext cx="390059" cy="0"/>
          </a:xfrm>
          <a:prstGeom prst="straightConnector1">
            <a:avLst/>
          </a:prstGeom>
          <a:ln>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BD0E64E8-0205-51BF-D600-0A1CFDC990EA}"/>
              </a:ext>
            </a:extLst>
          </p:cNvPr>
          <p:cNvSpPr txBox="1"/>
          <p:nvPr/>
        </p:nvSpPr>
        <p:spPr>
          <a:xfrm>
            <a:off x="7180244" y="3761761"/>
            <a:ext cx="726481" cy="261610"/>
          </a:xfrm>
          <a:prstGeom prst="rect">
            <a:avLst/>
          </a:prstGeom>
          <a:noFill/>
        </p:spPr>
        <p:txBody>
          <a:bodyPr wrap="none" rtlCol="0">
            <a:spAutoFit/>
          </a:bodyPr>
          <a:lstStyle/>
          <a:p>
            <a:r>
              <a:rPr lang="en-US" sz="1100" dirty="0"/>
              <a:t>F</a:t>
            </a:r>
            <a:r>
              <a:rPr lang="en-US" sz="1100" baseline="-25000" dirty="0"/>
              <a:t>N </a:t>
            </a:r>
            <a:r>
              <a:rPr lang="en-US" sz="1100" dirty="0"/>
              <a:t>= 12 N</a:t>
            </a:r>
          </a:p>
        </p:txBody>
      </p:sp>
      <p:sp>
        <p:nvSpPr>
          <p:cNvPr id="76" name="TextBox 75">
            <a:extLst>
              <a:ext uri="{FF2B5EF4-FFF2-40B4-BE49-F238E27FC236}">
                <a16:creationId xmlns:a16="http://schemas.microsoft.com/office/drawing/2014/main" id="{31CEC5A0-88D0-B077-551D-AC13FA237A6E}"/>
              </a:ext>
            </a:extLst>
          </p:cNvPr>
          <p:cNvSpPr txBox="1"/>
          <p:nvPr/>
        </p:nvSpPr>
        <p:spPr>
          <a:xfrm>
            <a:off x="7180243" y="4856810"/>
            <a:ext cx="697627" cy="261610"/>
          </a:xfrm>
          <a:prstGeom prst="rect">
            <a:avLst/>
          </a:prstGeom>
          <a:noFill/>
        </p:spPr>
        <p:txBody>
          <a:bodyPr wrap="none" rtlCol="0">
            <a:spAutoFit/>
          </a:bodyPr>
          <a:lstStyle/>
          <a:p>
            <a:r>
              <a:rPr lang="en-US" sz="1100" dirty="0"/>
              <a:t>w = 12 N</a:t>
            </a:r>
          </a:p>
        </p:txBody>
      </p:sp>
      <p:sp>
        <p:nvSpPr>
          <p:cNvPr id="77" name="TextBox 76">
            <a:extLst>
              <a:ext uri="{FF2B5EF4-FFF2-40B4-BE49-F238E27FC236}">
                <a16:creationId xmlns:a16="http://schemas.microsoft.com/office/drawing/2014/main" id="{DEB197F8-D850-88B1-1B18-A82A020E8EE7}"/>
              </a:ext>
            </a:extLst>
          </p:cNvPr>
          <p:cNvSpPr txBox="1"/>
          <p:nvPr/>
        </p:nvSpPr>
        <p:spPr>
          <a:xfrm>
            <a:off x="7279762" y="4162815"/>
            <a:ext cx="889987" cy="261610"/>
          </a:xfrm>
          <a:prstGeom prst="rect">
            <a:avLst/>
          </a:prstGeom>
          <a:noFill/>
        </p:spPr>
        <p:txBody>
          <a:bodyPr wrap="none" rtlCol="0">
            <a:spAutoFit/>
          </a:bodyPr>
          <a:lstStyle/>
          <a:p>
            <a:r>
              <a:rPr lang="en-US" sz="1100" dirty="0" err="1"/>
              <a:t>F</a:t>
            </a:r>
            <a:r>
              <a:rPr lang="en-US" sz="1100" baseline="-25000" dirty="0" err="1"/>
              <a:t>applied</a:t>
            </a:r>
            <a:r>
              <a:rPr lang="en-US" sz="1100" baseline="-25000" dirty="0"/>
              <a:t> </a:t>
            </a:r>
            <a:r>
              <a:rPr lang="en-US" sz="1100" dirty="0"/>
              <a:t>= 8 N</a:t>
            </a:r>
          </a:p>
        </p:txBody>
      </p:sp>
      <p:sp>
        <p:nvSpPr>
          <p:cNvPr id="78" name="TextBox 77">
            <a:extLst>
              <a:ext uri="{FF2B5EF4-FFF2-40B4-BE49-F238E27FC236}">
                <a16:creationId xmlns:a16="http://schemas.microsoft.com/office/drawing/2014/main" id="{F07F87ED-E418-0A82-2137-099435A724C7}"/>
              </a:ext>
            </a:extLst>
          </p:cNvPr>
          <p:cNvSpPr txBox="1"/>
          <p:nvPr/>
        </p:nvSpPr>
        <p:spPr>
          <a:xfrm>
            <a:off x="6484016" y="4169925"/>
            <a:ext cx="601447" cy="261610"/>
          </a:xfrm>
          <a:prstGeom prst="rect">
            <a:avLst/>
          </a:prstGeom>
          <a:noFill/>
        </p:spPr>
        <p:txBody>
          <a:bodyPr wrap="none" rtlCol="0">
            <a:spAutoFit/>
          </a:bodyPr>
          <a:lstStyle/>
          <a:p>
            <a:r>
              <a:rPr lang="en-US" sz="1100" dirty="0" err="1"/>
              <a:t>f</a:t>
            </a:r>
            <a:r>
              <a:rPr lang="en-US" sz="1100" baseline="-25000" dirty="0" err="1"/>
              <a:t>k</a:t>
            </a:r>
            <a:r>
              <a:rPr lang="en-US" sz="1100" baseline="-25000" dirty="0"/>
              <a:t> </a:t>
            </a:r>
            <a:r>
              <a:rPr lang="en-US" sz="1100" dirty="0"/>
              <a:t>= 7 N</a:t>
            </a:r>
          </a:p>
        </p:txBody>
      </p:sp>
      <p:sp>
        <p:nvSpPr>
          <p:cNvPr id="80" name="TextBox 79">
            <a:extLst>
              <a:ext uri="{FF2B5EF4-FFF2-40B4-BE49-F238E27FC236}">
                <a16:creationId xmlns:a16="http://schemas.microsoft.com/office/drawing/2014/main" id="{704D8B42-A2D0-FD2D-B498-D12A4015D99B}"/>
              </a:ext>
            </a:extLst>
          </p:cNvPr>
          <p:cNvSpPr txBox="1"/>
          <p:nvPr/>
        </p:nvSpPr>
        <p:spPr>
          <a:xfrm>
            <a:off x="309993" y="6324206"/>
            <a:ext cx="604653" cy="261610"/>
          </a:xfrm>
          <a:prstGeom prst="rect">
            <a:avLst/>
          </a:prstGeom>
          <a:noFill/>
        </p:spPr>
        <p:txBody>
          <a:bodyPr wrap="none" rtlCol="0">
            <a:spAutoFit/>
          </a:bodyPr>
          <a:lstStyle/>
          <a:p>
            <a:r>
              <a:rPr lang="en-US" sz="1100" dirty="0"/>
              <a:t>Case 2</a:t>
            </a:r>
          </a:p>
        </p:txBody>
      </p:sp>
      <p:sp>
        <p:nvSpPr>
          <p:cNvPr id="2" name="Rectangle 1">
            <a:extLst>
              <a:ext uri="{FF2B5EF4-FFF2-40B4-BE49-F238E27FC236}">
                <a16:creationId xmlns:a16="http://schemas.microsoft.com/office/drawing/2014/main" id="{BFBF91B2-049E-B8AA-2565-34F424E83975}"/>
              </a:ext>
            </a:extLst>
          </p:cNvPr>
          <p:cNvSpPr/>
          <p:nvPr/>
        </p:nvSpPr>
        <p:spPr>
          <a:xfrm>
            <a:off x="207995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 name="Rectangle 3">
            <a:extLst>
              <a:ext uri="{FF2B5EF4-FFF2-40B4-BE49-F238E27FC236}">
                <a16:creationId xmlns:a16="http://schemas.microsoft.com/office/drawing/2014/main" id="{B7CB0704-6EEF-EF82-CFEF-07AB6FA298DA}"/>
              </a:ext>
            </a:extLst>
          </p:cNvPr>
          <p:cNvSpPr/>
          <p:nvPr/>
        </p:nvSpPr>
        <p:spPr>
          <a:xfrm>
            <a:off x="415887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0" name="Rectangle 29">
            <a:extLst>
              <a:ext uri="{FF2B5EF4-FFF2-40B4-BE49-F238E27FC236}">
                <a16:creationId xmlns:a16="http://schemas.microsoft.com/office/drawing/2014/main" id="{F840FB53-2B97-C038-300D-C8184050518F}"/>
              </a:ext>
            </a:extLst>
          </p:cNvPr>
          <p:cNvSpPr/>
          <p:nvPr/>
        </p:nvSpPr>
        <p:spPr>
          <a:xfrm>
            <a:off x="9560"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3" name="Rectangle 42">
            <a:extLst>
              <a:ext uri="{FF2B5EF4-FFF2-40B4-BE49-F238E27FC236}">
                <a16:creationId xmlns:a16="http://schemas.microsoft.com/office/drawing/2014/main" id="{74BF21EE-B130-0DE6-DDB2-8B84A1BF2105}"/>
              </a:ext>
            </a:extLst>
          </p:cNvPr>
          <p:cNvSpPr/>
          <p:nvPr/>
        </p:nvSpPr>
        <p:spPr>
          <a:xfrm>
            <a:off x="2079956"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4" name="Rectangle 43">
            <a:extLst>
              <a:ext uri="{FF2B5EF4-FFF2-40B4-BE49-F238E27FC236}">
                <a16:creationId xmlns:a16="http://schemas.microsoft.com/office/drawing/2014/main" id="{644601A2-35D7-3529-C55D-94861F6C309F}"/>
              </a:ext>
            </a:extLst>
          </p:cNvPr>
          <p:cNvSpPr/>
          <p:nvPr/>
        </p:nvSpPr>
        <p:spPr>
          <a:xfrm>
            <a:off x="4158876"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5" name="Rectangle 44">
            <a:extLst>
              <a:ext uri="{FF2B5EF4-FFF2-40B4-BE49-F238E27FC236}">
                <a16:creationId xmlns:a16="http://schemas.microsoft.com/office/drawing/2014/main" id="{9D7A20B5-45F9-1569-5228-F299D9B72F4E}"/>
              </a:ext>
            </a:extLst>
          </p:cNvPr>
          <p:cNvSpPr/>
          <p:nvPr/>
        </p:nvSpPr>
        <p:spPr>
          <a:xfrm>
            <a:off x="6226082" y="2955663"/>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cxnSp>
        <p:nvCxnSpPr>
          <p:cNvPr id="7" name="Straight Connector 6">
            <a:extLst>
              <a:ext uri="{FF2B5EF4-FFF2-40B4-BE49-F238E27FC236}">
                <a16:creationId xmlns:a16="http://schemas.microsoft.com/office/drawing/2014/main" id="{7D6D1653-8A4F-1618-78AC-36800C6A84AE}"/>
              </a:ext>
            </a:extLst>
          </p:cNvPr>
          <p:cNvCxnSpPr>
            <a:cxnSpLocks/>
          </p:cNvCxnSpPr>
          <p:nvPr/>
        </p:nvCxnSpPr>
        <p:spPr>
          <a:xfrm flipV="1">
            <a:off x="2418224" y="716801"/>
            <a:ext cx="1296832" cy="445169"/>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8" name="Straight Connector 7">
            <a:extLst>
              <a:ext uri="{FF2B5EF4-FFF2-40B4-BE49-F238E27FC236}">
                <a16:creationId xmlns:a16="http://schemas.microsoft.com/office/drawing/2014/main" id="{20B0AFAD-4D3E-FDDB-3973-387D5481B8E4}"/>
              </a:ext>
            </a:extLst>
          </p:cNvPr>
          <p:cNvCxnSpPr>
            <a:cxnSpLocks/>
          </p:cNvCxnSpPr>
          <p:nvPr/>
        </p:nvCxnSpPr>
        <p:spPr>
          <a:xfrm>
            <a:off x="4467048" y="1172859"/>
            <a:ext cx="1292968" cy="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sp>
        <p:nvSpPr>
          <p:cNvPr id="11" name="Freeform: Shape 10">
            <a:extLst>
              <a:ext uri="{FF2B5EF4-FFF2-40B4-BE49-F238E27FC236}">
                <a16:creationId xmlns:a16="http://schemas.microsoft.com/office/drawing/2014/main" id="{5B7202E8-5A3D-3484-672C-6B6A6DEE278E}"/>
              </a:ext>
            </a:extLst>
          </p:cNvPr>
          <p:cNvSpPr/>
          <p:nvPr/>
        </p:nvSpPr>
        <p:spPr>
          <a:xfrm>
            <a:off x="371928" y="548640"/>
            <a:ext cx="1374064" cy="679994"/>
          </a:xfrm>
          <a:custGeom>
            <a:avLst/>
            <a:gdLst>
              <a:gd name="connsiteX0" fmla="*/ 0 w 3704253"/>
              <a:gd name="connsiteY0" fmla="*/ 1800808 h 1800808"/>
              <a:gd name="connsiteX1" fmla="*/ 737119 w 3704253"/>
              <a:gd name="connsiteY1" fmla="*/ 1716832 h 1800808"/>
              <a:gd name="connsiteX2" fmla="*/ 1492898 w 3704253"/>
              <a:gd name="connsiteY2" fmla="*/ 1492898 h 1800808"/>
              <a:gd name="connsiteX3" fmla="*/ 2239347 w 3704253"/>
              <a:gd name="connsiteY3" fmla="*/ 1147665 h 1800808"/>
              <a:gd name="connsiteX4" fmla="*/ 2976466 w 3704253"/>
              <a:gd name="connsiteY4" fmla="*/ 653142 h 1800808"/>
              <a:gd name="connsiteX5" fmla="*/ 3704253 w 3704253"/>
              <a:gd name="connsiteY5" fmla="*/ 0 h 1800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4253" h="1800808">
                <a:moveTo>
                  <a:pt x="0" y="1800808"/>
                </a:moveTo>
                <a:cubicBezTo>
                  <a:pt x="244151" y="1784479"/>
                  <a:pt x="488303" y="1768150"/>
                  <a:pt x="737119" y="1716832"/>
                </a:cubicBezTo>
                <a:cubicBezTo>
                  <a:pt x="985935" y="1665514"/>
                  <a:pt x="1242527" y="1587759"/>
                  <a:pt x="1492898" y="1492898"/>
                </a:cubicBezTo>
                <a:cubicBezTo>
                  <a:pt x="1743269" y="1398037"/>
                  <a:pt x="1992086" y="1287624"/>
                  <a:pt x="2239347" y="1147665"/>
                </a:cubicBezTo>
                <a:cubicBezTo>
                  <a:pt x="2486608" y="1007706"/>
                  <a:pt x="2732315" y="844419"/>
                  <a:pt x="2976466" y="653142"/>
                </a:cubicBezTo>
                <a:cubicBezTo>
                  <a:pt x="3220617" y="461865"/>
                  <a:pt x="3462435" y="230932"/>
                  <a:pt x="3704253" y="0"/>
                </a:cubicBezTo>
              </a:path>
            </a:pathLst>
          </a:cu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CC4F4E3-CE6F-4567-6AEB-6C3DD242CFBD}"/>
              </a:ext>
            </a:extLst>
          </p:cNvPr>
          <p:cNvSpPr/>
          <p:nvPr/>
        </p:nvSpPr>
        <p:spPr>
          <a:xfrm>
            <a:off x="-1950" y="0"/>
            <a:ext cx="2087925" cy="25205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 vs t graph</a:t>
            </a:r>
          </a:p>
        </p:txBody>
      </p:sp>
      <p:sp>
        <p:nvSpPr>
          <p:cNvPr id="19" name="Rectangle 18">
            <a:extLst>
              <a:ext uri="{FF2B5EF4-FFF2-40B4-BE49-F238E27FC236}">
                <a16:creationId xmlns:a16="http://schemas.microsoft.com/office/drawing/2014/main" id="{095DA4F9-63B0-E437-6765-00A7370E2E87}"/>
              </a:ext>
            </a:extLst>
          </p:cNvPr>
          <p:cNvSpPr/>
          <p:nvPr/>
        </p:nvSpPr>
        <p:spPr>
          <a:xfrm>
            <a:off x="2083595" y="374"/>
            <a:ext cx="2076450" cy="252056"/>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v vs t graph</a:t>
            </a:r>
          </a:p>
        </p:txBody>
      </p:sp>
      <p:sp>
        <p:nvSpPr>
          <p:cNvPr id="20" name="Rectangle 19">
            <a:extLst>
              <a:ext uri="{FF2B5EF4-FFF2-40B4-BE49-F238E27FC236}">
                <a16:creationId xmlns:a16="http://schemas.microsoft.com/office/drawing/2014/main" id="{4E7BE215-2A0C-5D2F-1AFA-AB0DB312AA43}"/>
              </a:ext>
            </a:extLst>
          </p:cNvPr>
          <p:cNvSpPr/>
          <p:nvPr/>
        </p:nvSpPr>
        <p:spPr>
          <a:xfrm>
            <a:off x="4160044" y="202"/>
            <a:ext cx="2074563" cy="252056"/>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 vs t graph</a:t>
            </a:r>
          </a:p>
        </p:txBody>
      </p:sp>
      <p:sp>
        <p:nvSpPr>
          <p:cNvPr id="47" name="Rectangle 46">
            <a:extLst>
              <a:ext uri="{FF2B5EF4-FFF2-40B4-BE49-F238E27FC236}">
                <a16:creationId xmlns:a16="http://schemas.microsoft.com/office/drawing/2014/main" id="{E334BD4F-D787-8F21-DFF1-16435734166F}"/>
              </a:ext>
            </a:extLst>
          </p:cNvPr>
          <p:cNvSpPr/>
          <p:nvPr/>
        </p:nvSpPr>
        <p:spPr>
          <a:xfrm>
            <a:off x="0" y="2959172"/>
            <a:ext cx="2088480" cy="252056"/>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Velocity</a:t>
            </a:r>
          </a:p>
        </p:txBody>
      </p:sp>
      <p:sp>
        <p:nvSpPr>
          <p:cNvPr id="48" name="Rectangle 47">
            <a:extLst>
              <a:ext uri="{FF2B5EF4-FFF2-40B4-BE49-F238E27FC236}">
                <a16:creationId xmlns:a16="http://schemas.microsoft.com/office/drawing/2014/main" id="{93FCAC53-2FD5-F85A-523A-234A56031898}"/>
              </a:ext>
            </a:extLst>
          </p:cNvPr>
          <p:cNvSpPr/>
          <p:nvPr/>
        </p:nvSpPr>
        <p:spPr>
          <a:xfrm>
            <a:off x="2081269" y="2960748"/>
            <a:ext cx="2077606" cy="252056"/>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Acceleration</a:t>
            </a:r>
          </a:p>
        </p:txBody>
      </p:sp>
      <p:sp>
        <p:nvSpPr>
          <p:cNvPr id="52" name="Rectangle 51">
            <a:extLst>
              <a:ext uri="{FF2B5EF4-FFF2-40B4-BE49-F238E27FC236}">
                <a16:creationId xmlns:a16="http://schemas.microsoft.com/office/drawing/2014/main" id="{CB0BFD04-F90A-26A7-B88E-FB700EA0BEC7}"/>
              </a:ext>
            </a:extLst>
          </p:cNvPr>
          <p:cNvSpPr/>
          <p:nvPr/>
        </p:nvSpPr>
        <p:spPr>
          <a:xfrm>
            <a:off x="4158875" y="2959073"/>
            <a:ext cx="2076986" cy="25205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Motion diagram</a:t>
            </a:r>
          </a:p>
        </p:txBody>
      </p:sp>
      <p:sp>
        <p:nvSpPr>
          <p:cNvPr id="54" name="Rectangle 53">
            <a:extLst>
              <a:ext uri="{FF2B5EF4-FFF2-40B4-BE49-F238E27FC236}">
                <a16:creationId xmlns:a16="http://schemas.microsoft.com/office/drawing/2014/main" id="{02F8F6E9-2A94-F197-27B5-F7DBBB2C6E74}"/>
              </a:ext>
            </a:extLst>
          </p:cNvPr>
          <p:cNvSpPr/>
          <p:nvPr/>
        </p:nvSpPr>
        <p:spPr>
          <a:xfrm>
            <a:off x="6236557" y="2959073"/>
            <a:ext cx="2068598" cy="252056"/>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Free Body Diagram</a:t>
            </a:r>
          </a:p>
        </p:txBody>
      </p:sp>
      <p:sp>
        <p:nvSpPr>
          <p:cNvPr id="28" name="Rectangle 27">
            <a:extLst>
              <a:ext uri="{FF2B5EF4-FFF2-40B4-BE49-F238E27FC236}">
                <a16:creationId xmlns:a16="http://schemas.microsoft.com/office/drawing/2014/main" id="{06E29CCC-B4ED-40BE-92E3-23E02A15649F}"/>
              </a:ext>
            </a:extLst>
          </p:cNvPr>
          <p:cNvSpPr/>
          <p:nvPr/>
        </p:nvSpPr>
        <p:spPr>
          <a:xfrm>
            <a:off x="6226082" y="-7609"/>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29" name="TextBox 28">
            <a:extLst>
              <a:ext uri="{FF2B5EF4-FFF2-40B4-BE49-F238E27FC236}">
                <a16:creationId xmlns:a16="http://schemas.microsoft.com/office/drawing/2014/main" id="{177B6D6C-9A57-5FF0-97E9-6DFDE0390032}"/>
              </a:ext>
            </a:extLst>
          </p:cNvPr>
          <p:cNvSpPr txBox="1"/>
          <p:nvPr/>
        </p:nvSpPr>
        <p:spPr>
          <a:xfrm>
            <a:off x="6274014" y="1250290"/>
            <a:ext cx="2169169" cy="846386"/>
          </a:xfrm>
          <a:prstGeom prst="rect">
            <a:avLst/>
          </a:prstGeom>
          <a:noFill/>
        </p:spPr>
        <p:txBody>
          <a:bodyPr wrap="square" rtlCol="0">
            <a:spAutoFit/>
          </a:bodyPr>
          <a:lstStyle/>
          <a:p>
            <a:pPr algn="ctr"/>
            <a:r>
              <a:rPr lang="en-US" sz="1400" dirty="0"/>
              <a:t>Object moving in the </a:t>
            </a:r>
            <a:r>
              <a:rPr lang="en-US" sz="1400" b="1" dirty="0"/>
              <a:t>positive</a:t>
            </a:r>
            <a:r>
              <a:rPr lang="en-US" sz="1400" dirty="0"/>
              <a:t> direction at </a:t>
            </a:r>
            <a:r>
              <a:rPr lang="en-US" sz="1400" dirty="0">
                <a:solidFill>
                  <a:schemeClr val="accent6">
                    <a:lumMod val="75000"/>
                  </a:schemeClr>
                </a:solidFill>
              </a:rPr>
              <a:t>increasing</a:t>
            </a:r>
            <a:r>
              <a:rPr lang="en-US" sz="1400" dirty="0"/>
              <a:t> speed</a:t>
            </a:r>
          </a:p>
          <a:p>
            <a:pPr algn="ctr"/>
            <a:endParaRPr lang="en-US" sz="600" dirty="0"/>
          </a:p>
        </p:txBody>
      </p:sp>
      <p:sp>
        <p:nvSpPr>
          <p:cNvPr id="42" name="Diagonal Stripe 41">
            <a:extLst>
              <a:ext uri="{FF2B5EF4-FFF2-40B4-BE49-F238E27FC236}">
                <a16:creationId xmlns:a16="http://schemas.microsoft.com/office/drawing/2014/main" id="{59452ABD-F39A-222D-818E-A155D8094A3B}"/>
              </a:ext>
            </a:extLst>
          </p:cNvPr>
          <p:cNvSpPr/>
          <p:nvPr/>
        </p:nvSpPr>
        <p:spPr>
          <a:xfrm>
            <a:off x="6247969" y="0"/>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6" name="Diagonal Stripe 55">
            <a:extLst>
              <a:ext uri="{FF2B5EF4-FFF2-40B4-BE49-F238E27FC236}">
                <a16:creationId xmlns:a16="http://schemas.microsoft.com/office/drawing/2014/main" id="{BB460814-F743-7CFE-0EBB-D5C00F3B4268}"/>
              </a:ext>
            </a:extLst>
          </p:cNvPr>
          <p:cNvSpPr/>
          <p:nvPr/>
        </p:nvSpPr>
        <p:spPr>
          <a:xfrm rot="10800000">
            <a:off x="7717891" y="2367056"/>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8" name="TextBox 57">
            <a:extLst>
              <a:ext uri="{FF2B5EF4-FFF2-40B4-BE49-F238E27FC236}">
                <a16:creationId xmlns:a16="http://schemas.microsoft.com/office/drawing/2014/main" id="{FDBA4CC2-1CA8-BB00-BFCC-4F3B998EDCCA}"/>
              </a:ext>
            </a:extLst>
          </p:cNvPr>
          <p:cNvSpPr txBox="1"/>
          <p:nvPr/>
        </p:nvSpPr>
        <p:spPr>
          <a:xfrm>
            <a:off x="6622921" y="2381869"/>
            <a:ext cx="1294640" cy="430887"/>
          </a:xfrm>
          <a:prstGeom prst="rect">
            <a:avLst/>
          </a:prstGeom>
          <a:noFill/>
        </p:spPr>
        <p:txBody>
          <a:bodyPr wrap="square" rtlCol="0">
            <a:spAutoFit/>
          </a:bodyPr>
          <a:lstStyle/>
          <a:p>
            <a:pPr algn="ctr"/>
            <a:r>
              <a:rPr lang="en-US" sz="1100" dirty="0"/>
              <a:t>Answer key on reverse side</a:t>
            </a:r>
          </a:p>
        </p:txBody>
      </p:sp>
      <p:sp>
        <p:nvSpPr>
          <p:cNvPr id="72" name="TextBox 71">
            <a:extLst>
              <a:ext uri="{FF2B5EF4-FFF2-40B4-BE49-F238E27FC236}">
                <a16:creationId xmlns:a16="http://schemas.microsoft.com/office/drawing/2014/main" id="{1DDF9C3F-DF3D-131E-88DF-DB1B98EE00D3}"/>
              </a:ext>
            </a:extLst>
          </p:cNvPr>
          <p:cNvSpPr txBox="1"/>
          <p:nvPr/>
        </p:nvSpPr>
        <p:spPr>
          <a:xfrm>
            <a:off x="68492" y="2575731"/>
            <a:ext cx="662361" cy="261610"/>
          </a:xfrm>
          <a:prstGeom prst="rect">
            <a:avLst/>
          </a:prstGeom>
          <a:noFill/>
        </p:spPr>
        <p:txBody>
          <a:bodyPr wrap="none" rtlCol="0">
            <a:spAutoFit/>
          </a:bodyPr>
          <a:lstStyle/>
          <a:p>
            <a:r>
              <a:rPr lang="en-US" sz="1100" dirty="0"/>
              <a:t>Card 12</a:t>
            </a:r>
          </a:p>
        </p:txBody>
      </p:sp>
      <p:sp>
        <p:nvSpPr>
          <p:cNvPr id="79" name="TextBox 78">
            <a:extLst>
              <a:ext uri="{FF2B5EF4-FFF2-40B4-BE49-F238E27FC236}">
                <a16:creationId xmlns:a16="http://schemas.microsoft.com/office/drawing/2014/main" id="{E3927599-08EB-1AE9-4435-ED90AA415380}"/>
              </a:ext>
            </a:extLst>
          </p:cNvPr>
          <p:cNvSpPr txBox="1"/>
          <p:nvPr/>
        </p:nvSpPr>
        <p:spPr>
          <a:xfrm>
            <a:off x="68492" y="5557769"/>
            <a:ext cx="587020" cy="261610"/>
          </a:xfrm>
          <a:prstGeom prst="rect">
            <a:avLst/>
          </a:prstGeom>
          <a:noFill/>
        </p:spPr>
        <p:txBody>
          <a:bodyPr wrap="none" rtlCol="0">
            <a:spAutoFit/>
          </a:bodyPr>
          <a:lstStyle/>
          <a:p>
            <a:r>
              <a:rPr lang="en-US" sz="1100" dirty="0"/>
              <a:t>Card 8</a:t>
            </a:r>
          </a:p>
        </p:txBody>
      </p:sp>
      <p:sp>
        <p:nvSpPr>
          <p:cNvPr id="82" name="TextBox 81">
            <a:extLst>
              <a:ext uri="{FF2B5EF4-FFF2-40B4-BE49-F238E27FC236}">
                <a16:creationId xmlns:a16="http://schemas.microsoft.com/office/drawing/2014/main" id="{1299078F-AB95-627E-2143-70BD6E6887EE}"/>
              </a:ext>
            </a:extLst>
          </p:cNvPr>
          <p:cNvSpPr txBox="1"/>
          <p:nvPr/>
        </p:nvSpPr>
        <p:spPr>
          <a:xfrm>
            <a:off x="2210492" y="5556245"/>
            <a:ext cx="662361" cy="261610"/>
          </a:xfrm>
          <a:prstGeom prst="rect">
            <a:avLst/>
          </a:prstGeom>
          <a:noFill/>
        </p:spPr>
        <p:txBody>
          <a:bodyPr wrap="none" rtlCol="0">
            <a:spAutoFit/>
          </a:bodyPr>
          <a:lstStyle/>
          <a:p>
            <a:r>
              <a:rPr lang="en-US" sz="1100" dirty="0"/>
              <a:t>Card 11</a:t>
            </a:r>
          </a:p>
        </p:txBody>
      </p:sp>
      <p:sp>
        <p:nvSpPr>
          <p:cNvPr id="83" name="TextBox 82">
            <a:extLst>
              <a:ext uri="{FF2B5EF4-FFF2-40B4-BE49-F238E27FC236}">
                <a16:creationId xmlns:a16="http://schemas.microsoft.com/office/drawing/2014/main" id="{18336D5A-4673-A105-7C34-387CB55B6885}"/>
              </a:ext>
            </a:extLst>
          </p:cNvPr>
          <p:cNvSpPr txBox="1"/>
          <p:nvPr/>
        </p:nvSpPr>
        <p:spPr>
          <a:xfrm>
            <a:off x="2153694" y="2610998"/>
            <a:ext cx="662361" cy="261610"/>
          </a:xfrm>
          <a:prstGeom prst="rect">
            <a:avLst/>
          </a:prstGeom>
          <a:noFill/>
        </p:spPr>
        <p:txBody>
          <a:bodyPr wrap="none" rtlCol="0">
            <a:spAutoFit/>
          </a:bodyPr>
          <a:lstStyle/>
          <a:p>
            <a:r>
              <a:rPr lang="en-US" sz="1100" dirty="0"/>
              <a:t>Card 23</a:t>
            </a:r>
          </a:p>
        </p:txBody>
      </p:sp>
      <p:sp>
        <p:nvSpPr>
          <p:cNvPr id="84" name="TextBox 83">
            <a:extLst>
              <a:ext uri="{FF2B5EF4-FFF2-40B4-BE49-F238E27FC236}">
                <a16:creationId xmlns:a16="http://schemas.microsoft.com/office/drawing/2014/main" id="{E85ECF13-6A41-44EE-54F0-DE37963CCD2E}"/>
              </a:ext>
            </a:extLst>
          </p:cNvPr>
          <p:cNvSpPr txBox="1"/>
          <p:nvPr/>
        </p:nvSpPr>
        <p:spPr>
          <a:xfrm>
            <a:off x="4256608" y="2645428"/>
            <a:ext cx="662361" cy="261610"/>
          </a:xfrm>
          <a:prstGeom prst="rect">
            <a:avLst/>
          </a:prstGeom>
          <a:noFill/>
        </p:spPr>
        <p:txBody>
          <a:bodyPr wrap="none" rtlCol="0">
            <a:spAutoFit/>
          </a:bodyPr>
          <a:lstStyle/>
          <a:p>
            <a:r>
              <a:rPr lang="en-US" sz="1100" dirty="0"/>
              <a:t>Card 24</a:t>
            </a:r>
          </a:p>
        </p:txBody>
      </p:sp>
      <p:sp>
        <p:nvSpPr>
          <p:cNvPr id="85" name="TextBox 84">
            <a:extLst>
              <a:ext uri="{FF2B5EF4-FFF2-40B4-BE49-F238E27FC236}">
                <a16:creationId xmlns:a16="http://schemas.microsoft.com/office/drawing/2014/main" id="{7F38200F-6445-9515-10DE-64CEBEBD4322}"/>
              </a:ext>
            </a:extLst>
          </p:cNvPr>
          <p:cNvSpPr txBox="1"/>
          <p:nvPr/>
        </p:nvSpPr>
        <p:spPr>
          <a:xfrm>
            <a:off x="4301001" y="5556245"/>
            <a:ext cx="587020" cy="261610"/>
          </a:xfrm>
          <a:prstGeom prst="rect">
            <a:avLst/>
          </a:prstGeom>
          <a:noFill/>
        </p:spPr>
        <p:txBody>
          <a:bodyPr wrap="none" rtlCol="0">
            <a:spAutoFit/>
          </a:bodyPr>
          <a:lstStyle/>
          <a:p>
            <a:r>
              <a:rPr lang="en-US" sz="1100" dirty="0"/>
              <a:t>Card 3</a:t>
            </a:r>
          </a:p>
        </p:txBody>
      </p:sp>
      <p:sp>
        <p:nvSpPr>
          <p:cNvPr id="86" name="TextBox 85">
            <a:extLst>
              <a:ext uri="{FF2B5EF4-FFF2-40B4-BE49-F238E27FC236}">
                <a16:creationId xmlns:a16="http://schemas.microsoft.com/office/drawing/2014/main" id="{D8965331-823F-3BE9-6DDD-5D6563766AF2}"/>
              </a:ext>
            </a:extLst>
          </p:cNvPr>
          <p:cNvSpPr txBox="1"/>
          <p:nvPr/>
        </p:nvSpPr>
        <p:spPr>
          <a:xfrm>
            <a:off x="6330238" y="5552036"/>
            <a:ext cx="662361" cy="261610"/>
          </a:xfrm>
          <a:prstGeom prst="rect">
            <a:avLst/>
          </a:prstGeom>
          <a:noFill/>
        </p:spPr>
        <p:txBody>
          <a:bodyPr wrap="none" rtlCol="0">
            <a:spAutoFit/>
          </a:bodyPr>
          <a:lstStyle/>
          <a:p>
            <a:r>
              <a:rPr lang="en-US" sz="1100" dirty="0"/>
              <a:t>Card 31</a:t>
            </a:r>
          </a:p>
        </p:txBody>
      </p:sp>
      <p:sp>
        <p:nvSpPr>
          <p:cNvPr id="103" name="Arrow: Pentagon 102">
            <a:extLst>
              <a:ext uri="{FF2B5EF4-FFF2-40B4-BE49-F238E27FC236}">
                <a16:creationId xmlns:a16="http://schemas.microsoft.com/office/drawing/2014/main" id="{6172C5B5-A805-6094-3941-C10D7E2ED4E6}"/>
              </a:ext>
            </a:extLst>
          </p:cNvPr>
          <p:cNvSpPr/>
          <p:nvPr/>
        </p:nvSpPr>
        <p:spPr>
          <a:xfrm>
            <a:off x="6580964" y="452527"/>
            <a:ext cx="1447642" cy="338554"/>
          </a:xfrm>
          <a:prstGeom prst="homePlat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Scenario 2</a:t>
            </a:r>
          </a:p>
        </p:txBody>
      </p:sp>
    </p:spTree>
    <p:extLst>
      <p:ext uri="{BB962C8B-B14F-4D97-AF65-F5344CB8AC3E}">
        <p14:creationId xmlns:p14="http://schemas.microsoft.com/office/powerpoint/2010/main" val="3754665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F55C2-8A6F-303D-16C3-08582A0BAF25}"/>
            </a:ext>
          </a:extLst>
        </p:cNvPr>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7DACD256-8011-1D45-BF8E-38ABA6C95221}"/>
              </a:ext>
            </a:extLst>
          </p:cNvPr>
          <p:cNvCxnSpPr>
            <a:cxnSpLocks/>
          </p:cNvCxnSpPr>
          <p:nvPr/>
        </p:nvCxnSpPr>
        <p:spPr>
          <a:xfrm>
            <a:off x="369145" y="548640"/>
            <a:ext cx="0" cy="1891417"/>
          </a:xfrm>
          <a:prstGeom prst="line">
            <a:avLst/>
          </a:prstGeom>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752C00F0-7187-6407-2479-72F7AA5EC390}"/>
              </a:ext>
            </a:extLst>
          </p:cNvPr>
          <p:cNvSpPr/>
          <p:nvPr/>
        </p:nvSpPr>
        <p:spPr>
          <a:xfrm>
            <a:off x="0" y="-9848"/>
            <a:ext cx="2085290" cy="2963272"/>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cxnSp>
        <p:nvCxnSpPr>
          <p:cNvPr id="21" name="Straight Connector 20">
            <a:extLst>
              <a:ext uri="{FF2B5EF4-FFF2-40B4-BE49-F238E27FC236}">
                <a16:creationId xmlns:a16="http://schemas.microsoft.com/office/drawing/2014/main" id="{E77B4EBA-E9B3-43DB-FD60-91DB7D4A55EB}"/>
              </a:ext>
            </a:extLst>
          </p:cNvPr>
          <p:cNvCxnSpPr/>
          <p:nvPr/>
        </p:nvCxnSpPr>
        <p:spPr>
          <a:xfrm>
            <a:off x="-4482928" y="99168"/>
            <a:ext cx="0" cy="2683566"/>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B84D2391-A745-F4A2-8087-5D8E2248DE56}"/>
              </a:ext>
            </a:extLst>
          </p:cNvPr>
          <p:cNvCxnSpPr/>
          <p:nvPr/>
        </p:nvCxnSpPr>
        <p:spPr>
          <a:xfrm>
            <a:off x="371928" y="1431036"/>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B61BE3CF-2EE1-75D7-FE42-0FD9FDC35DB3}"/>
              </a:ext>
            </a:extLst>
          </p:cNvPr>
          <p:cNvSpPr txBox="1"/>
          <p:nvPr/>
        </p:nvSpPr>
        <p:spPr>
          <a:xfrm>
            <a:off x="1588159" y="1399032"/>
            <a:ext cx="457176" cy="261610"/>
          </a:xfrm>
          <a:prstGeom prst="rect">
            <a:avLst/>
          </a:prstGeom>
          <a:noFill/>
        </p:spPr>
        <p:txBody>
          <a:bodyPr wrap="none" rtlCol="0">
            <a:spAutoFit/>
          </a:bodyPr>
          <a:lstStyle/>
          <a:p>
            <a:r>
              <a:rPr lang="en-US" sz="1100" dirty="0"/>
              <a:t>time</a:t>
            </a:r>
          </a:p>
        </p:txBody>
      </p:sp>
      <p:sp>
        <p:nvSpPr>
          <p:cNvPr id="26" name="TextBox 25">
            <a:extLst>
              <a:ext uri="{FF2B5EF4-FFF2-40B4-BE49-F238E27FC236}">
                <a16:creationId xmlns:a16="http://schemas.microsoft.com/office/drawing/2014/main" id="{2F49850B-3804-4D52-24D9-7436A35F3B92}"/>
              </a:ext>
            </a:extLst>
          </p:cNvPr>
          <p:cNvSpPr txBox="1"/>
          <p:nvPr/>
        </p:nvSpPr>
        <p:spPr>
          <a:xfrm rot="16200000">
            <a:off x="-107052" y="676132"/>
            <a:ext cx="679994" cy="261610"/>
          </a:xfrm>
          <a:prstGeom prst="rect">
            <a:avLst/>
          </a:prstGeom>
          <a:noFill/>
        </p:spPr>
        <p:txBody>
          <a:bodyPr wrap="none" rtlCol="0">
            <a:spAutoFit/>
          </a:bodyPr>
          <a:lstStyle/>
          <a:p>
            <a:r>
              <a:rPr lang="en-US" sz="1100" dirty="0"/>
              <a:t>position</a:t>
            </a:r>
          </a:p>
        </p:txBody>
      </p:sp>
      <p:sp>
        <p:nvSpPr>
          <p:cNvPr id="27" name="TextBox 26">
            <a:extLst>
              <a:ext uri="{FF2B5EF4-FFF2-40B4-BE49-F238E27FC236}">
                <a16:creationId xmlns:a16="http://schemas.microsoft.com/office/drawing/2014/main" id="{6807AABD-EE4A-BFA5-4190-4991DE05B7E5}"/>
              </a:ext>
            </a:extLst>
          </p:cNvPr>
          <p:cNvSpPr txBox="1"/>
          <p:nvPr/>
        </p:nvSpPr>
        <p:spPr>
          <a:xfrm>
            <a:off x="114668" y="1300231"/>
            <a:ext cx="260008" cy="261610"/>
          </a:xfrm>
          <a:prstGeom prst="rect">
            <a:avLst/>
          </a:prstGeom>
          <a:noFill/>
        </p:spPr>
        <p:txBody>
          <a:bodyPr wrap="none" rtlCol="0">
            <a:spAutoFit/>
          </a:bodyPr>
          <a:lstStyle/>
          <a:p>
            <a:r>
              <a:rPr lang="en-US" sz="1100" dirty="0"/>
              <a:t>0</a:t>
            </a:r>
          </a:p>
        </p:txBody>
      </p:sp>
      <p:cxnSp>
        <p:nvCxnSpPr>
          <p:cNvPr id="31" name="Straight Connector 30">
            <a:extLst>
              <a:ext uri="{FF2B5EF4-FFF2-40B4-BE49-F238E27FC236}">
                <a16:creationId xmlns:a16="http://schemas.microsoft.com/office/drawing/2014/main" id="{5FDA3E66-0585-BCCF-D62D-BE35876C1056}"/>
              </a:ext>
            </a:extLst>
          </p:cNvPr>
          <p:cNvCxnSpPr>
            <a:cxnSpLocks/>
          </p:cNvCxnSpPr>
          <p:nvPr/>
        </p:nvCxnSpPr>
        <p:spPr>
          <a:xfrm>
            <a:off x="2423619" y="550164"/>
            <a:ext cx="0" cy="1891417"/>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2D2DF1D-BEE3-91FF-5ABB-52DB7D9102B8}"/>
              </a:ext>
            </a:extLst>
          </p:cNvPr>
          <p:cNvCxnSpPr/>
          <p:nvPr/>
        </p:nvCxnSpPr>
        <p:spPr>
          <a:xfrm>
            <a:off x="2426402" y="1432560"/>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068D0F1-BDE7-A28B-FBC1-2620D3B6F910}"/>
              </a:ext>
            </a:extLst>
          </p:cNvPr>
          <p:cNvSpPr txBox="1"/>
          <p:nvPr/>
        </p:nvSpPr>
        <p:spPr>
          <a:xfrm>
            <a:off x="3642633" y="1400556"/>
            <a:ext cx="457176" cy="261610"/>
          </a:xfrm>
          <a:prstGeom prst="rect">
            <a:avLst/>
          </a:prstGeom>
          <a:noFill/>
        </p:spPr>
        <p:txBody>
          <a:bodyPr wrap="none" rtlCol="0">
            <a:spAutoFit/>
          </a:bodyPr>
          <a:lstStyle/>
          <a:p>
            <a:r>
              <a:rPr lang="en-US" sz="1100" dirty="0"/>
              <a:t>time</a:t>
            </a:r>
          </a:p>
        </p:txBody>
      </p:sp>
      <p:sp>
        <p:nvSpPr>
          <p:cNvPr id="34" name="TextBox 33">
            <a:extLst>
              <a:ext uri="{FF2B5EF4-FFF2-40B4-BE49-F238E27FC236}">
                <a16:creationId xmlns:a16="http://schemas.microsoft.com/office/drawing/2014/main" id="{49369AB4-FB1E-3DC9-EC9F-3C74A4A19EBD}"/>
              </a:ext>
            </a:extLst>
          </p:cNvPr>
          <p:cNvSpPr txBox="1"/>
          <p:nvPr/>
        </p:nvSpPr>
        <p:spPr>
          <a:xfrm rot="16200000">
            <a:off x="1960246" y="677656"/>
            <a:ext cx="654346" cy="261610"/>
          </a:xfrm>
          <a:prstGeom prst="rect">
            <a:avLst/>
          </a:prstGeom>
          <a:noFill/>
        </p:spPr>
        <p:txBody>
          <a:bodyPr wrap="none" rtlCol="0">
            <a:spAutoFit/>
          </a:bodyPr>
          <a:lstStyle/>
          <a:p>
            <a:r>
              <a:rPr lang="en-US" sz="1100" dirty="0"/>
              <a:t>velocity</a:t>
            </a:r>
          </a:p>
        </p:txBody>
      </p:sp>
      <p:sp>
        <p:nvSpPr>
          <p:cNvPr id="35" name="TextBox 34">
            <a:extLst>
              <a:ext uri="{FF2B5EF4-FFF2-40B4-BE49-F238E27FC236}">
                <a16:creationId xmlns:a16="http://schemas.microsoft.com/office/drawing/2014/main" id="{511FAD48-699F-E585-EF3D-62B3EA138036}"/>
              </a:ext>
            </a:extLst>
          </p:cNvPr>
          <p:cNvSpPr txBox="1"/>
          <p:nvPr/>
        </p:nvSpPr>
        <p:spPr>
          <a:xfrm>
            <a:off x="2169142" y="1301755"/>
            <a:ext cx="260008" cy="261610"/>
          </a:xfrm>
          <a:prstGeom prst="rect">
            <a:avLst/>
          </a:prstGeom>
          <a:noFill/>
        </p:spPr>
        <p:txBody>
          <a:bodyPr wrap="none" rtlCol="0">
            <a:spAutoFit/>
          </a:bodyPr>
          <a:lstStyle/>
          <a:p>
            <a:r>
              <a:rPr lang="en-US" sz="1100" dirty="0"/>
              <a:t>0</a:t>
            </a:r>
          </a:p>
        </p:txBody>
      </p:sp>
      <p:cxnSp>
        <p:nvCxnSpPr>
          <p:cNvPr id="37" name="Straight Connector 36">
            <a:extLst>
              <a:ext uri="{FF2B5EF4-FFF2-40B4-BE49-F238E27FC236}">
                <a16:creationId xmlns:a16="http://schemas.microsoft.com/office/drawing/2014/main" id="{212771B4-29FF-4673-7AAF-3F6B75A4DD24}"/>
              </a:ext>
            </a:extLst>
          </p:cNvPr>
          <p:cNvCxnSpPr>
            <a:cxnSpLocks/>
          </p:cNvCxnSpPr>
          <p:nvPr/>
        </p:nvCxnSpPr>
        <p:spPr>
          <a:xfrm>
            <a:off x="4464265" y="548640"/>
            <a:ext cx="0" cy="1891417"/>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4221453-0B82-AC17-2ED3-A800832C4A55}"/>
              </a:ext>
            </a:extLst>
          </p:cNvPr>
          <p:cNvCxnSpPr/>
          <p:nvPr/>
        </p:nvCxnSpPr>
        <p:spPr>
          <a:xfrm>
            <a:off x="4467048" y="1431036"/>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32245DE2-871E-5A83-FAE9-229CF07EC324}"/>
              </a:ext>
            </a:extLst>
          </p:cNvPr>
          <p:cNvSpPr txBox="1"/>
          <p:nvPr/>
        </p:nvSpPr>
        <p:spPr>
          <a:xfrm>
            <a:off x="5699933" y="1399032"/>
            <a:ext cx="457176" cy="261610"/>
          </a:xfrm>
          <a:prstGeom prst="rect">
            <a:avLst/>
          </a:prstGeom>
          <a:noFill/>
        </p:spPr>
        <p:txBody>
          <a:bodyPr wrap="none" rtlCol="0">
            <a:spAutoFit/>
          </a:bodyPr>
          <a:lstStyle/>
          <a:p>
            <a:r>
              <a:rPr lang="en-US" sz="1100" dirty="0"/>
              <a:t>time</a:t>
            </a:r>
          </a:p>
        </p:txBody>
      </p:sp>
      <p:sp>
        <p:nvSpPr>
          <p:cNvPr id="40" name="TextBox 39">
            <a:extLst>
              <a:ext uri="{FF2B5EF4-FFF2-40B4-BE49-F238E27FC236}">
                <a16:creationId xmlns:a16="http://schemas.microsoft.com/office/drawing/2014/main" id="{AC8066C9-983F-D6D9-5AAD-6485D83ABF70}"/>
              </a:ext>
            </a:extLst>
          </p:cNvPr>
          <p:cNvSpPr txBox="1"/>
          <p:nvPr/>
        </p:nvSpPr>
        <p:spPr>
          <a:xfrm rot="16200000">
            <a:off x="3853417" y="676132"/>
            <a:ext cx="949299" cy="261610"/>
          </a:xfrm>
          <a:prstGeom prst="rect">
            <a:avLst/>
          </a:prstGeom>
          <a:noFill/>
        </p:spPr>
        <p:txBody>
          <a:bodyPr wrap="none" rtlCol="0">
            <a:spAutoFit/>
          </a:bodyPr>
          <a:lstStyle/>
          <a:p>
            <a:r>
              <a:rPr lang="en-US" sz="1100" dirty="0"/>
              <a:t>acceleration</a:t>
            </a:r>
          </a:p>
        </p:txBody>
      </p:sp>
      <p:sp>
        <p:nvSpPr>
          <p:cNvPr id="41" name="TextBox 40">
            <a:extLst>
              <a:ext uri="{FF2B5EF4-FFF2-40B4-BE49-F238E27FC236}">
                <a16:creationId xmlns:a16="http://schemas.microsoft.com/office/drawing/2014/main" id="{3A976D26-E7A4-30ED-86C6-EAA5C980A389}"/>
              </a:ext>
            </a:extLst>
          </p:cNvPr>
          <p:cNvSpPr txBox="1"/>
          <p:nvPr/>
        </p:nvSpPr>
        <p:spPr>
          <a:xfrm>
            <a:off x="4209788" y="1300231"/>
            <a:ext cx="260008" cy="261610"/>
          </a:xfrm>
          <a:prstGeom prst="rect">
            <a:avLst/>
          </a:prstGeom>
          <a:noFill/>
        </p:spPr>
        <p:txBody>
          <a:bodyPr wrap="none" rtlCol="0">
            <a:spAutoFit/>
          </a:bodyPr>
          <a:lstStyle/>
          <a:p>
            <a:r>
              <a:rPr lang="en-US" sz="1100" dirty="0"/>
              <a:t>0</a:t>
            </a:r>
          </a:p>
        </p:txBody>
      </p:sp>
      <p:sp>
        <p:nvSpPr>
          <p:cNvPr id="49" name="TextBox 48">
            <a:extLst>
              <a:ext uri="{FF2B5EF4-FFF2-40B4-BE49-F238E27FC236}">
                <a16:creationId xmlns:a16="http://schemas.microsoft.com/office/drawing/2014/main" id="{3264FA75-15B7-5799-5900-D0A09F50D0A6}"/>
              </a:ext>
            </a:extLst>
          </p:cNvPr>
          <p:cNvSpPr txBox="1"/>
          <p:nvPr/>
        </p:nvSpPr>
        <p:spPr>
          <a:xfrm>
            <a:off x="2284070" y="3971718"/>
            <a:ext cx="1612447" cy="584775"/>
          </a:xfrm>
          <a:prstGeom prst="rect">
            <a:avLst/>
          </a:prstGeom>
          <a:noFill/>
        </p:spPr>
        <p:txBody>
          <a:bodyPr wrap="square" rtlCol="0">
            <a:spAutoFit/>
          </a:bodyPr>
          <a:lstStyle/>
          <a:p>
            <a:pPr algn="ctr"/>
            <a:r>
              <a:rPr lang="en-US" sz="1600" b="1" dirty="0">
                <a:solidFill>
                  <a:schemeClr val="accent6">
                    <a:lumMod val="75000"/>
                  </a:schemeClr>
                </a:solidFill>
              </a:rPr>
              <a:t>Negative Acceleration</a:t>
            </a:r>
          </a:p>
        </p:txBody>
      </p:sp>
      <p:sp>
        <p:nvSpPr>
          <p:cNvPr id="50" name="TextBox 49">
            <a:extLst>
              <a:ext uri="{FF2B5EF4-FFF2-40B4-BE49-F238E27FC236}">
                <a16:creationId xmlns:a16="http://schemas.microsoft.com/office/drawing/2014/main" id="{9782022A-808E-A826-CD6E-A831B4D86B98}"/>
              </a:ext>
            </a:extLst>
          </p:cNvPr>
          <p:cNvSpPr txBox="1"/>
          <p:nvPr/>
        </p:nvSpPr>
        <p:spPr>
          <a:xfrm>
            <a:off x="232944" y="3970454"/>
            <a:ext cx="1612447" cy="584775"/>
          </a:xfrm>
          <a:prstGeom prst="rect">
            <a:avLst/>
          </a:prstGeom>
          <a:noFill/>
        </p:spPr>
        <p:txBody>
          <a:bodyPr wrap="square" rtlCol="0">
            <a:spAutoFit/>
          </a:bodyPr>
          <a:lstStyle/>
          <a:p>
            <a:pPr algn="ctr"/>
            <a:r>
              <a:rPr lang="en-US" sz="1600" b="1" dirty="0">
                <a:solidFill>
                  <a:schemeClr val="accent5">
                    <a:lumMod val="75000"/>
                  </a:schemeClr>
                </a:solidFill>
              </a:rPr>
              <a:t>Positive Velocity</a:t>
            </a:r>
          </a:p>
        </p:txBody>
      </p:sp>
      <p:sp>
        <p:nvSpPr>
          <p:cNvPr id="51" name="Oval 50">
            <a:extLst>
              <a:ext uri="{FF2B5EF4-FFF2-40B4-BE49-F238E27FC236}">
                <a16:creationId xmlns:a16="http://schemas.microsoft.com/office/drawing/2014/main" id="{D40A40EC-F3EB-65D4-6BD9-8D79C9F7D767}"/>
              </a:ext>
            </a:extLst>
          </p:cNvPr>
          <p:cNvSpPr/>
          <p:nvPr/>
        </p:nvSpPr>
        <p:spPr>
          <a:xfrm>
            <a:off x="4513491" y="4335809"/>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5F76F370-FE0C-5432-D380-59E9FDE317F2}"/>
              </a:ext>
            </a:extLst>
          </p:cNvPr>
          <p:cNvSpPr/>
          <p:nvPr/>
        </p:nvSpPr>
        <p:spPr>
          <a:xfrm>
            <a:off x="5167348" y="4335809"/>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BBFBAF5A-48FF-5CFF-91EB-8F0530F82A69}"/>
              </a:ext>
            </a:extLst>
          </p:cNvPr>
          <p:cNvSpPr/>
          <p:nvPr/>
        </p:nvSpPr>
        <p:spPr>
          <a:xfrm>
            <a:off x="5633258" y="4331935"/>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61A7D3B1-87D6-92B0-B391-F7392605C4DD}"/>
              </a:ext>
            </a:extLst>
          </p:cNvPr>
          <p:cNvSpPr/>
          <p:nvPr/>
        </p:nvSpPr>
        <p:spPr>
          <a:xfrm>
            <a:off x="5921649" y="4331935"/>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F7D9DB05-3D90-C928-9F83-217A589E9B67}"/>
              </a:ext>
            </a:extLst>
          </p:cNvPr>
          <p:cNvSpPr txBox="1"/>
          <p:nvPr/>
        </p:nvSpPr>
        <p:spPr>
          <a:xfrm>
            <a:off x="4404311" y="4430006"/>
            <a:ext cx="260008" cy="261610"/>
          </a:xfrm>
          <a:prstGeom prst="rect">
            <a:avLst/>
          </a:prstGeom>
          <a:noFill/>
        </p:spPr>
        <p:txBody>
          <a:bodyPr wrap="none" rtlCol="0">
            <a:spAutoFit/>
          </a:bodyPr>
          <a:lstStyle/>
          <a:p>
            <a:r>
              <a:rPr lang="en-US" sz="1100" dirty="0"/>
              <a:t>1</a:t>
            </a:r>
          </a:p>
        </p:txBody>
      </p:sp>
      <p:sp>
        <p:nvSpPr>
          <p:cNvPr id="64" name="TextBox 63">
            <a:extLst>
              <a:ext uri="{FF2B5EF4-FFF2-40B4-BE49-F238E27FC236}">
                <a16:creationId xmlns:a16="http://schemas.microsoft.com/office/drawing/2014/main" id="{97A5F556-5035-8D94-373B-2F7660D290EE}"/>
              </a:ext>
            </a:extLst>
          </p:cNvPr>
          <p:cNvSpPr txBox="1"/>
          <p:nvPr/>
        </p:nvSpPr>
        <p:spPr>
          <a:xfrm>
            <a:off x="5066730" y="4430006"/>
            <a:ext cx="260008" cy="261610"/>
          </a:xfrm>
          <a:prstGeom prst="rect">
            <a:avLst/>
          </a:prstGeom>
          <a:noFill/>
        </p:spPr>
        <p:txBody>
          <a:bodyPr wrap="none" rtlCol="0">
            <a:spAutoFit/>
          </a:bodyPr>
          <a:lstStyle/>
          <a:p>
            <a:r>
              <a:rPr lang="en-US" sz="1100" dirty="0"/>
              <a:t>2</a:t>
            </a:r>
          </a:p>
        </p:txBody>
      </p:sp>
      <p:sp>
        <p:nvSpPr>
          <p:cNvPr id="65" name="TextBox 64">
            <a:extLst>
              <a:ext uri="{FF2B5EF4-FFF2-40B4-BE49-F238E27FC236}">
                <a16:creationId xmlns:a16="http://schemas.microsoft.com/office/drawing/2014/main" id="{8BD3F77D-7655-0E48-4CA2-4E1B993C5F3C}"/>
              </a:ext>
            </a:extLst>
          </p:cNvPr>
          <p:cNvSpPr txBox="1"/>
          <p:nvPr/>
        </p:nvSpPr>
        <p:spPr>
          <a:xfrm>
            <a:off x="5525518" y="4430006"/>
            <a:ext cx="260008" cy="261610"/>
          </a:xfrm>
          <a:prstGeom prst="rect">
            <a:avLst/>
          </a:prstGeom>
          <a:noFill/>
        </p:spPr>
        <p:txBody>
          <a:bodyPr wrap="none" rtlCol="0">
            <a:spAutoFit/>
          </a:bodyPr>
          <a:lstStyle/>
          <a:p>
            <a:r>
              <a:rPr lang="en-US" sz="1100" dirty="0"/>
              <a:t>3</a:t>
            </a:r>
          </a:p>
        </p:txBody>
      </p:sp>
      <p:sp>
        <p:nvSpPr>
          <p:cNvPr id="66" name="TextBox 65">
            <a:extLst>
              <a:ext uri="{FF2B5EF4-FFF2-40B4-BE49-F238E27FC236}">
                <a16:creationId xmlns:a16="http://schemas.microsoft.com/office/drawing/2014/main" id="{CFD4AC70-226D-2DE6-34FA-46C1EAA26D3F}"/>
              </a:ext>
            </a:extLst>
          </p:cNvPr>
          <p:cNvSpPr txBox="1"/>
          <p:nvPr/>
        </p:nvSpPr>
        <p:spPr>
          <a:xfrm>
            <a:off x="5817216" y="4428433"/>
            <a:ext cx="260008" cy="261610"/>
          </a:xfrm>
          <a:prstGeom prst="rect">
            <a:avLst/>
          </a:prstGeom>
          <a:noFill/>
        </p:spPr>
        <p:txBody>
          <a:bodyPr wrap="none" rtlCol="0">
            <a:spAutoFit/>
          </a:bodyPr>
          <a:lstStyle/>
          <a:p>
            <a:r>
              <a:rPr lang="en-US" sz="1100" dirty="0"/>
              <a:t>4</a:t>
            </a:r>
          </a:p>
        </p:txBody>
      </p:sp>
      <p:sp>
        <p:nvSpPr>
          <p:cNvPr id="67" name="Oval 66">
            <a:extLst>
              <a:ext uri="{FF2B5EF4-FFF2-40B4-BE49-F238E27FC236}">
                <a16:creationId xmlns:a16="http://schemas.microsoft.com/office/drawing/2014/main" id="{48A214DF-7B85-0476-4436-D28B958D9FFC}"/>
              </a:ext>
            </a:extLst>
          </p:cNvPr>
          <p:cNvSpPr/>
          <p:nvPr/>
        </p:nvSpPr>
        <p:spPr>
          <a:xfrm>
            <a:off x="7131763" y="4395809"/>
            <a:ext cx="96963" cy="8883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Arrow Connector 67">
            <a:extLst>
              <a:ext uri="{FF2B5EF4-FFF2-40B4-BE49-F238E27FC236}">
                <a16:creationId xmlns:a16="http://schemas.microsoft.com/office/drawing/2014/main" id="{3875427E-513A-831F-688F-F8CCAF0B4D8A}"/>
              </a:ext>
            </a:extLst>
          </p:cNvPr>
          <p:cNvCxnSpPr>
            <a:cxnSpLocks/>
          </p:cNvCxnSpPr>
          <p:nvPr/>
        </p:nvCxnSpPr>
        <p:spPr>
          <a:xfrm flipV="1">
            <a:off x="7182799" y="3912542"/>
            <a:ext cx="0" cy="483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802420EB-9F66-EF4F-DFC5-0318F9DB694C}"/>
              </a:ext>
            </a:extLst>
          </p:cNvPr>
          <p:cNvCxnSpPr>
            <a:cxnSpLocks/>
          </p:cNvCxnSpPr>
          <p:nvPr/>
        </p:nvCxnSpPr>
        <p:spPr>
          <a:xfrm>
            <a:off x="7182818" y="4491496"/>
            <a:ext cx="0" cy="483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A1DB4B55-2D93-4BB6-3A81-1EC03499A0C9}"/>
              </a:ext>
            </a:extLst>
          </p:cNvPr>
          <p:cNvCxnSpPr>
            <a:cxnSpLocks/>
          </p:cNvCxnSpPr>
          <p:nvPr/>
        </p:nvCxnSpPr>
        <p:spPr>
          <a:xfrm>
            <a:off x="7236449" y="4440797"/>
            <a:ext cx="20741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F8E174AC-0580-A162-C764-2F690A2F1D86}"/>
              </a:ext>
            </a:extLst>
          </p:cNvPr>
          <p:cNvCxnSpPr/>
          <p:nvPr/>
        </p:nvCxnSpPr>
        <p:spPr>
          <a:xfrm>
            <a:off x="6733981" y="4440638"/>
            <a:ext cx="390059" cy="0"/>
          </a:xfrm>
          <a:prstGeom prst="straightConnector1">
            <a:avLst/>
          </a:prstGeom>
          <a:ln>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6813034B-23E1-C6B1-3F3C-2D437EA7100D}"/>
              </a:ext>
            </a:extLst>
          </p:cNvPr>
          <p:cNvSpPr txBox="1"/>
          <p:nvPr/>
        </p:nvSpPr>
        <p:spPr>
          <a:xfrm>
            <a:off x="7180244" y="3761761"/>
            <a:ext cx="726481" cy="261610"/>
          </a:xfrm>
          <a:prstGeom prst="rect">
            <a:avLst/>
          </a:prstGeom>
          <a:noFill/>
        </p:spPr>
        <p:txBody>
          <a:bodyPr wrap="none" rtlCol="0">
            <a:spAutoFit/>
          </a:bodyPr>
          <a:lstStyle/>
          <a:p>
            <a:r>
              <a:rPr lang="en-US" sz="1100" dirty="0"/>
              <a:t>F</a:t>
            </a:r>
            <a:r>
              <a:rPr lang="en-US" sz="1100" baseline="-25000" dirty="0"/>
              <a:t>N </a:t>
            </a:r>
            <a:r>
              <a:rPr lang="en-US" sz="1100" dirty="0"/>
              <a:t>= 12 N</a:t>
            </a:r>
          </a:p>
        </p:txBody>
      </p:sp>
      <p:sp>
        <p:nvSpPr>
          <p:cNvPr id="76" name="TextBox 75">
            <a:extLst>
              <a:ext uri="{FF2B5EF4-FFF2-40B4-BE49-F238E27FC236}">
                <a16:creationId xmlns:a16="http://schemas.microsoft.com/office/drawing/2014/main" id="{96EFC21D-C82B-B14B-1ACE-C2EDBAAF79C9}"/>
              </a:ext>
            </a:extLst>
          </p:cNvPr>
          <p:cNvSpPr txBox="1"/>
          <p:nvPr/>
        </p:nvSpPr>
        <p:spPr>
          <a:xfrm>
            <a:off x="7180243" y="4856810"/>
            <a:ext cx="697627" cy="261610"/>
          </a:xfrm>
          <a:prstGeom prst="rect">
            <a:avLst/>
          </a:prstGeom>
          <a:noFill/>
        </p:spPr>
        <p:txBody>
          <a:bodyPr wrap="none" rtlCol="0">
            <a:spAutoFit/>
          </a:bodyPr>
          <a:lstStyle/>
          <a:p>
            <a:r>
              <a:rPr lang="en-US" sz="1100" dirty="0"/>
              <a:t>w = 12 N</a:t>
            </a:r>
          </a:p>
        </p:txBody>
      </p:sp>
      <p:sp>
        <p:nvSpPr>
          <p:cNvPr id="77" name="TextBox 76">
            <a:extLst>
              <a:ext uri="{FF2B5EF4-FFF2-40B4-BE49-F238E27FC236}">
                <a16:creationId xmlns:a16="http://schemas.microsoft.com/office/drawing/2014/main" id="{4683B5D2-1940-CA61-BB60-77D8EDAB14CD}"/>
              </a:ext>
            </a:extLst>
          </p:cNvPr>
          <p:cNvSpPr txBox="1"/>
          <p:nvPr/>
        </p:nvSpPr>
        <p:spPr>
          <a:xfrm>
            <a:off x="7351375" y="4170485"/>
            <a:ext cx="889987" cy="261610"/>
          </a:xfrm>
          <a:prstGeom prst="rect">
            <a:avLst/>
          </a:prstGeom>
          <a:noFill/>
        </p:spPr>
        <p:txBody>
          <a:bodyPr wrap="none" rtlCol="0">
            <a:spAutoFit/>
          </a:bodyPr>
          <a:lstStyle/>
          <a:p>
            <a:r>
              <a:rPr lang="en-US" sz="1100" dirty="0" err="1"/>
              <a:t>F</a:t>
            </a:r>
            <a:r>
              <a:rPr lang="en-US" sz="1100" baseline="-25000" dirty="0" err="1"/>
              <a:t>applied</a:t>
            </a:r>
            <a:r>
              <a:rPr lang="en-US" sz="1100" baseline="-25000" dirty="0"/>
              <a:t> </a:t>
            </a:r>
            <a:r>
              <a:rPr lang="en-US" sz="1100" dirty="0"/>
              <a:t>= 4 N</a:t>
            </a:r>
          </a:p>
        </p:txBody>
      </p:sp>
      <p:sp>
        <p:nvSpPr>
          <p:cNvPr id="78" name="TextBox 77">
            <a:extLst>
              <a:ext uri="{FF2B5EF4-FFF2-40B4-BE49-F238E27FC236}">
                <a16:creationId xmlns:a16="http://schemas.microsoft.com/office/drawing/2014/main" id="{B40A6672-6EDC-DA89-BB65-53E5FA24FB2C}"/>
              </a:ext>
            </a:extLst>
          </p:cNvPr>
          <p:cNvSpPr txBox="1"/>
          <p:nvPr/>
        </p:nvSpPr>
        <p:spPr>
          <a:xfrm>
            <a:off x="6484016" y="4169925"/>
            <a:ext cx="601447" cy="261610"/>
          </a:xfrm>
          <a:prstGeom prst="rect">
            <a:avLst/>
          </a:prstGeom>
          <a:noFill/>
        </p:spPr>
        <p:txBody>
          <a:bodyPr wrap="none" rtlCol="0">
            <a:spAutoFit/>
          </a:bodyPr>
          <a:lstStyle/>
          <a:p>
            <a:r>
              <a:rPr lang="en-US" sz="1100" dirty="0" err="1"/>
              <a:t>f</a:t>
            </a:r>
            <a:r>
              <a:rPr lang="en-US" sz="1100" baseline="-25000" dirty="0" err="1"/>
              <a:t>k</a:t>
            </a:r>
            <a:r>
              <a:rPr lang="en-US" sz="1100" baseline="-25000" dirty="0"/>
              <a:t> </a:t>
            </a:r>
            <a:r>
              <a:rPr lang="en-US" sz="1100" dirty="0"/>
              <a:t>= 7 N</a:t>
            </a:r>
          </a:p>
        </p:txBody>
      </p:sp>
      <p:sp>
        <p:nvSpPr>
          <p:cNvPr id="80" name="TextBox 79">
            <a:extLst>
              <a:ext uri="{FF2B5EF4-FFF2-40B4-BE49-F238E27FC236}">
                <a16:creationId xmlns:a16="http://schemas.microsoft.com/office/drawing/2014/main" id="{10FD2894-8462-E827-577C-514FB4585A37}"/>
              </a:ext>
            </a:extLst>
          </p:cNvPr>
          <p:cNvSpPr txBox="1"/>
          <p:nvPr/>
        </p:nvSpPr>
        <p:spPr>
          <a:xfrm>
            <a:off x="309993" y="6324206"/>
            <a:ext cx="604653" cy="261610"/>
          </a:xfrm>
          <a:prstGeom prst="rect">
            <a:avLst/>
          </a:prstGeom>
          <a:noFill/>
        </p:spPr>
        <p:txBody>
          <a:bodyPr wrap="none" rtlCol="0">
            <a:spAutoFit/>
          </a:bodyPr>
          <a:lstStyle/>
          <a:p>
            <a:r>
              <a:rPr lang="en-US" sz="1100" dirty="0"/>
              <a:t>Case 3</a:t>
            </a:r>
          </a:p>
        </p:txBody>
      </p:sp>
      <p:sp>
        <p:nvSpPr>
          <p:cNvPr id="2" name="Rectangle 1">
            <a:extLst>
              <a:ext uri="{FF2B5EF4-FFF2-40B4-BE49-F238E27FC236}">
                <a16:creationId xmlns:a16="http://schemas.microsoft.com/office/drawing/2014/main" id="{A37B06F6-E53E-0CE5-8D3E-683C34C21470}"/>
              </a:ext>
            </a:extLst>
          </p:cNvPr>
          <p:cNvSpPr/>
          <p:nvPr/>
        </p:nvSpPr>
        <p:spPr>
          <a:xfrm>
            <a:off x="207995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 name="Rectangle 3">
            <a:extLst>
              <a:ext uri="{FF2B5EF4-FFF2-40B4-BE49-F238E27FC236}">
                <a16:creationId xmlns:a16="http://schemas.microsoft.com/office/drawing/2014/main" id="{C7845AB4-F142-6F3C-62A0-2020C09866A3}"/>
              </a:ext>
            </a:extLst>
          </p:cNvPr>
          <p:cNvSpPr/>
          <p:nvPr/>
        </p:nvSpPr>
        <p:spPr>
          <a:xfrm>
            <a:off x="415887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0" name="Rectangle 29">
            <a:extLst>
              <a:ext uri="{FF2B5EF4-FFF2-40B4-BE49-F238E27FC236}">
                <a16:creationId xmlns:a16="http://schemas.microsoft.com/office/drawing/2014/main" id="{80CFAB31-077E-83BC-3671-DD5D310EECCC}"/>
              </a:ext>
            </a:extLst>
          </p:cNvPr>
          <p:cNvSpPr/>
          <p:nvPr/>
        </p:nvSpPr>
        <p:spPr>
          <a:xfrm>
            <a:off x="9560"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3" name="Rectangle 42">
            <a:extLst>
              <a:ext uri="{FF2B5EF4-FFF2-40B4-BE49-F238E27FC236}">
                <a16:creationId xmlns:a16="http://schemas.microsoft.com/office/drawing/2014/main" id="{AF5B4C96-50F9-3AA9-8024-C5AE8AD35E1B}"/>
              </a:ext>
            </a:extLst>
          </p:cNvPr>
          <p:cNvSpPr/>
          <p:nvPr/>
        </p:nvSpPr>
        <p:spPr>
          <a:xfrm>
            <a:off x="2079956"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4" name="Rectangle 43">
            <a:extLst>
              <a:ext uri="{FF2B5EF4-FFF2-40B4-BE49-F238E27FC236}">
                <a16:creationId xmlns:a16="http://schemas.microsoft.com/office/drawing/2014/main" id="{5050D860-F7DE-8B72-5598-51330837192D}"/>
              </a:ext>
            </a:extLst>
          </p:cNvPr>
          <p:cNvSpPr/>
          <p:nvPr/>
        </p:nvSpPr>
        <p:spPr>
          <a:xfrm>
            <a:off x="4158876"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5" name="Rectangle 44">
            <a:extLst>
              <a:ext uri="{FF2B5EF4-FFF2-40B4-BE49-F238E27FC236}">
                <a16:creationId xmlns:a16="http://schemas.microsoft.com/office/drawing/2014/main" id="{F47D18D7-EA84-8EF7-1375-5B84770C1DBA}"/>
              </a:ext>
            </a:extLst>
          </p:cNvPr>
          <p:cNvSpPr/>
          <p:nvPr/>
        </p:nvSpPr>
        <p:spPr>
          <a:xfrm>
            <a:off x="6226082" y="2955663"/>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7" name="Rectangle 16">
            <a:extLst>
              <a:ext uri="{FF2B5EF4-FFF2-40B4-BE49-F238E27FC236}">
                <a16:creationId xmlns:a16="http://schemas.microsoft.com/office/drawing/2014/main" id="{CF56985E-91DF-A285-8CD6-8B897F9E8C63}"/>
              </a:ext>
            </a:extLst>
          </p:cNvPr>
          <p:cNvSpPr/>
          <p:nvPr/>
        </p:nvSpPr>
        <p:spPr>
          <a:xfrm>
            <a:off x="-1950" y="0"/>
            <a:ext cx="2087925" cy="25205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 vs t graph</a:t>
            </a:r>
          </a:p>
        </p:txBody>
      </p:sp>
      <p:sp>
        <p:nvSpPr>
          <p:cNvPr id="19" name="Rectangle 18">
            <a:extLst>
              <a:ext uri="{FF2B5EF4-FFF2-40B4-BE49-F238E27FC236}">
                <a16:creationId xmlns:a16="http://schemas.microsoft.com/office/drawing/2014/main" id="{5BD7042B-24C5-7293-F0AD-6490D31298CE}"/>
              </a:ext>
            </a:extLst>
          </p:cNvPr>
          <p:cNvSpPr/>
          <p:nvPr/>
        </p:nvSpPr>
        <p:spPr>
          <a:xfrm>
            <a:off x="2083595" y="374"/>
            <a:ext cx="2076450" cy="252056"/>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v vs t graph</a:t>
            </a:r>
          </a:p>
        </p:txBody>
      </p:sp>
      <p:sp>
        <p:nvSpPr>
          <p:cNvPr id="20" name="Rectangle 19">
            <a:extLst>
              <a:ext uri="{FF2B5EF4-FFF2-40B4-BE49-F238E27FC236}">
                <a16:creationId xmlns:a16="http://schemas.microsoft.com/office/drawing/2014/main" id="{0AC39243-79FB-9266-7450-B516909D530C}"/>
              </a:ext>
            </a:extLst>
          </p:cNvPr>
          <p:cNvSpPr/>
          <p:nvPr/>
        </p:nvSpPr>
        <p:spPr>
          <a:xfrm>
            <a:off x="4160044" y="202"/>
            <a:ext cx="2074563" cy="252056"/>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 vs t graph</a:t>
            </a:r>
          </a:p>
        </p:txBody>
      </p:sp>
      <p:sp>
        <p:nvSpPr>
          <p:cNvPr id="47" name="Rectangle 46">
            <a:extLst>
              <a:ext uri="{FF2B5EF4-FFF2-40B4-BE49-F238E27FC236}">
                <a16:creationId xmlns:a16="http://schemas.microsoft.com/office/drawing/2014/main" id="{85E5866F-A9CF-3927-7BFA-6CEF8F6BD78E}"/>
              </a:ext>
            </a:extLst>
          </p:cNvPr>
          <p:cNvSpPr/>
          <p:nvPr/>
        </p:nvSpPr>
        <p:spPr>
          <a:xfrm>
            <a:off x="0" y="2959172"/>
            <a:ext cx="2088480" cy="252056"/>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Velocity</a:t>
            </a:r>
          </a:p>
        </p:txBody>
      </p:sp>
      <p:sp>
        <p:nvSpPr>
          <p:cNvPr id="48" name="Rectangle 47">
            <a:extLst>
              <a:ext uri="{FF2B5EF4-FFF2-40B4-BE49-F238E27FC236}">
                <a16:creationId xmlns:a16="http://schemas.microsoft.com/office/drawing/2014/main" id="{392FBC15-BC94-0F99-E2C5-6DBC91245DBD}"/>
              </a:ext>
            </a:extLst>
          </p:cNvPr>
          <p:cNvSpPr/>
          <p:nvPr/>
        </p:nvSpPr>
        <p:spPr>
          <a:xfrm>
            <a:off x="2081269" y="2960748"/>
            <a:ext cx="2077606" cy="252056"/>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Acceleration</a:t>
            </a:r>
          </a:p>
        </p:txBody>
      </p:sp>
      <p:sp>
        <p:nvSpPr>
          <p:cNvPr id="52" name="Rectangle 51">
            <a:extLst>
              <a:ext uri="{FF2B5EF4-FFF2-40B4-BE49-F238E27FC236}">
                <a16:creationId xmlns:a16="http://schemas.microsoft.com/office/drawing/2014/main" id="{1948C2FD-9E31-91E4-ACB7-06A4D7C73E4C}"/>
              </a:ext>
            </a:extLst>
          </p:cNvPr>
          <p:cNvSpPr/>
          <p:nvPr/>
        </p:nvSpPr>
        <p:spPr>
          <a:xfrm>
            <a:off x="4158875" y="2959073"/>
            <a:ext cx="2076986" cy="25205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Motion diagram</a:t>
            </a:r>
          </a:p>
        </p:txBody>
      </p:sp>
      <p:sp>
        <p:nvSpPr>
          <p:cNvPr id="54" name="Rectangle 53">
            <a:extLst>
              <a:ext uri="{FF2B5EF4-FFF2-40B4-BE49-F238E27FC236}">
                <a16:creationId xmlns:a16="http://schemas.microsoft.com/office/drawing/2014/main" id="{7B44F925-525E-CEE8-7064-3CEFF8E42D83}"/>
              </a:ext>
            </a:extLst>
          </p:cNvPr>
          <p:cNvSpPr/>
          <p:nvPr/>
        </p:nvSpPr>
        <p:spPr>
          <a:xfrm>
            <a:off x="6236557" y="2959073"/>
            <a:ext cx="2068598" cy="252056"/>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Free Body Diagram</a:t>
            </a:r>
          </a:p>
        </p:txBody>
      </p:sp>
      <p:cxnSp>
        <p:nvCxnSpPr>
          <p:cNvPr id="12" name="Straight Connector 11">
            <a:extLst>
              <a:ext uri="{FF2B5EF4-FFF2-40B4-BE49-F238E27FC236}">
                <a16:creationId xmlns:a16="http://schemas.microsoft.com/office/drawing/2014/main" id="{C581E3B8-3B98-6609-E94A-836B77804A4E}"/>
              </a:ext>
            </a:extLst>
          </p:cNvPr>
          <p:cNvCxnSpPr>
            <a:cxnSpLocks/>
          </p:cNvCxnSpPr>
          <p:nvPr/>
        </p:nvCxnSpPr>
        <p:spPr>
          <a:xfrm>
            <a:off x="2423842" y="768862"/>
            <a:ext cx="1343485" cy="426207"/>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23" name="Straight Connector 22">
            <a:extLst>
              <a:ext uri="{FF2B5EF4-FFF2-40B4-BE49-F238E27FC236}">
                <a16:creationId xmlns:a16="http://schemas.microsoft.com/office/drawing/2014/main" id="{6E87DD4F-0AA5-7C16-1BFA-0DAF64D1DE1C}"/>
              </a:ext>
            </a:extLst>
          </p:cNvPr>
          <p:cNvCxnSpPr>
            <a:cxnSpLocks/>
          </p:cNvCxnSpPr>
          <p:nvPr/>
        </p:nvCxnSpPr>
        <p:spPr>
          <a:xfrm>
            <a:off x="4467048" y="1795278"/>
            <a:ext cx="1292968" cy="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sp>
        <p:nvSpPr>
          <p:cNvPr id="28" name="Freeform: Shape 27">
            <a:extLst>
              <a:ext uri="{FF2B5EF4-FFF2-40B4-BE49-F238E27FC236}">
                <a16:creationId xmlns:a16="http://schemas.microsoft.com/office/drawing/2014/main" id="{586D0E87-FA18-374A-785B-9B35A8FF3421}"/>
              </a:ext>
            </a:extLst>
          </p:cNvPr>
          <p:cNvSpPr/>
          <p:nvPr/>
        </p:nvSpPr>
        <p:spPr>
          <a:xfrm flipH="1" flipV="1">
            <a:off x="366170" y="678003"/>
            <a:ext cx="1481666" cy="607926"/>
          </a:xfrm>
          <a:custGeom>
            <a:avLst/>
            <a:gdLst>
              <a:gd name="connsiteX0" fmla="*/ 0 w 3704253"/>
              <a:gd name="connsiteY0" fmla="*/ 1800808 h 1800808"/>
              <a:gd name="connsiteX1" fmla="*/ 737119 w 3704253"/>
              <a:gd name="connsiteY1" fmla="*/ 1716832 h 1800808"/>
              <a:gd name="connsiteX2" fmla="*/ 1492898 w 3704253"/>
              <a:gd name="connsiteY2" fmla="*/ 1492898 h 1800808"/>
              <a:gd name="connsiteX3" fmla="*/ 2239347 w 3704253"/>
              <a:gd name="connsiteY3" fmla="*/ 1147665 h 1800808"/>
              <a:gd name="connsiteX4" fmla="*/ 2976466 w 3704253"/>
              <a:gd name="connsiteY4" fmla="*/ 653142 h 1800808"/>
              <a:gd name="connsiteX5" fmla="*/ 3704253 w 3704253"/>
              <a:gd name="connsiteY5" fmla="*/ 0 h 1800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4253" h="1800808">
                <a:moveTo>
                  <a:pt x="0" y="1800808"/>
                </a:moveTo>
                <a:cubicBezTo>
                  <a:pt x="244151" y="1784479"/>
                  <a:pt x="488303" y="1768150"/>
                  <a:pt x="737119" y="1716832"/>
                </a:cubicBezTo>
                <a:cubicBezTo>
                  <a:pt x="985935" y="1665514"/>
                  <a:pt x="1242527" y="1587759"/>
                  <a:pt x="1492898" y="1492898"/>
                </a:cubicBezTo>
                <a:cubicBezTo>
                  <a:pt x="1743269" y="1398037"/>
                  <a:pt x="1992086" y="1287624"/>
                  <a:pt x="2239347" y="1147665"/>
                </a:cubicBezTo>
                <a:cubicBezTo>
                  <a:pt x="2486608" y="1007706"/>
                  <a:pt x="2732315" y="844419"/>
                  <a:pt x="2976466" y="653142"/>
                </a:cubicBezTo>
                <a:cubicBezTo>
                  <a:pt x="3220617" y="461865"/>
                  <a:pt x="3462435" y="230932"/>
                  <a:pt x="3704253" y="0"/>
                </a:cubicBezTo>
              </a:path>
            </a:pathLst>
          </a:cu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1AF000A-EA51-4C5C-A489-755AFB60E5D2}"/>
              </a:ext>
            </a:extLst>
          </p:cNvPr>
          <p:cNvSpPr/>
          <p:nvPr/>
        </p:nvSpPr>
        <p:spPr>
          <a:xfrm>
            <a:off x="6226082" y="-7609"/>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29" name="TextBox 28">
            <a:extLst>
              <a:ext uri="{FF2B5EF4-FFF2-40B4-BE49-F238E27FC236}">
                <a16:creationId xmlns:a16="http://schemas.microsoft.com/office/drawing/2014/main" id="{87F59137-E894-A995-7F65-306774640B4E}"/>
              </a:ext>
            </a:extLst>
          </p:cNvPr>
          <p:cNvSpPr txBox="1"/>
          <p:nvPr/>
        </p:nvSpPr>
        <p:spPr>
          <a:xfrm>
            <a:off x="6274014" y="1250290"/>
            <a:ext cx="2169169" cy="846386"/>
          </a:xfrm>
          <a:prstGeom prst="rect">
            <a:avLst/>
          </a:prstGeom>
          <a:noFill/>
        </p:spPr>
        <p:txBody>
          <a:bodyPr wrap="square" rtlCol="0">
            <a:spAutoFit/>
          </a:bodyPr>
          <a:lstStyle/>
          <a:p>
            <a:pPr algn="ctr"/>
            <a:r>
              <a:rPr lang="en-US" sz="1400" dirty="0"/>
              <a:t>Object moving in the </a:t>
            </a:r>
            <a:r>
              <a:rPr lang="en-US" sz="1400" b="1" dirty="0"/>
              <a:t>positive</a:t>
            </a:r>
            <a:r>
              <a:rPr lang="en-US" sz="1400" dirty="0"/>
              <a:t> direction at </a:t>
            </a:r>
            <a:r>
              <a:rPr lang="en-US" sz="1400" dirty="0">
                <a:solidFill>
                  <a:srgbClr val="C00000"/>
                </a:solidFill>
              </a:rPr>
              <a:t>decreasing</a:t>
            </a:r>
            <a:r>
              <a:rPr lang="en-US" sz="1400" dirty="0"/>
              <a:t> speed</a:t>
            </a:r>
          </a:p>
          <a:p>
            <a:pPr algn="ctr"/>
            <a:endParaRPr lang="en-US" sz="600" dirty="0"/>
          </a:p>
        </p:txBody>
      </p:sp>
      <p:sp>
        <p:nvSpPr>
          <p:cNvPr id="42" name="Diagonal Stripe 41">
            <a:extLst>
              <a:ext uri="{FF2B5EF4-FFF2-40B4-BE49-F238E27FC236}">
                <a16:creationId xmlns:a16="http://schemas.microsoft.com/office/drawing/2014/main" id="{00EE1277-182C-F221-722E-DFDBA074CDBF}"/>
              </a:ext>
            </a:extLst>
          </p:cNvPr>
          <p:cNvSpPr/>
          <p:nvPr/>
        </p:nvSpPr>
        <p:spPr>
          <a:xfrm>
            <a:off x="6247969" y="0"/>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6" name="Diagonal Stripe 55">
            <a:extLst>
              <a:ext uri="{FF2B5EF4-FFF2-40B4-BE49-F238E27FC236}">
                <a16:creationId xmlns:a16="http://schemas.microsoft.com/office/drawing/2014/main" id="{0F953E05-7510-4296-ABA3-AA574B36950D}"/>
              </a:ext>
            </a:extLst>
          </p:cNvPr>
          <p:cNvSpPr/>
          <p:nvPr/>
        </p:nvSpPr>
        <p:spPr>
          <a:xfrm rot="10800000">
            <a:off x="7717891" y="2367056"/>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8" name="TextBox 57">
            <a:extLst>
              <a:ext uri="{FF2B5EF4-FFF2-40B4-BE49-F238E27FC236}">
                <a16:creationId xmlns:a16="http://schemas.microsoft.com/office/drawing/2014/main" id="{BA2B3DAB-737A-010D-D660-DC5211FF4AE6}"/>
              </a:ext>
            </a:extLst>
          </p:cNvPr>
          <p:cNvSpPr txBox="1"/>
          <p:nvPr/>
        </p:nvSpPr>
        <p:spPr>
          <a:xfrm>
            <a:off x="6622921" y="2381869"/>
            <a:ext cx="1294640" cy="430887"/>
          </a:xfrm>
          <a:prstGeom prst="rect">
            <a:avLst/>
          </a:prstGeom>
          <a:noFill/>
        </p:spPr>
        <p:txBody>
          <a:bodyPr wrap="square" rtlCol="0">
            <a:spAutoFit/>
          </a:bodyPr>
          <a:lstStyle/>
          <a:p>
            <a:pPr algn="ctr"/>
            <a:r>
              <a:rPr lang="en-US" sz="1100" dirty="0"/>
              <a:t>Answer key on reverse side</a:t>
            </a:r>
          </a:p>
        </p:txBody>
      </p:sp>
      <p:sp>
        <p:nvSpPr>
          <p:cNvPr id="59" name="TextBox 58">
            <a:extLst>
              <a:ext uri="{FF2B5EF4-FFF2-40B4-BE49-F238E27FC236}">
                <a16:creationId xmlns:a16="http://schemas.microsoft.com/office/drawing/2014/main" id="{85E5CE18-9592-1E3A-EF62-8D0AF22337D9}"/>
              </a:ext>
            </a:extLst>
          </p:cNvPr>
          <p:cNvSpPr txBox="1"/>
          <p:nvPr/>
        </p:nvSpPr>
        <p:spPr>
          <a:xfrm>
            <a:off x="68492" y="2575731"/>
            <a:ext cx="662361" cy="261610"/>
          </a:xfrm>
          <a:prstGeom prst="rect">
            <a:avLst/>
          </a:prstGeom>
          <a:noFill/>
        </p:spPr>
        <p:txBody>
          <a:bodyPr wrap="none" rtlCol="0">
            <a:spAutoFit/>
          </a:bodyPr>
          <a:lstStyle/>
          <a:p>
            <a:r>
              <a:rPr lang="en-US" sz="1100" dirty="0"/>
              <a:t>Card 13</a:t>
            </a:r>
          </a:p>
        </p:txBody>
      </p:sp>
      <p:sp>
        <p:nvSpPr>
          <p:cNvPr id="60" name="TextBox 59">
            <a:extLst>
              <a:ext uri="{FF2B5EF4-FFF2-40B4-BE49-F238E27FC236}">
                <a16:creationId xmlns:a16="http://schemas.microsoft.com/office/drawing/2014/main" id="{E388C48A-A1B9-B504-B34A-B67FB3B1218D}"/>
              </a:ext>
            </a:extLst>
          </p:cNvPr>
          <p:cNvSpPr txBox="1"/>
          <p:nvPr/>
        </p:nvSpPr>
        <p:spPr>
          <a:xfrm>
            <a:off x="68492" y="5557769"/>
            <a:ext cx="587020" cy="261610"/>
          </a:xfrm>
          <a:prstGeom prst="rect">
            <a:avLst/>
          </a:prstGeom>
          <a:noFill/>
        </p:spPr>
        <p:txBody>
          <a:bodyPr wrap="none" rtlCol="0">
            <a:spAutoFit/>
          </a:bodyPr>
          <a:lstStyle/>
          <a:p>
            <a:r>
              <a:rPr lang="en-US" sz="1100" dirty="0"/>
              <a:t>Card 8</a:t>
            </a:r>
          </a:p>
        </p:txBody>
      </p:sp>
      <p:sp>
        <p:nvSpPr>
          <p:cNvPr id="61" name="TextBox 60">
            <a:extLst>
              <a:ext uri="{FF2B5EF4-FFF2-40B4-BE49-F238E27FC236}">
                <a16:creationId xmlns:a16="http://schemas.microsoft.com/office/drawing/2014/main" id="{14F5C32A-7552-A34C-AA69-70B3EE29E7E3}"/>
              </a:ext>
            </a:extLst>
          </p:cNvPr>
          <p:cNvSpPr txBox="1"/>
          <p:nvPr/>
        </p:nvSpPr>
        <p:spPr>
          <a:xfrm>
            <a:off x="2210492" y="5556245"/>
            <a:ext cx="662361" cy="261610"/>
          </a:xfrm>
          <a:prstGeom prst="rect">
            <a:avLst/>
          </a:prstGeom>
          <a:noFill/>
        </p:spPr>
        <p:txBody>
          <a:bodyPr wrap="none" rtlCol="0">
            <a:spAutoFit/>
          </a:bodyPr>
          <a:lstStyle/>
          <a:p>
            <a:r>
              <a:rPr lang="en-US" sz="1100" dirty="0"/>
              <a:t>Card 10</a:t>
            </a:r>
          </a:p>
        </p:txBody>
      </p:sp>
      <p:sp>
        <p:nvSpPr>
          <p:cNvPr id="62" name="TextBox 61">
            <a:extLst>
              <a:ext uri="{FF2B5EF4-FFF2-40B4-BE49-F238E27FC236}">
                <a16:creationId xmlns:a16="http://schemas.microsoft.com/office/drawing/2014/main" id="{4B6D8F34-235E-9C54-D139-0B4F9A2C3CDE}"/>
              </a:ext>
            </a:extLst>
          </p:cNvPr>
          <p:cNvSpPr txBox="1"/>
          <p:nvPr/>
        </p:nvSpPr>
        <p:spPr>
          <a:xfrm>
            <a:off x="2153694" y="2610998"/>
            <a:ext cx="662361" cy="261610"/>
          </a:xfrm>
          <a:prstGeom prst="rect">
            <a:avLst/>
          </a:prstGeom>
          <a:noFill/>
        </p:spPr>
        <p:txBody>
          <a:bodyPr wrap="none" rtlCol="0">
            <a:spAutoFit/>
          </a:bodyPr>
          <a:lstStyle/>
          <a:p>
            <a:r>
              <a:rPr lang="en-US" sz="1100" dirty="0"/>
              <a:t>Card 19</a:t>
            </a:r>
          </a:p>
        </p:txBody>
      </p:sp>
      <p:sp>
        <p:nvSpPr>
          <p:cNvPr id="69" name="TextBox 68">
            <a:extLst>
              <a:ext uri="{FF2B5EF4-FFF2-40B4-BE49-F238E27FC236}">
                <a16:creationId xmlns:a16="http://schemas.microsoft.com/office/drawing/2014/main" id="{5CB5F302-9E3F-3F82-A689-A095C27B7970}"/>
              </a:ext>
            </a:extLst>
          </p:cNvPr>
          <p:cNvSpPr txBox="1"/>
          <p:nvPr/>
        </p:nvSpPr>
        <p:spPr>
          <a:xfrm>
            <a:off x="4256608" y="2645428"/>
            <a:ext cx="662361" cy="261610"/>
          </a:xfrm>
          <a:prstGeom prst="rect">
            <a:avLst/>
          </a:prstGeom>
          <a:noFill/>
        </p:spPr>
        <p:txBody>
          <a:bodyPr wrap="none" rtlCol="0">
            <a:spAutoFit/>
          </a:bodyPr>
          <a:lstStyle/>
          <a:p>
            <a:r>
              <a:rPr lang="en-US" sz="1100" dirty="0"/>
              <a:t>Card 25</a:t>
            </a:r>
          </a:p>
        </p:txBody>
      </p:sp>
      <p:sp>
        <p:nvSpPr>
          <p:cNvPr id="71" name="TextBox 70">
            <a:extLst>
              <a:ext uri="{FF2B5EF4-FFF2-40B4-BE49-F238E27FC236}">
                <a16:creationId xmlns:a16="http://schemas.microsoft.com/office/drawing/2014/main" id="{A0908F0B-2972-4F0A-2053-F6CAAE52E241}"/>
              </a:ext>
            </a:extLst>
          </p:cNvPr>
          <p:cNvSpPr txBox="1"/>
          <p:nvPr/>
        </p:nvSpPr>
        <p:spPr>
          <a:xfrm>
            <a:off x="4301001" y="5556245"/>
            <a:ext cx="587020" cy="261610"/>
          </a:xfrm>
          <a:prstGeom prst="rect">
            <a:avLst/>
          </a:prstGeom>
          <a:noFill/>
        </p:spPr>
        <p:txBody>
          <a:bodyPr wrap="none" rtlCol="0">
            <a:spAutoFit/>
          </a:bodyPr>
          <a:lstStyle/>
          <a:p>
            <a:r>
              <a:rPr lang="en-US" sz="1100" dirty="0"/>
              <a:t>Card 6</a:t>
            </a:r>
          </a:p>
        </p:txBody>
      </p:sp>
      <p:sp>
        <p:nvSpPr>
          <p:cNvPr id="72" name="TextBox 71">
            <a:extLst>
              <a:ext uri="{FF2B5EF4-FFF2-40B4-BE49-F238E27FC236}">
                <a16:creationId xmlns:a16="http://schemas.microsoft.com/office/drawing/2014/main" id="{E09FAFB2-A2C1-B028-4526-403F02B5967B}"/>
              </a:ext>
            </a:extLst>
          </p:cNvPr>
          <p:cNvSpPr txBox="1"/>
          <p:nvPr/>
        </p:nvSpPr>
        <p:spPr>
          <a:xfrm>
            <a:off x="6330238" y="5552036"/>
            <a:ext cx="662361" cy="261610"/>
          </a:xfrm>
          <a:prstGeom prst="rect">
            <a:avLst/>
          </a:prstGeom>
          <a:noFill/>
        </p:spPr>
        <p:txBody>
          <a:bodyPr wrap="none" rtlCol="0">
            <a:spAutoFit/>
          </a:bodyPr>
          <a:lstStyle/>
          <a:p>
            <a:r>
              <a:rPr lang="en-US" sz="1100" dirty="0"/>
              <a:t>Card 30</a:t>
            </a:r>
          </a:p>
        </p:txBody>
      </p:sp>
      <p:sp>
        <p:nvSpPr>
          <p:cNvPr id="79" name="Arrow: Pentagon 78">
            <a:extLst>
              <a:ext uri="{FF2B5EF4-FFF2-40B4-BE49-F238E27FC236}">
                <a16:creationId xmlns:a16="http://schemas.microsoft.com/office/drawing/2014/main" id="{3AFC6BB0-3AEF-6968-C24B-6ABA8F30AE26}"/>
              </a:ext>
            </a:extLst>
          </p:cNvPr>
          <p:cNvSpPr/>
          <p:nvPr/>
        </p:nvSpPr>
        <p:spPr>
          <a:xfrm>
            <a:off x="6584517" y="451551"/>
            <a:ext cx="1447642" cy="338554"/>
          </a:xfrm>
          <a:prstGeom prst="homePlat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Scenario 3</a:t>
            </a:r>
          </a:p>
        </p:txBody>
      </p:sp>
    </p:spTree>
    <p:extLst>
      <p:ext uri="{BB962C8B-B14F-4D97-AF65-F5344CB8AC3E}">
        <p14:creationId xmlns:p14="http://schemas.microsoft.com/office/powerpoint/2010/main" val="10576140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A175E-3378-018B-028B-B6099B382DCB}"/>
            </a:ext>
          </a:extLst>
        </p:cNvPr>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5919CD3A-B867-D2D7-A407-B9BDFDC33C65}"/>
              </a:ext>
            </a:extLst>
          </p:cNvPr>
          <p:cNvCxnSpPr>
            <a:cxnSpLocks/>
          </p:cNvCxnSpPr>
          <p:nvPr/>
        </p:nvCxnSpPr>
        <p:spPr>
          <a:xfrm>
            <a:off x="369145" y="548640"/>
            <a:ext cx="0" cy="1891417"/>
          </a:xfrm>
          <a:prstGeom prst="line">
            <a:avLst/>
          </a:prstGeom>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609FFC0-8A7F-1884-135C-2EF092BE7670}"/>
              </a:ext>
            </a:extLst>
          </p:cNvPr>
          <p:cNvSpPr/>
          <p:nvPr/>
        </p:nvSpPr>
        <p:spPr>
          <a:xfrm>
            <a:off x="9560"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cxnSp>
        <p:nvCxnSpPr>
          <p:cNvPr id="21" name="Straight Connector 20">
            <a:extLst>
              <a:ext uri="{FF2B5EF4-FFF2-40B4-BE49-F238E27FC236}">
                <a16:creationId xmlns:a16="http://schemas.microsoft.com/office/drawing/2014/main" id="{BC242091-EF99-5B05-6FBE-C097938FBE25}"/>
              </a:ext>
            </a:extLst>
          </p:cNvPr>
          <p:cNvCxnSpPr/>
          <p:nvPr/>
        </p:nvCxnSpPr>
        <p:spPr>
          <a:xfrm>
            <a:off x="-4482928" y="99168"/>
            <a:ext cx="0" cy="2683566"/>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2E21D276-843C-5EF7-B990-E1A3310CDC24}"/>
              </a:ext>
            </a:extLst>
          </p:cNvPr>
          <p:cNvCxnSpPr/>
          <p:nvPr/>
        </p:nvCxnSpPr>
        <p:spPr>
          <a:xfrm>
            <a:off x="371928" y="1431036"/>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C77DD364-544D-6E44-ACF3-9F0AD06E5F5A}"/>
              </a:ext>
            </a:extLst>
          </p:cNvPr>
          <p:cNvSpPr txBox="1"/>
          <p:nvPr/>
        </p:nvSpPr>
        <p:spPr>
          <a:xfrm>
            <a:off x="1588159" y="1399032"/>
            <a:ext cx="457176" cy="261610"/>
          </a:xfrm>
          <a:prstGeom prst="rect">
            <a:avLst/>
          </a:prstGeom>
          <a:noFill/>
        </p:spPr>
        <p:txBody>
          <a:bodyPr wrap="none" rtlCol="0">
            <a:spAutoFit/>
          </a:bodyPr>
          <a:lstStyle/>
          <a:p>
            <a:r>
              <a:rPr lang="en-US" sz="1100" dirty="0"/>
              <a:t>time</a:t>
            </a:r>
          </a:p>
        </p:txBody>
      </p:sp>
      <p:sp>
        <p:nvSpPr>
          <p:cNvPr id="26" name="TextBox 25">
            <a:extLst>
              <a:ext uri="{FF2B5EF4-FFF2-40B4-BE49-F238E27FC236}">
                <a16:creationId xmlns:a16="http://schemas.microsoft.com/office/drawing/2014/main" id="{45278406-E3A6-9371-46DD-3070CAD28408}"/>
              </a:ext>
            </a:extLst>
          </p:cNvPr>
          <p:cNvSpPr txBox="1"/>
          <p:nvPr/>
        </p:nvSpPr>
        <p:spPr>
          <a:xfrm rot="16200000">
            <a:off x="-107052" y="676132"/>
            <a:ext cx="679994" cy="261610"/>
          </a:xfrm>
          <a:prstGeom prst="rect">
            <a:avLst/>
          </a:prstGeom>
          <a:noFill/>
        </p:spPr>
        <p:txBody>
          <a:bodyPr wrap="none" rtlCol="0">
            <a:spAutoFit/>
          </a:bodyPr>
          <a:lstStyle/>
          <a:p>
            <a:r>
              <a:rPr lang="en-US" sz="1100" dirty="0"/>
              <a:t>position</a:t>
            </a:r>
          </a:p>
        </p:txBody>
      </p:sp>
      <p:sp>
        <p:nvSpPr>
          <p:cNvPr id="27" name="TextBox 26">
            <a:extLst>
              <a:ext uri="{FF2B5EF4-FFF2-40B4-BE49-F238E27FC236}">
                <a16:creationId xmlns:a16="http://schemas.microsoft.com/office/drawing/2014/main" id="{1FCC2432-5381-E825-5053-B6E634122344}"/>
              </a:ext>
            </a:extLst>
          </p:cNvPr>
          <p:cNvSpPr txBox="1"/>
          <p:nvPr/>
        </p:nvSpPr>
        <p:spPr>
          <a:xfrm>
            <a:off x="114668" y="1300231"/>
            <a:ext cx="260008" cy="261610"/>
          </a:xfrm>
          <a:prstGeom prst="rect">
            <a:avLst/>
          </a:prstGeom>
          <a:noFill/>
        </p:spPr>
        <p:txBody>
          <a:bodyPr wrap="none" rtlCol="0">
            <a:spAutoFit/>
          </a:bodyPr>
          <a:lstStyle/>
          <a:p>
            <a:r>
              <a:rPr lang="en-US" sz="1100" dirty="0"/>
              <a:t>0</a:t>
            </a:r>
          </a:p>
        </p:txBody>
      </p:sp>
      <p:cxnSp>
        <p:nvCxnSpPr>
          <p:cNvPr id="31" name="Straight Connector 30">
            <a:extLst>
              <a:ext uri="{FF2B5EF4-FFF2-40B4-BE49-F238E27FC236}">
                <a16:creationId xmlns:a16="http://schemas.microsoft.com/office/drawing/2014/main" id="{A82733DB-DB36-A4E1-B614-106C7EDCA061}"/>
              </a:ext>
            </a:extLst>
          </p:cNvPr>
          <p:cNvCxnSpPr>
            <a:cxnSpLocks/>
          </p:cNvCxnSpPr>
          <p:nvPr/>
        </p:nvCxnSpPr>
        <p:spPr>
          <a:xfrm>
            <a:off x="2423619" y="550164"/>
            <a:ext cx="0" cy="1891417"/>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D6B2E95-6C4B-DC54-132F-35BBBCB24704}"/>
              </a:ext>
            </a:extLst>
          </p:cNvPr>
          <p:cNvCxnSpPr/>
          <p:nvPr/>
        </p:nvCxnSpPr>
        <p:spPr>
          <a:xfrm>
            <a:off x="2426402" y="1432560"/>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524F7726-58DA-4FBE-1E81-EE6A9C131C26}"/>
              </a:ext>
            </a:extLst>
          </p:cNvPr>
          <p:cNvSpPr txBox="1"/>
          <p:nvPr/>
        </p:nvSpPr>
        <p:spPr>
          <a:xfrm>
            <a:off x="3642633" y="1400556"/>
            <a:ext cx="457176" cy="261610"/>
          </a:xfrm>
          <a:prstGeom prst="rect">
            <a:avLst/>
          </a:prstGeom>
          <a:noFill/>
        </p:spPr>
        <p:txBody>
          <a:bodyPr wrap="none" rtlCol="0">
            <a:spAutoFit/>
          </a:bodyPr>
          <a:lstStyle/>
          <a:p>
            <a:r>
              <a:rPr lang="en-US" sz="1100" dirty="0"/>
              <a:t>time</a:t>
            </a:r>
          </a:p>
        </p:txBody>
      </p:sp>
      <p:sp>
        <p:nvSpPr>
          <p:cNvPr id="34" name="TextBox 33">
            <a:extLst>
              <a:ext uri="{FF2B5EF4-FFF2-40B4-BE49-F238E27FC236}">
                <a16:creationId xmlns:a16="http://schemas.microsoft.com/office/drawing/2014/main" id="{3A7050FD-3889-2F6A-1D0D-32281D2EB0F2}"/>
              </a:ext>
            </a:extLst>
          </p:cNvPr>
          <p:cNvSpPr txBox="1"/>
          <p:nvPr/>
        </p:nvSpPr>
        <p:spPr>
          <a:xfrm rot="16200000">
            <a:off x="1960246" y="677656"/>
            <a:ext cx="654346" cy="261610"/>
          </a:xfrm>
          <a:prstGeom prst="rect">
            <a:avLst/>
          </a:prstGeom>
          <a:noFill/>
        </p:spPr>
        <p:txBody>
          <a:bodyPr wrap="none" rtlCol="0">
            <a:spAutoFit/>
          </a:bodyPr>
          <a:lstStyle/>
          <a:p>
            <a:r>
              <a:rPr lang="en-US" sz="1100" dirty="0"/>
              <a:t>velocity</a:t>
            </a:r>
          </a:p>
        </p:txBody>
      </p:sp>
      <p:sp>
        <p:nvSpPr>
          <p:cNvPr id="35" name="TextBox 34">
            <a:extLst>
              <a:ext uri="{FF2B5EF4-FFF2-40B4-BE49-F238E27FC236}">
                <a16:creationId xmlns:a16="http://schemas.microsoft.com/office/drawing/2014/main" id="{820F783A-9673-7A7E-2137-16E08B74A7B6}"/>
              </a:ext>
            </a:extLst>
          </p:cNvPr>
          <p:cNvSpPr txBox="1"/>
          <p:nvPr/>
        </p:nvSpPr>
        <p:spPr>
          <a:xfrm>
            <a:off x="2169142" y="1301755"/>
            <a:ext cx="260008" cy="261610"/>
          </a:xfrm>
          <a:prstGeom prst="rect">
            <a:avLst/>
          </a:prstGeom>
          <a:noFill/>
        </p:spPr>
        <p:txBody>
          <a:bodyPr wrap="none" rtlCol="0">
            <a:spAutoFit/>
          </a:bodyPr>
          <a:lstStyle/>
          <a:p>
            <a:r>
              <a:rPr lang="en-US" sz="1100" dirty="0"/>
              <a:t>0</a:t>
            </a:r>
          </a:p>
        </p:txBody>
      </p:sp>
      <p:cxnSp>
        <p:nvCxnSpPr>
          <p:cNvPr id="37" name="Straight Connector 36">
            <a:extLst>
              <a:ext uri="{FF2B5EF4-FFF2-40B4-BE49-F238E27FC236}">
                <a16:creationId xmlns:a16="http://schemas.microsoft.com/office/drawing/2014/main" id="{AD9A40E0-F5BA-D9F8-6A06-2740F0BB6680}"/>
              </a:ext>
            </a:extLst>
          </p:cNvPr>
          <p:cNvCxnSpPr>
            <a:cxnSpLocks/>
          </p:cNvCxnSpPr>
          <p:nvPr/>
        </p:nvCxnSpPr>
        <p:spPr>
          <a:xfrm>
            <a:off x="4464265" y="548640"/>
            <a:ext cx="0" cy="1891417"/>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A7836A-078D-386A-CBC2-176FB9BF4687}"/>
              </a:ext>
            </a:extLst>
          </p:cNvPr>
          <p:cNvCxnSpPr/>
          <p:nvPr/>
        </p:nvCxnSpPr>
        <p:spPr>
          <a:xfrm>
            <a:off x="4467048" y="1431036"/>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955595AE-DA30-7FB8-A910-FC1F5C3AB6A3}"/>
              </a:ext>
            </a:extLst>
          </p:cNvPr>
          <p:cNvSpPr txBox="1"/>
          <p:nvPr/>
        </p:nvSpPr>
        <p:spPr>
          <a:xfrm>
            <a:off x="5699933" y="1399032"/>
            <a:ext cx="457176" cy="261610"/>
          </a:xfrm>
          <a:prstGeom prst="rect">
            <a:avLst/>
          </a:prstGeom>
          <a:noFill/>
        </p:spPr>
        <p:txBody>
          <a:bodyPr wrap="none" rtlCol="0">
            <a:spAutoFit/>
          </a:bodyPr>
          <a:lstStyle/>
          <a:p>
            <a:r>
              <a:rPr lang="en-US" sz="1100" dirty="0"/>
              <a:t>time</a:t>
            </a:r>
          </a:p>
        </p:txBody>
      </p:sp>
      <p:sp>
        <p:nvSpPr>
          <p:cNvPr id="40" name="TextBox 39">
            <a:extLst>
              <a:ext uri="{FF2B5EF4-FFF2-40B4-BE49-F238E27FC236}">
                <a16:creationId xmlns:a16="http://schemas.microsoft.com/office/drawing/2014/main" id="{259CD819-3A63-1721-5C80-49833D8A0E54}"/>
              </a:ext>
            </a:extLst>
          </p:cNvPr>
          <p:cNvSpPr txBox="1"/>
          <p:nvPr/>
        </p:nvSpPr>
        <p:spPr>
          <a:xfrm rot="16200000">
            <a:off x="3853417" y="676132"/>
            <a:ext cx="949299" cy="261610"/>
          </a:xfrm>
          <a:prstGeom prst="rect">
            <a:avLst/>
          </a:prstGeom>
          <a:noFill/>
        </p:spPr>
        <p:txBody>
          <a:bodyPr wrap="none" rtlCol="0">
            <a:spAutoFit/>
          </a:bodyPr>
          <a:lstStyle/>
          <a:p>
            <a:r>
              <a:rPr lang="en-US" sz="1100" dirty="0"/>
              <a:t>acceleration</a:t>
            </a:r>
          </a:p>
        </p:txBody>
      </p:sp>
      <p:sp>
        <p:nvSpPr>
          <p:cNvPr id="41" name="TextBox 40">
            <a:extLst>
              <a:ext uri="{FF2B5EF4-FFF2-40B4-BE49-F238E27FC236}">
                <a16:creationId xmlns:a16="http://schemas.microsoft.com/office/drawing/2014/main" id="{961A5244-8076-537C-20FD-769819B404DD}"/>
              </a:ext>
            </a:extLst>
          </p:cNvPr>
          <p:cNvSpPr txBox="1"/>
          <p:nvPr/>
        </p:nvSpPr>
        <p:spPr>
          <a:xfrm>
            <a:off x="4209788" y="1300231"/>
            <a:ext cx="260008" cy="261610"/>
          </a:xfrm>
          <a:prstGeom prst="rect">
            <a:avLst/>
          </a:prstGeom>
          <a:noFill/>
        </p:spPr>
        <p:txBody>
          <a:bodyPr wrap="none" rtlCol="0">
            <a:spAutoFit/>
          </a:bodyPr>
          <a:lstStyle/>
          <a:p>
            <a:r>
              <a:rPr lang="en-US" sz="1100" dirty="0"/>
              <a:t>0</a:t>
            </a:r>
          </a:p>
        </p:txBody>
      </p:sp>
      <p:cxnSp>
        <p:nvCxnSpPr>
          <p:cNvPr id="42" name="Straight Connector 41">
            <a:extLst>
              <a:ext uri="{FF2B5EF4-FFF2-40B4-BE49-F238E27FC236}">
                <a16:creationId xmlns:a16="http://schemas.microsoft.com/office/drawing/2014/main" id="{2BDC66F3-CB9E-863C-5F52-9314DA7113DA}"/>
              </a:ext>
            </a:extLst>
          </p:cNvPr>
          <p:cNvCxnSpPr>
            <a:cxnSpLocks/>
            <a:stCxn id="41" idx="3"/>
          </p:cNvCxnSpPr>
          <p:nvPr/>
        </p:nvCxnSpPr>
        <p:spPr>
          <a:xfrm>
            <a:off x="4469796" y="1431036"/>
            <a:ext cx="1292968" cy="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sp>
        <p:nvSpPr>
          <p:cNvPr id="49" name="TextBox 48">
            <a:extLst>
              <a:ext uri="{FF2B5EF4-FFF2-40B4-BE49-F238E27FC236}">
                <a16:creationId xmlns:a16="http://schemas.microsoft.com/office/drawing/2014/main" id="{7C6F9EE6-4E6D-D9B5-4AD2-B1A895E4F66D}"/>
              </a:ext>
            </a:extLst>
          </p:cNvPr>
          <p:cNvSpPr txBox="1"/>
          <p:nvPr/>
        </p:nvSpPr>
        <p:spPr>
          <a:xfrm>
            <a:off x="2284070" y="3971718"/>
            <a:ext cx="1612447" cy="584775"/>
          </a:xfrm>
          <a:prstGeom prst="rect">
            <a:avLst/>
          </a:prstGeom>
          <a:noFill/>
        </p:spPr>
        <p:txBody>
          <a:bodyPr wrap="square" rtlCol="0">
            <a:spAutoFit/>
          </a:bodyPr>
          <a:lstStyle/>
          <a:p>
            <a:pPr algn="ctr"/>
            <a:r>
              <a:rPr lang="en-US" sz="1600" b="1" dirty="0">
                <a:solidFill>
                  <a:schemeClr val="accent6">
                    <a:lumMod val="75000"/>
                  </a:schemeClr>
                </a:solidFill>
              </a:rPr>
              <a:t>Zero Acceleration</a:t>
            </a:r>
          </a:p>
        </p:txBody>
      </p:sp>
      <p:sp>
        <p:nvSpPr>
          <p:cNvPr id="50" name="TextBox 49">
            <a:extLst>
              <a:ext uri="{FF2B5EF4-FFF2-40B4-BE49-F238E27FC236}">
                <a16:creationId xmlns:a16="http://schemas.microsoft.com/office/drawing/2014/main" id="{17F32E81-F137-35AE-BB8F-A19E309BC66F}"/>
              </a:ext>
            </a:extLst>
          </p:cNvPr>
          <p:cNvSpPr txBox="1"/>
          <p:nvPr/>
        </p:nvSpPr>
        <p:spPr>
          <a:xfrm>
            <a:off x="232944" y="3970454"/>
            <a:ext cx="1612447" cy="584775"/>
          </a:xfrm>
          <a:prstGeom prst="rect">
            <a:avLst/>
          </a:prstGeom>
          <a:noFill/>
        </p:spPr>
        <p:txBody>
          <a:bodyPr wrap="square" rtlCol="0">
            <a:spAutoFit/>
          </a:bodyPr>
          <a:lstStyle/>
          <a:p>
            <a:pPr algn="ctr"/>
            <a:r>
              <a:rPr lang="en-US" sz="1600" b="1" dirty="0">
                <a:solidFill>
                  <a:schemeClr val="accent5">
                    <a:lumMod val="75000"/>
                  </a:schemeClr>
                </a:solidFill>
              </a:rPr>
              <a:t>Negative Velocity</a:t>
            </a:r>
          </a:p>
        </p:txBody>
      </p:sp>
      <p:sp>
        <p:nvSpPr>
          <p:cNvPr id="51" name="Oval 50">
            <a:extLst>
              <a:ext uri="{FF2B5EF4-FFF2-40B4-BE49-F238E27FC236}">
                <a16:creationId xmlns:a16="http://schemas.microsoft.com/office/drawing/2014/main" id="{A200CD84-8133-ED4B-C624-DE914F4BEEC4}"/>
              </a:ext>
            </a:extLst>
          </p:cNvPr>
          <p:cNvSpPr/>
          <p:nvPr/>
        </p:nvSpPr>
        <p:spPr>
          <a:xfrm>
            <a:off x="4513491" y="4335809"/>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DA602640-A4FB-0B4F-5398-86CB35887C77}"/>
              </a:ext>
            </a:extLst>
          </p:cNvPr>
          <p:cNvSpPr/>
          <p:nvPr/>
        </p:nvSpPr>
        <p:spPr>
          <a:xfrm>
            <a:off x="4984615" y="4335809"/>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FE2C81B9-DA7B-0FDB-5AE3-4F8411AF3AC0}"/>
              </a:ext>
            </a:extLst>
          </p:cNvPr>
          <p:cNvSpPr/>
          <p:nvPr/>
        </p:nvSpPr>
        <p:spPr>
          <a:xfrm>
            <a:off x="5450525" y="4331935"/>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464F2D09-6791-4771-8D10-CA30CCC179A6}"/>
              </a:ext>
            </a:extLst>
          </p:cNvPr>
          <p:cNvSpPr/>
          <p:nvPr/>
        </p:nvSpPr>
        <p:spPr>
          <a:xfrm>
            <a:off x="5921649" y="4331935"/>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0C202FBF-9CFF-939D-4E3F-DCBC0D8C0768}"/>
              </a:ext>
            </a:extLst>
          </p:cNvPr>
          <p:cNvSpPr txBox="1"/>
          <p:nvPr/>
        </p:nvSpPr>
        <p:spPr>
          <a:xfrm>
            <a:off x="4404311" y="4430006"/>
            <a:ext cx="260008" cy="261610"/>
          </a:xfrm>
          <a:prstGeom prst="rect">
            <a:avLst/>
          </a:prstGeom>
          <a:noFill/>
        </p:spPr>
        <p:txBody>
          <a:bodyPr wrap="none" rtlCol="0">
            <a:spAutoFit/>
          </a:bodyPr>
          <a:lstStyle/>
          <a:p>
            <a:r>
              <a:rPr lang="en-US" sz="1100" dirty="0"/>
              <a:t>4</a:t>
            </a:r>
          </a:p>
        </p:txBody>
      </p:sp>
      <p:sp>
        <p:nvSpPr>
          <p:cNvPr id="64" name="TextBox 63">
            <a:extLst>
              <a:ext uri="{FF2B5EF4-FFF2-40B4-BE49-F238E27FC236}">
                <a16:creationId xmlns:a16="http://schemas.microsoft.com/office/drawing/2014/main" id="{6A1A60D9-A043-6C0B-B48B-2F06A8B6A21A}"/>
              </a:ext>
            </a:extLst>
          </p:cNvPr>
          <p:cNvSpPr txBox="1"/>
          <p:nvPr/>
        </p:nvSpPr>
        <p:spPr>
          <a:xfrm>
            <a:off x="4883997" y="4430006"/>
            <a:ext cx="260008" cy="261610"/>
          </a:xfrm>
          <a:prstGeom prst="rect">
            <a:avLst/>
          </a:prstGeom>
          <a:noFill/>
        </p:spPr>
        <p:txBody>
          <a:bodyPr wrap="none" rtlCol="0">
            <a:spAutoFit/>
          </a:bodyPr>
          <a:lstStyle/>
          <a:p>
            <a:r>
              <a:rPr lang="en-US" sz="1100" dirty="0"/>
              <a:t>3</a:t>
            </a:r>
          </a:p>
        </p:txBody>
      </p:sp>
      <p:sp>
        <p:nvSpPr>
          <p:cNvPr id="65" name="TextBox 64">
            <a:extLst>
              <a:ext uri="{FF2B5EF4-FFF2-40B4-BE49-F238E27FC236}">
                <a16:creationId xmlns:a16="http://schemas.microsoft.com/office/drawing/2014/main" id="{781D55A9-F8FE-B544-9387-4956504443ED}"/>
              </a:ext>
            </a:extLst>
          </p:cNvPr>
          <p:cNvSpPr txBox="1"/>
          <p:nvPr/>
        </p:nvSpPr>
        <p:spPr>
          <a:xfrm>
            <a:off x="5342785" y="4430006"/>
            <a:ext cx="260008" cy="261610"/>
          </a:xfrm>
          <a:prstGeom prst="rect">
            <a:avLst/>
          </a:prstGeom>
          <a:noFill/>
        </p:spPr>
        <p:txBody>
          <a:bodyPr wrap="none" rtlCol="0">
            <a:spAutoFit/>
          </a:bodyPr>
          <a:lstStyle/>
          <a:p>
            <a:r>
              <a:rPr lang="en-US" sz="1100" dirty="0"/>
              <a:t>2</a:t>
            </a:r>
          </a:p>
        </p:txBody>
      </p:sp>
      <p:sp>
        <p:nvSpPr>
          <p:cNvPr id="66" name="TextBox 65">
            <a:extLst>
              <a:ext uri="{FF2B5EF4-FFF2-40B4-BE49-F238E27FC236}">
                <a16:creationId xmlns:a16="http://schemas.microsoft.com/office/drawing/2014/main" id="{F169715B-F97B-DF00-6088-03AE17D37ADD}"/>
              </a:ext>
            </a:extLst>
          </p:cNvPr>
          <p:cNvSpPr txBox="1"/>
          <p:nvPr/>
        </p:nvSpPr>
        <p:spPr>
          <a:xfrm>
            <a:off x="5817216" y="4428433"/>
            <a:ext cx="260008" cy="261610"/>
          </a:xfrm>
          <a:prstGeom prst="rect">
            <a:avLst/>
          </a:prstGeom>
          <a:noFill/>
        </p:spPr>
        <p:txBody>
          <a:bodyPr wrap="none" rtlCol="0">
            <a:spAutoFit/>
          </a:bodyPr>
          <a:lstStyle/>
          <a:p>
            <a:r>
              <a:rPr lang="en-US" sz="1100" dirty="0"/>
              <a:t>1</a:t>
            </a:r>
          </a:p>
        </p:txBody>
      </p:sp>
      <p:sp>
        <p:nvSpPr>
          <p:cNvPr id="67" name="Oval 66">
            <a:extLst>
              <a:ext uri="{FF2B5EF4-FFF2-40B4-BE49-F238E27FC236}">
                <a16:creationId xmlns:a16="http://schemas.microsoft.com/office/drawing/2014/main" id="{996FA4B8-0396-900F-B27D-2FDC0033A5B1}"/>
              </a:ext>
            </a:extLst>
          </p:cNvPr>
          <p:cNvSpPr/>
          <p:nvPr/>
        </p:nvSpPr>
        <p:spPr>
          <a:xfrm>
            <a:off x="7131763" y="4395809"/>
            <a:ext cx="96963" cy="8883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Arrow Connector 67">
            <a:extLst>
              <a:ext uri="{FF2B5EF4-FFF2-40B4-BE49-F238E27FC236}">
                <a16:creationId xmlns:a16="http://schemas.microsoft.com/office/drawing/2014/main" id="{3DF22CF4-671A-4410-ABE3-7B27589B8405}"/>
              </a:ext>
            </a:extLst>
          </p:cNvPr>
          <p:cNvCxnSpPr>
            <a:cxnSpLocks/>
          </p:cNvCxnSpPr>
          <p:nvPr/>
        </p:nvCxnSpPr>
        <p:spPr>
          <a:xfrm flipV="1">
            <a:off x="7182799" y="3912542"/>
            <a:ext cx="0" cy="483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652BB154-354F-E410-A968-14523F63B202}"/>
              </a:ext>
            </a:extLst>
          </p:cNvPr>
          <p:cNvCxnSpPr>
            <a:cxnSpLocks/>
          </p:cNvCxnSpPr>
          <p:nvPr/>
        </p:nvCxnSpPr>
        <p:spPr>
          <a:xfrm>
            <a:off x="7182818" y="4491496"/>
            <a:ext cx="0" cy="483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2FA9FD94-92F0-96E6-FDBA-3C02BD217096}"/>
              </a:ext>
            </a:extLst>
          </p:cNvPr>
          <p:cNvCxnSpPr/>
          <p:nvPr/>
        </p:nvCxnSpPr>
        <p:spPr>
          <a:xfrm>
            <a:off x="7236449" y="4440797"/>
            <a:ext cx="39005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6520ADEE-8CE3-6D9E-5821-47941FD5AE81}"/>
              </a:ext>
            </a:extLst>
          </p:cNvPr>
          <p:cNvCxnSpPr/>
          <p:nvPr/>
        </p:nvCxnSpPr>
        <p:spPr>
          <a:xfrm>
            <a:off x="6733981" y="4440638"/>
            <a:ext cx="390059" cy="0"/>
          </a:xfrm>
          <a:prstGeom prst="straightConnector1">
            <a:avLst/>
          </a:prstGeom>
          <a:ln>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7AD75A76-84A9-96AD-51BC-A5A8374680BB}"/>
              </a:ext>
            </a:extLst>
          </p:cNvPr>
          <p:cNvSpPr txBox="1"/>
          <p:nvPr/>
        </p:nvSpPr>
        <p:spPr>
          <a:xfrm>
            <a:off x="7180244" y="3761761"/>
            <a:ext cx="726481" cy="261610"/>
          </a:xfrm>
          <a:prstGeom prst="rect">
            <a:avLst/>
          </a:prstGeom>
          <a:noFill/>
        </p:spPr>
        <p:txBody>
          <a:bodyPr wrap="none" rtlCol="0">
            <a:spAutoFit/>
          </a:bodyPr>
          <a:lstStyle/>
          <a:p>
            <a:r>
              <a:rPr lang="en-US" sz="1100" dirty="0"/>
              <a:t>F</a:t>
            </a:r>
            <a:r>
              <a:rPr lang="en-US" sz="1100" baseline="-25000" dirty="0"/>
              <a:t>N </a:t>
            </a:r>
            <a:r>
              <a:rPr lang="en-US" sz="1100" dirty="0"/>
              <a:t>= 12 N</a:t>
            </a:r>
          </a:p>
        </p:txBody>
      </p:sp>
      <p:sp>
        <p:nvSpPr>
          <p:cNvPr id="76" name="TextBox 75">
            <a:extLst>
              <a:ext uri="{FF2B5EF4-FFF2-40B4-BE49-F238E27FC236}">
                <a16:creationId xmlns:a16="http://schemas.microsoft.com/office/drawing/2014/main" id="{21C29E5A-CF96-B254-9B29-A70B7CE55BF3}"/>
              </a:ext>
            </a:extLst>
          </p:cNvPr>
          <p:cNvSpPr txBox="1"/>
          <p:nvPr/>
        </p:nvSpPr>
        <p:spPr>
          <a:xfrm>
            <a:off x="7180243" y="4856810"/>
            <a:ext cx="697627" cy="261610"/>
          </a:xfrm>
          <a:prstGeom prst="rect">
            <a:avLst/>
          </a:prstGeom>
          <a:noFill/>
        </p:spPr>
        <p:txBody>
          <a:bodyPr wrap="none" rtlCol="0">
            <a:spAutoFit/>
          </a:bodyPr>
          <a:lstStyle/>
          <a:p>
            <a:r>
              <a:rPr lang="en-US" sz="1100" dirty="0"/>
              <a:t>w = 12 N</a:t>
            </a:r>
          </a:p>
        </p:txBody>
      </p:sp>
      <p:sp>
        <p:nvSpPr>
          <p:cNvPr id="77" name="TextBox 76">
            <a:extLst>
              <a:ext uri="{FF2B5EF4-FFF2-40B4-BE49-F238E27FC236}">
                <a16:creationId xmlns:a16="http://schemas.microsoft.com/office/drawing/2014/main" id="{7D231652-02A3-DB63-CA3A-1772C2AE1EDA}"/>
              </a:ext>
            </a:extLst>
          </p:cNvPr>
          <p:cNvSpPr txBox="1"/>
          <p:nvPr/>
        </p:nvSpPr>
        <p:spPr>
          <a:xfrm>
            <a:off x="7279762" y="4162815"/>
            <a:ext cx="620683" cy="261610"/>
          </a:xfrm>
          <a:prstGeom prst="rect">
            <a:avLst/>
          </a:prstGeom>
          <a:noFill/>
        </p:spPr>
        <p:txBody>
          <a:bodyPr wrap="none" rtlCol="0">
            <a:spAutoFit/>
          </a:bodyPr>
          <a:lstStyle/>
          <a:p>
            <a:r>
              <a:rPr lang="en-US" sz="1100" dirty="0" err="1"/>
              <a:t>f</a:t>
            </a:r>
            <a:r>
              <a:rPr lang="en-US" sz="1100" baseline="-25000" dirty="0" err="1"/>
              <a:t>k</a:t>
            </a:r>
            <a:r>
              <a:rPr lang="en-US" sz="1100" baseline="-25000" dirty="0"/>
              <a:t>  </a:t>
            </a:r>
            <a:r>
              <a:rPr lang="en-US" sz="1100" dirty="0"/>
              <a:t>= 7 N</a:t>
            </a:r>
          </a:p>
        </p:txBody>
      </p:sp>
      <p:sp>
        <p:nvSpPr>
          <p:cNvPr id="78" name="TextBox 77">
            <a:extLst>
              <a:ext uri="{FF2B5EF4-FFF2-40B4-BE49-F238E27FC236}">
                <a16:creationId xmlns:a16="http://schemas.microsoft.com/office/drawing/2014/main" id="{47911D95-D746-8CE6-57D9-D8BC5F983CC6}"/>
              </a:ext>
            </a:extLst>
          </p:cNvPr>
          <p:cNvSpPr txBox="1"/>
          <p:nvPr/>
        </p:nvSpPr>
        <p:spPr>
          <a:xfrm>
            <a:off x="6275784" y="4170307"/>
            <a:ext cx="909223" cy="261610"/>
          </a:xfrm>
          <a:prstGeom prst="rect">
            <a:avLst/>
          </a:prstGeom>
          <a:noFill/>
        </p:spPr>
        <p:txBody>
          <a:bodyPr wrap="none" rtlCol="0">
            <a:spAutoFit/>
          </a:bodyPr>
          <a:lstStyle/>
          <a:p>
            <a:r>
              <a:rPr lang="en-US" sz="1100" dirty="0" err="1"/>
              <a:t>F</a:t>
            </a:r>
            <a:r>
              <a:rPr lang="en-US" sz="1100" baseline="-25000" dirty="0" err="1"/>
              <a:t>applied</a:t>
            </a:r>
            <a:r>
              <a:rPr lang="en-US" sz="1100" baseline="-25000" dirty="0"/>
              <a:t>  </a:t>
            </a:r>
            <a:r>
              <a:rPr lang="en-US" sz="1100" dirty="0"/>
              <a:t>= 7 N</a:t>
            </a:r>
          </a:p>
        </p:txBody>
      </p:sp>
      <p:sp>
        <p:nvSpPr>
          <p:cNvPr id="80" name="TextBox 79">
            <a:extLst>
              <a:ext uri="{FF2B5EF4-FFF2-40B4-BE49-F238E27FC236}">
                <a16:creationId xmlns:a16="http://schemas.microsoft.com/office/drawing/2014/main" id="{0E6B75D3-7CDC-B19C-5F57-015DEE98F45B}"/>
              </a:ext>
            </a:extLst>
          </p:cNvPr>
          <p:cNvSpPr txBox="1"/>
          <p:nvPr/>
        </p:nvSpPr>
        <p:spPr>
          <a:xfrm>
            <a:off x="309993" y="6324206"/>
            <a:ext cx="604653" cy="261610"/>
          </a:xfrm>
          <a:prstGeom prst="rect">
            <a:avLst/>
          </a:prstGeom>
          <a:noFill/>
        </p:spPr>
        <p:txBody>
          <a:bodyPr wrap="none" rtlCol="0">
            <a:spAutoFit/>
          </a:bodyPr>
          <a:lstStyle/>
          <a:p>
            <a:r>
              <a:rPr lang="en-US" sz="1100" dirty="0"/>
              <a:t>Case 4</a:t>
            </a:r>
          </a:p>
        </p:txBody>
      </p:sp>
      <p:sp>
        <p:nvSpPr>
          <p:cNvPr id="2" name="Rectangle 1">
            <a:extLst>
              <a:ext uri="{FF2B5EF4-FFF2-40B4-BE49-F238E27FC236}">
                <a16:creationId xmlns:a16="http://schemas.microsoft.com/office/drawing/2014/main" id="{68CAF5C0-F52F-B486-BF0C-C88CA58DF9EB}"/>
              </a:ext>
            </a:extLst>
          </p:cNvPr>
          <p:cNvSpPr/>
          <p:nvPr/>
        </p:nvSpPr>
        <p:spPr>
          <a:xfrm>
            <a:off x="207995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 name="Rectangle 3">
            <a:extLst>
              <a:ext uri="{FF2B5EF4-FFF2-40B4-BE49-F238E27FC236}">
                <a16:creationId xmlns:a16="http://schemas.microsoft.com/office/drawing/2014/main" id="{027742BA-61C6-34F0-CC97-6042EEA68C8D}"/>
              </a:ext>
            </a:extLst>
          </p:cNvPr>
          <p:cNvSpPr/>
          <p:nvPr/>
        </p:nvSpPr>
        <p:spPr>
          <a:xfrm>
            <a:off x="415887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0" name="Rectangle 29">
            <a:extLst>
              <a:ext uri="{FF2B5EF4-FFF2-40B4-BE49-F238E27FC236}">
                <a16:creationId xmlns:a16="http://schemas.microsoft.com/office/drawing/2014/main" id="{15372E54-251D-32FB-5E27-78B3450B5ADE}"/>
              </a:ext>
            </a:extLst>
          </p:cNvPr>
          <p:cNvSpPr/>
          <p:nvPr/>
        </p:nvSpPr>
        <p:spPr>
          <a:xfrm>
            <a:off x="9560"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3" name="Rectangle 42">
            <a:extLst>
              <a:ext uri="{FF2B5EF4-FFF2-40B4-BE49-F238E27FC236}">
                <a16:creationId xmlns:a16="http://schemas.microsoft.com/office/drawing/2014/main" id="{393875E1-2344-5253-CCF7-6008BB05704A}"/>
              </a:ext>
            </a:extLst>
          </p:cNvPr>
          <p:cNvSpPr/>
          <p:nvPr/>
        </p:nvSpPr>
        <p:spPr>
          <a:xfrm>
            <a:off x="2079956"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4" name="Rectangle 43">
            <a:extLst>
              <a:ext uri="{FF2B5EF4-FFF2-40B4-BE49-F238E27FC236}">
                <a16:creationId xmlns:a16="http://schemas.microsoft.com/office/drawing/2014/main" id="{628AFB9E-9982-2DFE-9164-FB9E3E0EDE46}"/>
              </a:ext>
            </a:extLst>
          </p:cNvPr>
          <p:cNvSpPr/>
          <p:nvPr/>
        </p:nvSpPr>
        <p:spPr>
          <a:xfrm>
            <a:off x="4158876"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5" name="Rectangle 44">
            <a:extLst>
              <a:ext uri="{FF2B5EF4-FFF2-40B4-BE49-F238E27FC236}">
                <a16:creationId xmlns:a16="http://schemas.microsoft.com/office/drawing/2014/main" id="{FACC5AFE-5CC7-7696-53B4-DE39D07B75A5}"/>
              </a:ext>
            </a:extLst>
          </p:cNvPr>
          <p:cNvSpPr/>
          <p:nvPr/>
        </p:nvSpPr>
        <p:spPr>
          <a:xfrm>
            <a:off x="6226082" y="2955663"/>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6" name="Rectangle 45">
            <a:extLst>
              <a:ext uri="{FF2B5EF4-FFF2-40B4-BE49-F238E27FC236}">
                <a16:creationId xmlns:a16="http://schemas.microsoft.com/office/drawing/2014/main" id="{28CCBA07-151B-1B6B-402C-BA21BACF0B84}"/>
              </a:ext>
            </a:extLst>
          </p:cNvPr>
          <p:cNvSpPr/>
          <p:nvPr/>
        </p:nvSpPr>
        <p:spPr>
          <a:xfrm>
            <a:off x="-1950" y="0"/>
            <a:ext cx="2087925" cy="25205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 vs t graph</a:t>
            </a:r>
          </a:p>
        </p:txBody>
      </p:sp>
      <p:sp>
        <p:nvSpPr>
          <p:cNvPr id="47" name="Rectangle 46">
            <a:extLst>
              <a:ext uri="{FF2B5EF4-FFF2-40B4-BE49-F238E27FC236}">
                <a16:creationId xmlns:a16="http://schemas.microsoft.com/office/drawing/2014/main" id="{8C7F2AB8-59F5-3140-DFBB-DBE46134775F}"/>
              </a:ext>
            </a:extLst>
          </p:cNvPr>
          <p:cNvSpPr/>
          <p:nvPr/>
        </p:nvSpPr>
        <p:spPr>
          <a:xfrm>
            <a:off x="2083595" y="374"/>
            <a:ext cx="2076450" cy="252056"/>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v vs t graph</a:t>
            </a:r>
          </a:p>
        </p:txBody>
      </p:sp>
      <p:sp>
        <p:nvSpPr>
          <p:cNvPr id="48" name="Rectangle 47">
            <a:extLst>
              <a:ext uri="{FF2B5EF4-FFF2-40B4-BE49-F238E27FC236}">
                <a16:creationId xmlns:a16="http://schemas.microsoft.com/office/drawing/2014/main" id="{C44776AD-E608-DEAC-1FB1-33F6EB2E4231}"/>
              </a:ext>
            </a:extLst>
          </p:cNvPr>
          <p:cNvSpPr/>
          <p:nvPr/>
        </p:nvSpPr>
        <p:spPr>
          <a:xfrm>
            <a:off x="4160044" y="202"/>
            <a:ext cx="2074563" cy="252056"/>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 vs t graph</a:t>
            </a:r>
          </a:p>
        </p:txBody>
      </p:sp>
      <p:sp>
        <p:nvSpPr>
          <p:cNvPr id="54" name="Rectangle 53">
            <a:extLst>
              <a:ext uri="{FF2B5EF4-FFF2-40B4-BE49-F238E27FC236}">
                <a16:creationId xmlns:a16="http://schemas.microsoft.com/office/drawing/2014/main" id="{8A948C61-9A3B-D5C0-799F-04308A0F43EC}"/>
              </a:ext>
            </a:extLst>
          </p:cNvPr>
          <p:cNvSpPr/>
          <p:nvPr/>
        </p:nvSpPr>
        <p:spPr>
          <a:xfrm>
            <a:off x="0" y="2959172"/>
            <a:ext cx="2088480" cy="252056"/>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Velocity</a:t>
            </a:r>
          </a:p>
        </p:txBody>
      </p:sp>
      <p:sp>
        <p:nvSpPr>
          <p:cNvPr id="56" name="Rectangle 55">
            <a:extLst>
              <a:ext uri="{FF2B5EF4-FFF2-40B4-BE49-F238E27FC236}">
                <a16:creationId xmlns:a16="http://schemas.microsoft.com/office/drawing/2014/main" id="{E6DB311A-BC5C-D232-58FE-FA4F95E4A4EB}"/>
              </a:ext>
            </a:extLst>
          </p:cNvPr>
          <p:cNvSpPr/>
          <p:nvPr/>
        </p:nvSpPr>
        <p:spPr>
          <a:xfrm>
            <a:off x="2081269" y="2960748"/>
            <a:ext cx="2077606" cy="252056"/>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Acceleration</a:t>
            </a:r>
          </a:p>
        </p:txBody>
      </p:sp>
      <p:sp>
        <p:nvSpPr>
          <p:cNvPr id="58" name="Rectangle 57">
            <a:extLst>
              <a:ext uri="{FF2B5EF4-FFF2-40B4-BE49-F238E27FC236}">
                <a16:creationId xmlns:a16="http://schemas.microsoft.com/office/drawing/2014/main" id="{D1607FAB-3A53-7632-674C-8FA9BA83D217}"/>
              </a:ext>
            </a:extLst>
          </p:cNvPr>
          <p:cNvSpPr/>
          <p:nvPr/>
        </p:nvSpPr>
        <p:spPr>
          <a:xfrm>
            <a:off x="4158875" y="2959073"/>
            <a:ext cx="2076986" cy="25205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Motion diagram</a:t>
            </a:r>
          </a:p>
        </p:txBody>
      </p:sp>
      <p:sp>
        <p:nvSpPr>
          <p:cNvPr id="59" name="Rectangle 58">
            <a:extLst>
              <a:ext uri="{FF2B5EF4-FFF2-40B4-BE49-F238E27FC236}">
                <a16:creationId xmlns:a16="http://schemas.microsoft.com/office/drawing/2014/main" id="{9A6436EE-9470-5928-A937-B5250349DFCB}"/>
              </a:ext>
            </a:extLst>
          </p:cNvPr>
          <p:cNvSpPr/>
          <p:nvPr/>
        </p:nvSpPr>
        <p:spPr>
          <a:xfrm>
            <a:off x="6236557" y="2959073"/>
            <a:ext cx="2068598" cy="252056"/>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Free Body Diagram</a:t>
            </a:r>
          </a:p>
        </p:txBody>
      </p:sp>
      <p:cxnSp>
        <p:nvCxnSpPr>
          <p:cNvPr id="7" name="Straight Connector 6">
            <a:extLst>
              <a:ext uri="{FF2B5EF4-FFF2-40B4-BE49-F238E27FC236}">
                <a16:creationId xmlns:a16="http://schemas.microsoft.com/office/drawing/2014/main" id="{E5FB47BF-5C16-DF11-7534-847609765D0B}"/>
              </a:ext>
            </a:extLst>
          </p:cNvPr>
          <p:cNvCxnSpPr>
            <a:cxnSpLocks/>
          </p:cNvCxnSpPr>
          <p:nvPr/>
        </p:nvCxnSpPr>
        <p:spPr>
          <a:xfrm>
            <a:off x="363615" y="1516939"/>
            <a:ext cx="1432898" cy="867889"/>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8" name="Straight Connector 7">
            <a:extLst>
              <a:ext uri="{FF2B5EF4-FFF2-40B4-BE49-F238E27FC236}">
                <a16:creationId xmlns:a16="http://schemas.microsoft.com/office/drawing/2014/main" id="{1F42AC00-9FAF-F064-F583-2AE16177827D}"/>
              </a:ext>
            </a:extLst>
          </p:cNvPr>
          <p:cNvCxnSpPr>
            <a:cxnSpLocks/>
          </p:cNvCxnSpPr>
          <p:nvPr/>
        </p:nvCxnSpPr>
        <p:spPr>
          <a:xfrm flipV="1">
            <a:off x="2432881" y="1917078"/>
            <a:ext cx="1339842" cy="1524"/>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sp>
        <p:nvSpPr>
          <p:cNvPr id="17" name="Rectangle 16">
            <a:extLst>
              <a:ext uri="{FF2B5EF4-FFF2-40B4-BE49-F238E27FC236}">
                <a16:creationId xmlns:a16="http://schemas.microsoft.com/office/drawing/2014/main" id="{9D62F25E-30C7-AF61-B69D-C255E725F432}"/>
              </a:ext>
            </a:extLst>
          </p:cNvPr>
          <p:cNvSpPr/>
          <p:nvPr/>
        </p:nvSpPr>
        <p:spPr>
          <a:xfrm>
            <a:off x="6226082" y="-7609"/>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9" name="TextBox 18">
            <a:extLst>
              <a:ext uri="{FF2B5EF4-FFF2-40B4-BE49-F238E27FC236}">
                <a16:creationId xmlns:a16="http://schemas.microsoft.com/office/drawing/2014/main" id="{FC508802-4CB4-5207-279F-3BC83EFF9468}"/>
              </a:ext>
            </a:extLst>
          </p:cNvPr>
          <p:cNvSpPr txBox="1"/>
          <p:nvPr/>
        </p:nvSpPr>
        <p:spPr>
          <a:xfrm>
            <a:off x="6274014" y="1250290"/>
            <a:ext cx="2169169" cy="846386"/>
          </a:xfrm>
          <a:prstGeom prst="rect">
            <a:avLst/>
          </a:prstGeom>
          <a:noFill/>
        </p:spPr>
        <p:txBody>
          <a:bodyPr wrap="square" rtlCol="0">
            <a:spAutoFit/>
          </a:bodyPr>
          <a:lstStyle/>
          <a:p>
            <a:pPr algn="ctr"/>
            <a:r>
              <a:rPr lang="en-US" sz="1400" dirty="0"/>
              <a:t>Object moving in the </a:t>
            </a:r>
            <a:r>
              <a:rPr lang="en-US" sz="1400" b="1" dirty="0"/>
              <a:t>negative</a:t>
            </a:r>
            <a:r>
              <a:rPr lang="en-US" sz="1400" dirty="0"/>
              <a:t> direction at </a:t>
            </a:r>
            <a:r>
              <a:rPr lang="en-US" sz="1400" dirty="0">
                <a:solidFill>
                  <a:schemeClr val="tx2">
                    <a:lumMod val="75000"/>
                    <a:lumOff val="25000"/>
                  </a:schemeClr>
                </a:solidFill>
              </a:rPr>
              <a:t>constant</a:t>
            </a:r>
            <a:r>
              <a:rPr lang="en-US" sz="1400" dirty="0"/>
              <a:t> velocity</a:t>
            </a:r>
          </a:p>
          <a:p>
            <a:pPr algn="ctr"/>
            <a:endParaRPr lang="en-US" sz="600" dirty="0"/>
          </a:p>
        </p:txBody>
      </p:sp>
      <p:sp>
        <p:nvSpPr>
          <p:cNvPr id="20" name="Arrow: Pentagon 19">
            <a:extLst>
              <a:ext uri="{FF2B5EF4-FFF2-40B4-BE49-F238E27FC236}">
                <a16:creationId xmlns:a16="http://schemas.microsoft.com/office/drawing/2014/main" id="{8BD5F6DD-858F-208D-33EA-E6B040A522E3}"/>
              </a:ext>
            </a:extLst>
          </p:cNvPr>
          <p:cNvSpPr/>
          <p:nvPr/>
        </p:nvSpPr>
        <p:spPr>
          <a:xfrm rot="10800000" flipV="1">
            <a:off x="6585456" y="452548"/>
            <a:ext cx="1443174" cy="338553"/>
          </a:xfrm>
          <a:prstGeom prst="homePlate">
            <a:avLst/>
          </a:prstGeom>
          <a:solidFill>
            <a:schemeClr val="tx2">
              <a:lumMod val="75000"/>
              <a:lumOff val="25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Scenario</a:t>
            </a:r>
            <a:r>
              <a:rPr lang="en-US" b="1" dirty="0"/>
              <a:t> 4</a:t>
            </a:r>
          </a:p>
        </p:txBody>
      </p:sp>
      <p:sp>
        <p:nvSpPr>
          <p:cNvPr id="23" name="Diagonal Stripe 22">
            <a:extLst>
              <a:ext uri="{FF2B5EF4-FFF2-40B4-BE49-F238E27FC236}">
                <a16:creationId xmlns:a16="http://schemas.microsoft.com/office/drawing/2014/main" id="{F8199346-D399-8C4C-0FA7-5D6A43FBF773}"/>
              </a:ext>
            </a:extLst>
          </p:cNvPr>
          <p:cNvSpPr/>
          <p:nvPr/>
        </p:nvSpPr>
        <p:spPr>
          <a:xfrm>
            <a:off x="6247969" y="0"/>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Diagonal Stripe 27">
            <a:extLst>
              <a:ext uri="{FF2B5EF4-FFF2-40B4-BE49-F238E27FC236}">
                <a16:creationId xmlns:a16="http://schemas.microsoft.com/office/drawing/2014/main" id="{275A3F63-070D-A855-1889-5EDDC37EFE62}"/>
              </a:ext>
            </a:extLst>
          </p:cNvPr>
          <p:cNvSpPr/>
          <p:nvPr/>
        </p:nvSpPr>
        <p:spPr>
          <a:xfrm rot="10800000">
            <a:off x="7717891" y="2367056"/>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TextBox 28">
            <a:extLst>
              <a:ext uri="{FF2B5EF4-FFF2-40B4-BE49-F238E27FC236}">
                <a16:creationId xmlns:a16="http://schemas.microsoft.com/office/drawing/2014/main" id="{8E8F2554-3444-BFD4-E420-BF3FBE265F34}"/>
              </a:ext>
            </a:extLst>
          </p:cNvPr>
          <p:cNvSpPr txBox="1"/>
          <p:nvPr/>
        </p:nvSpPr>
        <p:spPr>
          <a:xfrm>
            <a:off x="6622921" y="2381869"/>
            <a:ext cx="1294640" cy="430887"/>
          </a:xfrm>
          <a:prstGeom prst="rect">
            <a:avLst/>
          </a:prstGeom>
          <a:noFill/>
        </p:spPr>
        <p:txBody>
          <a:bodyPr wrap="square" rtlCol="0">
            <a:spAutoFit/>
          </a:bodyPr>
          <a:lstStyle/>
          <a:p>
            <a:pPr algn="ctr"/>
            <a:r>
              <a:rPr lang="en-US" sz="1100" dirty="0"/>
              <a:t>Answer key on reverse side</a:t>
            </a:r>
          </a:p>
        </p:txBody>
      </p:sp>
      <p:sp>
        <p:nvSpPr>
          <p:cNvPr id="79" name="TextBox 78">
            <a:extLst>
              <a:ext uri="{FF2B5EF4-FFF2-40B4-BE49-F238E27FC236}">
                <a16:creationId xmlns:a16="http://schemas.microsoft.com/office/drawing/2014/main" id="{F604D929-0D1F-8189-89B3-3D0D5A27023B}"/>
              </a:ext>
            </a:extLst>
          </p:cNvPr>
          <p:cNvSpPr txBox="1"/>
          <p:nvPr/>
        </p:nvSpPr>
        <p:spPr>
          <a:xfrm>
            <a:off x="68492" y="2575731"/>
            <a:ext cx="662361" cy="261610"/>
          </a:xfrm>
          <a:prstGeom prst="rect">
            <a:avLst/>
          </a:prstGeom>
          <a:noFill/>
        </p:spPr>
        <p:txBody>
          <a:bodyPr wrap="none" rtlCol="0">
            <a:spAutoFit/>
          </a:bodyPr>
          <a:lstStyle/>
          <a:p>
            <a:r>
              <a:rPr lang="en-US" sz="1100" dirty="0"/>
              <a:t>Card 16</a:t>
            </a:r>
          </a:p>
        </p:txBody>
      </p:sp>
      <p:sp>
        <p:nvSpPr>
          <p:cNvPr id="82" name="TextBox 81">
            <a:extLst>
              <a:ext uri="{FF2B5EF4-FFF2-40B4-BE49-F238E27FC236}">
                <a16:creationId xmlns:a16="http://schemas.microsoft.com/office/drawing/2014/main" id="{A2768051-F8B3-60D9-D31F-0A8B5C19F849}"/>
              </a:ext>
            </a:extLst>
          </p:cNvPr>
          <p:cNvSpPr txBox="1"/>
          <p:nvPr/>
        </p:nvSpPr>
        <p:spPr>
          <a:xfrm>
            <a:off x="68492" y="5557769"/>
            <a:ext cx="587020" cy="261610"/>
          </a:xfrm>
          <a:prstGeom prst="rect">
            <a:avLst/>
          </a:prstGeom>
          <a:noFill/>
        </p:spPr>
        <p:txBody>
          <a:bodyPr wrap="none" rtlCol="0">
            <a:spAutoFit/>
          </a:bodyPr>
          <a:lstStyle/>
          <a:p>
            <a:r>
              <a:rPr lang="en-US" sz="1100" dirty="0"/>
              <a:t>Card 7</a:t>
            </a:r>
          </a:p>
        </p:txBody>
      </p:sp>
      <p:sp>
        <p:nvSpPr>
          <p:cNvPr id="83" name="TextBox 82">
            <a:extLst>
              <a:ext uri="{FF2B5EF4-FFF2-40B4-BE49-F238E27FC236}">
                <a16:creationId xmlns:a16="http://schemas.microsoft.com/office/drawing/2014/main" id="{842B25B2-5799-D772-F42F-78EC21BDA647}"/>
              </a:ext>
            </a:extLst>
          </p:cNvPr>
          <p:cNvSpPr txBox="1"/>
          <p:nvPr/>
        </p:nvSpPr>
        <p:spPr>
          <a:xfrm>
            <a:off x="2210492" y="5556245"/>
            <a:ext cx="587020" cy="261610"/>
          </a:xfrm>
          <a:prstGeom prst="rect">
            <a:avLst/>
          </a:prstGeom>
          <a:noFill/>
        </p:spPr>
        <p:txBody>
          <a:bodyPr wrap="none" rtlCol="0">
            <a:spAutoFit/>
          </a:bodyPr>
          <a:lstStyle/>
          <a:p>
            <a:r>
              <a:rPr lang="en-US" sz="1100" dirty="0"/>
              <a:t>Card 9</a:t>
            </a:r>
          </a:p>
        </p:txBody>
      </p:sp>
      <p:sp>
        <p:nvSpPr>
          <p:cNvPr id="84" name="TextBox 83">
            <a:extLst>
              <a:ext uri="{FF2B5EF4-FFF2-40B4-BE49-F238E27FC236}">
                <a16:creationId xmlns:a16="http://schemas.microsoft.com/office/drawing/2014/main" id="{4F1B68B5-5262-CFEB-DABA-43CB8303AA2A}"/>
              </a:ext>
            </a:extLst>
          </p:cNvPr>
          <p:cNvSpPr txBox="1"/>
          <p:nvPr/>
        </p:nvSpPr>
        <p:spPr>
          <a:xfrm>
            <a:off x="2153694" y="2610998"/>
            <a:ext cx="662361" cy="261610"/>
          </a:xfrm>
          <a:prstGeom prst="rect">
            <a:avLst/>
          </a:prstGeom>
          <a:noFill/>
        </p:spPr>
        <p:txBody>
          <a:bodyPr wrap="none" rtlCol="0">
            <a:spAutoFit/>
          </a:bodyPr>
          <a:lstStyle/>
          <a:p>
            <a:r>
              <a:rPr lang="en-US" sz="1100" dirty="0"/>
              <a:t>Card 22</a:t>
            </a:r>
          </a:p>
        </p:txBody>
      </p:sp>
      <p:sp>
        <p:nvSpPr>
          <p:cNvPr id="85" name="TextBox 84">
            <a:extLst>
              <a:ext uri="{FF2B5EF4-FFF2-40B4-BE49-F238E27FC236}">
                <a16:creationId xmlns:a16="http://schemas.microsoft.com/office/drawing/2014/main" id="{181A959C-B2E3-2E27-2B69-59D2AF68F9D2}"/>
              </a:ext>
            </a:extLst>
          </p:cNvPr>
          <p:cNvSpPr txBox="1"/>
          <p:nvPr/>
        </p:nvSpPr>
        <p:spPr>
          <a:xfrm>
            <a:off x="4256608" y="2645428"/>
            <a:ext cx="662361" cy="261610"/>
          </a:xfrm>
          <a:prstGeom prst="rect">
            <a:avLst/>
          </a:prstGeom>
          <a:noFill/>
        </p:spPr>
        <p:txBody>
          <a:bodyPr wrap="none" rtlCol="0">
            <a:spAutoFit/>
          </a:bodyPr>
          <a:lstStyle/>
          <a:p>
            <a:r>
              <a:rPr lang="en-US" sz="1100" dirty="0"/>
              <a:t>Card 26</a:t>
            </a:r>
          </a:p>
        </p:txBody>
      </p:sp>
      <p:sp>
        <p:nvSpPr>
          <p:cNvPr id="86" name="TextBox 85">
            <a:extLst>
              <a:ext uri="{FF2B5EF4-FFF2-40B4-BE49-F238E27FC236}">
                <a16:creationId xmlns:a16="http://schemas.microsoft.com/office/drawing/2014/main" id="{F24B0FD1-E670-8470-BF7D-695E997137C1}"/>
              </a:ext>
            </a:extLst>
          </p:cNvPr>
          <p:cNvSpPr txBox="1"/>
          <p:nvPr/>
        </p:nvSpPr>
        <p:spPr>
          <a:xfrm>
            <a:off x="4301001" y="5556245"/>
            <a:ext cx="587020" cy="261610"/>
          </a:xfrm>
          <a:prstGeom prst="rect">
            <a:avLst/>
          </a:prstGeom>
          <a:noFill/>
        </p:spPr>
        <p:txBody>
          <a:bodyPr wrap="none" rtlCol="0">
            <a:spAutoFit/>
          </a:bodyPr>
          <a:lstStyle/>
          <a:p>
            <a:r>
              <a:rPr lang="en-US" sz="1100" dirty="0"/>
              <a:t>Card 5</a:t>
            </a:r>
          </a:p>
        </p:txBody>
      </p:sp>
      <p:sp>
        <p:nvSpPr>
          <p:cNvPr id="87" name="TextBox 86">
            <a:extLst>
              <a:ext uri="{FF2B5EF4-FFF2-40B4-BE49-F238E27FC236}">
                <a16:creationId xmlns:a16="http://schemas.microsoft.com/office/drawing/2014/main" id="{9B4FF235-A80C-4ABF-02DD-659C0563B3F0}"/>
              </a:ext>
            </a:extLst>
          </p:cNvPr>
          <p:cNvSpPr txBox="1"/>
          <p:nvPr/>
        </p:nvSpPr>
        <p:spPr>
          <a:xfrm>
            <a:off x="6330238" y="5552036"/>
            <a:ext cx="662361" cy="261610"/>
          </a:xfrm>
          <a:prstGeom prst="rect">
            <a:avLst/>
          </a:prstGeom>
          <a:noFill/>
        </p:spPr>
        <p:txBody>
          <a:bodyPr wrap="none" rtlCol="0">
            <a:spAutoFit/>
          </a:bodyPr>
          <a:lstStyle/>
          <a:p>
            <a:r>
              <a:rPr lang="en-US" sz="1100" dirty="0"/>
              <a:t>Card 28</a:t>
            </a:r>
          </a:p>
        </p:txBody>
      </p:sp>
    </p:spTree>
    <p:extLst>
      <p:ext uri="{BB962C8B-B14F-4D97-AF65-F5344CB8AC3E}">
        <p14:creationId xmlns:p14="http://schemas.microsoft.com/office/powerpoint/2010/main" val="3798312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81D9B-C3F2-3029-56A3-B28C1C53A9DA}"/>
            </a:ext>
          </a:extLst>
        </p:cNvPr>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44587358-D3DE-0993-A1CC-E765483F197A}"/>
              </a:ext>
            </a:extLst>
          </p:cNvPr>
          <p:cNvCxnSpPr>
            <a:cxnSpLocks/>
          </p:cNvCxnSpPr>
          <p:nvPr/>
        </p:nvCxnSpPr>
        <p:spPr>
          <a:xfrm>
            <a:off x="369145" y="548640"/>
            <a:ext cx="0" cy="1891417"/>
          </a:xfrm>
          <a:prstGeom prst="line">
            <a:avLst/>
          </a:prstGeom>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004B2AD5-4BD3-F49E-D75C-CA6FFDE9615D}"/>
              </a:ext>
            </a:extLst>
          </p:cNvPr>
          <p:cNvSpPr/>
          <p:nvPr/>
        </p:nvSpPr>
        <p:spPr>
          <a:xfrm>
            <a:off x="0" y="-9848"/>
            <a:ext cx="2085290" cy="2963272"/>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cxnSp>
        <p:nvCxnSpPr>
          <p:cNvPr id="21" name="Straight Connector 20">
            <a:extLst>
              <a:ext uri="{FF2B5EF4-FFF2-40B4-BE49-F238E27FC236}">
                <a16:creationId xmlns:a16="http://schemas.microsoft.com/office/drawing/2014/main" id="{B6087DC4-92C8-E303-3846-72F50B3CC643}"/>
              </a:ext>
            </a:extLst>
          </p:cNvPr>
          <p:cNvCxnSpPr/>
          <p:nvPr/>
        </p:nvCxnSpPr>
        <p:spPr>
          <a:xfrm>
            <a:off x="-4482928" y="99168"/>
            <a:ext cx="0" cy="2683566"/>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1DF9C355-0384-6A27-3AEF-DE78B26E6097}"/>
              </a:ext>
            </a:extLst>
          </p:cNvPr>
          <p:cNvCxnSpPr/>
          <p:nvPr/>
        </p:nvCxnSpPr>
        <p:spPr>
          <a:xfrm>
            <a:off x="371928" y="1431036"/>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63E78ED-A09B-4309-5160-B5CF4FB0A0D7}"/>
              </a:ext>
            </a:extLst>
          </p:cNvPr>
          <p:cNvSpPr txBox="1"/>
          <p:nvPr/>
        </p:nvSpPr>
        <p:spPr>
          <a:xfrm>
            <a:off x="1588159" y="1399032"/>
            <a:ext cx="457176" cy="261610"/>
          </a:xfrm>
          <a:prstGeom prst="rect">
            <a:avLst/>
          </a:prstGeom>
          <a:noFill/>
        </p:spPr>
        <p:txBody>
          <a:bodyPr wrap="none" rtlCol="0">
            <a:spAutoFit/>
          </a:bodyPr>
          <a:lstStyle/>
          <a:p>
            <a:r>
              <a:rPr lang="en-US" sz="1100" dirty="0"/>
              <a:t>time</a:t>
            </a:r>
          </a:p>
        </p:txBody>
      </p:sp>
      <p:sp>
        <p:nvSpPr>
          <p:cNvPr id="26" name="TextBox 25">
            <a:extLst>
              <a:ext uri="{FF2B5EF4-FFF2-40B4-BE49-F238E27FC236}">
                <a16:creationId xmlns:a16="http://schemas.microsoft.com/office/drawing/2014/main" id="{D9EFC7C5-53EE-3226-F1B5-7DBDE32FE001}"/>
              </a:ext>
            </a:extLst>
          </p:cNvPr>
          <p:cNvSpPr txBox="1"/>
          <p:nvPr/>
        </p:nvSpPr>
        <p:spPr>
          <a:xfrm rot="16200000">
            <a:off x="-107052" y="676132"/>
            <a:ext cx="679994" cy="261610"/>
          </a:xfrm>
          <a:prstGeom prst="rect">
            <a:avLst/>
          </a:prstGeom>
          <a:noFill/>
        </p:spPr>
        <p:txBody>
          <a:bodyPr wrap="none" rtlCol="0">
            <a:spAutoFit/>
          </a:bodyPr>
          <a:lstStyle/>
          <a:p>
            <a:r>
              <a:rPr lang="en-US" sz="1100" dirty="0"/>
              <a:t>position</a:t>
            </a:r>
          </a:p>
        </p:txBody>
      </p:sp>
      <p:sp>
        <p:nvSpPr>
          <p:cNvPr id="27" name="TextBox 26">
            <a:extLst>
              <a:ext uri="{FF2B5EF4-FFF2-40B4-BE49-F238E27FC236}">
                <a16:creationId xmlns:a16="http://schemas.microsoft.com/office/drawing/2014/main" id="{97E98DF5-85A3-1202-2DD3-F8B4F9FFBB33}"/>
              </a:ext>
            </a:extLst>
          </p:cNvPr>
          <p:cNvSpPr txBox="1"/>
          <p:nvPr/>
        </p:nvSpPr>
        <p:spPr>
          <a:xfrm>
            <a:off x="114668" y="1300231"/>
            <a:ext cx="260008" cy="261610"/>
          </a:xfrm>
          <a:prstGeom prst="rect">
            <a:avLst/>
          </a:prstGeom>
          <a:noFill/>
        </p:spPr>
        <p:txBody>
          <a:bodyPr wrap="none" rtlCol="0">
            <a:spAutoFit/>
          </a:bodyPr>
          <a:lstStyle/>
          <a:p>
            <a:r>
              <a:rPr lang="en-US" sz="1100" dirty="0"/>
              <a:t>0</a:t>
            </a:r>
          </a:p>
        </p:txBody>
      </p:sp>
      <p:cxnSp>
        <p:nvCxnSpPr>
          <p:cNvPr id="31" name="Straight Connector 30">
            <a:extLst>
              <a:ext uri="{FF2B5EF4-FFF2-40B4-BE49-F238E27FC236}">
                <a16:creationId xmlns:a16="http://schemas.microsoft.com/office/drawing/2014/main" id="{9EA229E9-82A9-BDAA-4CDC-8DC8000294FE}"/>
              </a:ext>
            </a:extLst>
          </p:cNvPr>
          <p:cNvCxnSpPr>
            <a:cxnSpLocks/>
          </p:cNvCxnSpPr>
          <p:nvPr/>
        </p:nvCxnSpPr>
        <p:spPr>
          <a:xfrm>
            <a:off x="2423619" y="550164"/>
            <a:ext cx="0" cy="1891417"/>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2577585-E100-83CC-FAEF-3473C77C2DF0}"/>
              </a:ext>
            </a:extLst>
          </p:cNvPr>
          <p:cNvCxnSpPr/>
          <p:nvPr/>
        </p:nvCxnSpPr>
        <p:spPr>
          <a:xfrm>
            <a:off x="2426402" y="1432560"/>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2C80235-9757-F817-FBCF-33DE39A5A1E8}"/>
              </a:ext>
            </a:extLst>
          </p:cNvPr>
          <p:cNvSpPr txBox="1"/>
          <p:nvPr/>
        </p:nvSpPr>
        <p:spPr>
          <a:xfrm>
            <a:off x="3642633" y="1400556"/>
            <a:ext cx="457176" cy="261610"/>
          </a:xfrm>
          <a:prstGeom prst="rect">
            <a:avLst/>
          </a:prstGeom>
          <a:noFill/>
        </p:spPr>
        <p:txBody>
          <a:bodyPr wrap="none" rtlCol="0">
            <a:spAutoFit/>
          </a:bodyPr>
          <a:lstStyle/>
          <a:p>
            <a:r>
              <a:rPr lang="en-US" sz="1100" dirty="0"/>
              <a:t>time</a:t>
            </a:r>
          </a:p>
        </p:txBody>
      </p:sp>
      <p:sp>
        <p:nvSpPr>
          <p:cNvPr id="34" name="TextBox 33">
            <a:extLst>
              <a:ext uri="{FF2B5EF4-FFF2-40B4-BE49-F238E27FC236}">
                <a16:creationId xmlns:a16="http://schemas.microsoft.com/office/drawing/2014/main" id="{EAF93E39-EF29-84AF-B710-2BFB56C6D947}"/>
              </a:ext>
            </a:extLst>
          </p:cNvPr>
          <p:cNvSpPr txBox="1"/>
          <p:nvPr/>
        </p:nvSpPr>
        <p:spPr>
          <a:xfrm rot="16200000">
            <a:off x="1960246" y="677656"/>
            <a:ext cx="654346" cy="261610"/>
          </a:xfrm>
          <a:prstGeom prst="rect">
            <a:avLst/>
          </a:prstGeom>
          <a:noFill/>
        </p:spPr>
        <p:txBody>
          <a:bodyPr wrap="none" rtlCol="0">
            <a:spAutoFit/>
          </a:bodyPr>
          <a:lstStyle/>
          <a:p>
            <a:r>
              <a:rPr lang="en-US" sz="1100" dirty="0"/>
              <a:t>velocity</a:t>
            </a:r>
          </a:p>
        </p:txBody>
      </p:sp>
      <p:sp>
        <p:nvSpPr>
          <p:cNvPr id="35" name="TextBox 34">
            <a:extLst>
              <a:ext uri="{FF2B5EF4-FFF2-40B4-BE49-F238E27FC236}">
                <a16:creationId xmlns:a16="http://schemas.microsoft.com/office/drawing/2014/main" id="{47BCA935-3D3F-04AA-BD17-E4F201136638}"/>
              </a:ext>
            </a:extLst>
          </p:cNvPr>
          <p:cNvSpPr txBox="1"/>
          <p:nvPr/>
        </p:nvSpPr>
        <p:spPr>
          <a:xfrm>
            <a:off x="2169142" y="1301755"/>
            <a:ext cx="260008" cy="261610"/>
          </a:xfrm>
          <a:prstGeom prst="rect">
            <a:avLst/>
          </a:prstGeom>
          <a:noFill/>
        </p:spPr>
        <p:txBody>
          <a:bodyPr wrap="none" rtlCol="0">
            <a:spAutoFit/>
          </a:bodyPr>
          <a:lstStyle/>
          <a:p>
            <a:r>
              <a:rPr lang="en-US" sz="1100" dirty="0"/>
              <a:t>0</a:t>
            </a:r>
          </a:p>
        </p:txBody>
      </p:sp>
      <p:cxnSp>
        <p:nvCxnSpPr>
          <p:cNvPr id="37" name="Straight Connector 36">
            <a:extLst>
              <a:ext uri="{FF2B5EF4-FFF2-40B4-BE49-F238E27FC236}">
                <a16:creationId xmlns:a16="http://schemas.microsoft.com/office/drawing/2014/main" id="{BD9C803E-1F2A-B6ED-6770-3D4981B9ACD6}"/>
              </a:ext>
            </a:extLst>
          </p:cNvPr>
          <p:cNvCxnSpPr>
            <a:cxnSpLocks/>
          </p:cNvCxnSpPr>
          <p:nvPr/>
        </p:nvCxnSpPr>
        <p:spPr>
          <a:xfrm>
            <a:off x="4464265" y="548640"/>
            <a:ext cx="0" cy="1891417"/>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74FCB75-F281-7273-E794-7FC16DD82D82}"/>
              </a:ext>
            </a:extLst>
          </p:cNvPr>
          <p:cNvCxnSpPr/>
          <p:nvPr/>
        </p:nvCxnSpPr>
        <p:spPr>
          <a:xfrm>
            <a:off x="4467048" y="1431036"/>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87566545-6474-D7D2-C844-8FBC318FBC46}"/>
              </a:ext>
            </a:extLst>
          </p:cNvPr>
          <p:cNvSpPr txBox="1"/>
          <p:nvPr/>
        </p:nvSpPr>
        <p:spPr>
          <a:xfrm>
            <a:off x="5699933" y="1399032"/>
            <a:ext cx="457176" cy="261610"/>
          </a:xfrm>
          <a:prstGeom prst="rect">
            <a:avLst/>
          </a:prstGeom>
          <a:noFill/>
        </p:spPr>
        <p:txBody>
          <a:bodyPr wrap="none" rtlCol="0">
            <a:spAutoFit/>
          </a:bodyPr>
          <a:lstStyle/>
          <a:p>
            <a:r>
              <a:rPr lang="en-US" sz="1100" dirty="0"/>
              <a:t>time</a:t>
            </a:r>
          </a:p>
        </p:txBody>
      </p:sp>
      <p:sp>
        <p:nvSpPr>
          <p:cNvPr id="40" name="TextBox 39">
            <a:extLst>
              <a:ext uri="{FF2B5EF4-FFF2-40B4-BE49-F238E27FC236}">
                <a16:creationId xmlns:a16="http://schemas.microsoft.com/office/drawing/2014/main" id="{6B75E8D6-5242-5307-5C58-ABD2D7F77563}"/>
              </a:ext>
            </a:extLst>
          </p:cNvPr>
          <p:cNvSpPr txBox="1"/>
          <p:nvPr/>
        </p:nvSpPr>
        <p:spPr>
          <a:xfrm rot="16200000">
            <a:off x="3853417" y="676132"/>
            <a:ext cx="949299" cy="261610"/>
          </a:xfrm>
          <a:prstGeom prst="rect">
            <a:avLst/>
          </a:prstGeom>
          <a:noFill/>
        </p:spPr>
        <p:txBody>
          <a:bodyPr wrap="none" rtlCol="0">
            <a:spAutoFit/>
          </a:bodyPr>
          <a:lstStyle/>
          <a:p>
            <a:r>
              <a:rPr lang="en-US" sz="1100" dirty="0"/>
              <a:t>acceleration</a:t>
            </a:r>
          </a:p>
        </p:txBody>
      </p:sp>
      <p:sp>
        <p:nvSpPr>
          <p:cNvPr id="41" name="TextBox 40">
            <a:extLst>
              <a:ext uri="{FF2B5EF4-FFF2-40B4-BE49-F238E27FC236}">
                <a16:creationId xmlns:a16="http://schemas.microsoft.com/office/drawing/2014/main" id="{AA74BE26-7BF4-2814-AD0F-002B5807A792}"/>
              </a:ext>
            </a:extLst>
          </p:cNvPr>
          <p:cNvSpPr txBox="1"/>
          <p:nvPr/>
        </p:nvSpPr>
        <p:spPr>
          <a:xfrm>
            <a:off x="4209788" y="1300231"/>
            <a:ext cx="260008" cy="261610"/>
          </a:xfrm>
          <a:prstGeom prst="rect">
            <a:avLst/>
          </a:prstGeom>
          <a:noFill/>
        </p:spPr>
        <p:txBody>
          <a:bodyPr wrap="none" rtlCol="0">
            <a:spAutoFit/>
          </a:bodyPr>
          <a:lstStyle/>
          <a:p>
            <a:r>
              <a:rPr lang="en-US" sz="1100" dirty="0"/>
              <a:t>0</a:t>
            </a:r>
          </a:p>
        </p:txBody>
      </p:sp>
      <p:sp>
        <p:nvSpPr>
          <p:cNvPr id="49" name="TextBox 48">
            <a:extLst>
              <a:ext uri="{FF2B5EF4-FFF2-40B4-BE49-F238E27FC236}">
                <a16:creationId xmlns:a16="http://schemas.microsoft.com/office/drawing/2014/main" id="{838FB14C-C7C4-D68D-4B5B-D103E32B0A52}"/>
              </a:ext>
            </a:extLst>
          </p:cNvPr>
          <p:cNvSpPr txBox="1"/>
          <p:nvPr/>
        </p:nvSpPr>
        <p:spPr>
          <a:xfrm>
            <a:off x="2284070" y="3971718"/>
            <a:ext cx="1612447" cy="584775"/>
          </a:xfrm>
          <a:prstGeom prst="rect">
            <a:avLst/>
          </a:prstGeom>
          <a:noFill/>
        </p:spPr>
        <p:txBody>
          <a:bodyPr wrap="square" rtlCol="0">
            <a:spAutoFit/>
          </a:bodyPr>
          <a:lstStyle/>
          <a:p>
            <a:pPr algn="ctr"/>
            <a:r>
              <a:rPr lang="en-US" sz="1600" b="1" dirty="0">
                <a:solidFill>
                  <a:schemeClr val="accent6">
                    <a:lumMod val="75000"/>
                  </a:schemeClr>
                </a:solidFill>
              </a:rPr>
              <a:t>Negative Acceleration</a:t>
            </a:r>
          </a:p>
        </p:txBody>
      </p:sp>
      <p:sp>
        <p:nvSpPr>
          <p:cNvPr id="50" name="TextBox 49">
            <a:extLst>
              <a:ext uri="{FF2B5EF4-FFF2-40B4-BE49-F238E27FC236}">
                <a16:creationId xmlns:a16="http://schemas.microsoft.com/office/drawing/2014/main" id="{3B4971B5-9792-E583-E62D-0CF2B4B6D3D6}"/>
              </a:ext>
            </a:extLst>
          </p:cNvPr>
          <p:cNvSpPr txBox="1"/>
          <p:nvPr/>
        </p:nvSpPr>
        <p:spPr>
          <a:xfrm>
            <a:off x="232944" y="3970454"/>
            <a:ext cx="1612447" cy="584775"/>
          </a:xfrm>
          <a:prstGeom prst="rect">
            <a:avLst/>
          </a:prstGeom>
          <a:noFill/>
        </p:spPr>
        <p:txBody>
          <a:bodyPr wrap="square" rtlCol="0">
            <a:spAutoFit/>
          </a:bodyPr>
          <a:lstStyle/>
          <a:p>
            <a:pPr algn="ctr"/>
            <a:r>
              <a:rPr lang="en-US" sz="1600" b="1" dirty="0">
                <a:solidFill>
                  <a:schemeClr val="accent5">
                    <a:lumMod val="75000"/>
                  </a:schemeClr>
                </a:solidFill>
              </a:rPr>
              <a:t>Negative Velocity</a:t>
            </a:r>
          </a:p>
        </p:txBody>
      </p:sp>
      <p:sp>
        <p:nvSpPr>
          <p:cNvPr id="51" name="Oval 50">
            <a:extLst>
              <a:ext uri="{FF2B5EF4-FFF2-40B4-BE49-F238E27FC236}">
                <a16:creationId xmlns:a16="http://schemas.microsoft.com/office/drawing/2014/main" id="{FD099F13-BB01-09C0-3FA8-E6F0108B5326}"/>
              </a:ext>
            </a:extLst>
          </p:cNvPr>
          <p:cNvSpPr/>
          <p:nvPr/>
        </p:nvSpPr>
        <p:spPr>
          <a:xfrm>
            <a:off x="4513491" y="4335809"/>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E06620BB-0431-7085-E8E9-914A1E95C6E6}"/>
              </a:ext>
            </a:extLst>
          </p:cNvPr>
          <p:cNvSpPr/>
          <p:nvPr/>
        </p:nvSpPr>
        <p:spPr>
          <a:xfrm>
            <a:off x="5271925" y="4335809"/>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F7F021B4-36BC-F963-3DD1-DE09B86B9BF6}"/>
              </a:ext>
            </a:extLst>
          </p:cNvPr>
          <p:cNvSpPr/>
          <p:nvPr/>
        </p:nvSpPr>
        <p:spPr>
          <a:xfrm>
            <a:off x="5737835" y="4331935"/>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97C4824C-5BA0-A2D7-1A73-D16E698BA0DF}"/>
              </a:ext>
            </a:extLst>
          </p:cNvPr>
          <p:cNvSpPr/>
          <p:nvPr/>
        </p:nvSpPr>
        <p:spPr>
          <a:xfrm>
            <a:off x="5921649" y="4331935"/>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5DF95BB9-1A4A-ABD0-8EEA-569131E4D94E}"/>
              </a:ext>
            </a:extLst>
          </p:cNvPr>
          <p:cNvSpPr txBox="1"/>
          <p:nvPr/>
        </p:nvSpPr>
        <p:spPr>
          <a:xfrm>
            <a:off x="4404311" y="4430006"/>
            <a:ext cx="260008" cy="261610"/>
          </a:xfrm>
          <a:prstGeom prst="rect">
            <a:avLst/>
          </a:prstGeom>
          <a:noFill/>
        </p:spPr>
        <p:txBody>
          <a:bodyPr wrap="none" rtlCol="0">
            <a:spAutoFit/>
          </a:bodyPr>
          <a:lstStyle/>
          <a:p>
            <a:r>
              <a:rPr lang="en-US" sz="1100" dirty="0"/>
              <a:t>4</a:t>
            </a:r>
          </a:p>
        </p:txBody>
      </p:sp>
      <p:sp>
        <p:nvSpPr>
          <p:cNvPr id="64" name="TextBox 63">
            <a:extLst>
              <a:ext uri="{FF2B5EF4-FFF2-40B4-BE49-F238E27FC236}">
                <a16:creationId xmlns:a16="http://schemas.microsoft.com/office/drawing/2014/main" id="{DD4C0236-BC23-0343-2CE9-510691509912}"/>
              </a:ext>
            </a:extLst>
          </p:cNvPr>
          <p:cNvSpPr txBox="1"/>
          <p:nvPr/>
        </p:nvSpPr>
        <p:spPr>
          <a:xfrm>
            <a:off x="5171307" y="4430006"/>
            <a:ext cx="260008" cy="261610"/>
          </a:xfrm>
          <a:prstGeom prst="rect">
            <a:avLst/>
          </a:prstGeom>
          <a:noFill/>
        </p:spPr>
        <p:txBody>
          <a:bodyPr wrap="none" rtlCol="0">
            <a:spAutoFit/>
          </a:bodyPr>
          <a:lstStyle/>
          <a:p>
            <a:r>
              <a:rPr lang="en-US" sz="1100" dirty="0"/>
              <a:t>3</a:t>
            </a:r>
          </a:p>
        </p:txBody>
      </p:sp>
      <p:sp>
        <p:nvSpPr>
          <p:cNvPr id="65" name="TextBox 64">
            <a:extLst>
              <a:ext uri="{FF2B5EF4-FFF2-40B4-BE49-F238E27FC236}">
                <a16:creationId xmlns:a16="http://schemas.microsoft.com/office/drawing/2014/main" id="{78C0127A-CA5C-9921-9A31-02E93CCBA082}"/>
              </a:ext>
            </a:extLst>
          </p:cNvPr>
          <p:cNvSpPr txBox="1"/>
          <p:nvPr/>
        </p:nvSpPr>
        <p:spPr>
          <a:xfrm>
            <a:off x="5630095" y="4430006"/>
            <a:ext cx="260008" cy="261610"/>
          </a:xfrm>
          <a:prstGeom prst="rect">
            <a:avLst/>
          </a:prstGeom>
          <a:noFill/>
        </p:spPr>
        <p:txBody>
          <a:bodyPr wrap="none" rtlCol="0">
            <a:spAutoFit/>
          </a:bodyPr>
          <a:lstStyle/>
          <a:p>
            <a:r>
              <a:rPr lang="en-US" sz="1100" dirty="0"/>
              <a:t>2</a:t>
            </a:r>
          </a:p>
        </p:txBody>
      </p:sp>
      <p:sp>
        <p:nvSpPr>
          <p:cNvPr id="66" name="TextBox 65">
            <a:extLst>
              <a:ext uri="{FF2B5EF4-FFF2-40B4-BE49-F238E27FC236}">
                <a16:creationId xmlns:a16="http://schemas.microsoft.com/office/drawing/2014/main" id="{86C1CD0E-C0CB-9747-F7DB-832F5106E212}"/>
              </a:ext>
            </a:extLst>
          </p:cNvPr>
          <p:cNvSpPr txBox="1"/>
          <p:nvPr/>
        </p:nvSpPr>
        <p:spPr>
          <a:xfrm>
            <a:off x="5817216" y="4428433"/>
            <a:ext cx="260008" cy="261610"/>
          </a:xfrm>
          <a:prstGeom prst="rect">
            <a:avLst/>
          </a:prstGeom>
          <a:noFill/>
        </p:spPr>
        <p:txBody>
          <a:bodyPr wrap="none" rtlCol="0">
            <a:spAutoFit/>
          </a:bodyPr>
          <a:lstStyle/>
          <a:p>
            <a:r>
              <a:rPr lang="en-US" sz="1100" dirty="0"/>
              <a:t>1</a:t>
            </a:r>
          </a:p>
        </p:txBody>
      </p:sp>
      <p:sp>
        <p:nvSpPr>
          <p:cNvPr id="67" name="Oval 66">
            <a:extLst>
              <a:ext uri="{FF2B5EF4-FFF2-40B4-BE49-F238E27FC236}">
                <a16:creationId xmlns:a16="http://schemas.microsoft.com/office/drawing/2014/main" id="{0A2D038D-D6E9-26DA-ADB8-424B8409FF02}"/>
              </a:ext>
            </a:extLst>
          </p:cNvPr>
          <p:cNvSpPr/>
          <p:nvPr/>
        </p:nvSpPr>
        <p:spPr>
          <a:xfrm>
            <a:off x="7131763" y="4395809"/>
            <a:ext cx="96963" cy="8883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Arrow Connector 67">
            <a:extLst>
              <a:ext uri="{FF2B5EF4-FFF2-40B4-BE49-F238E27FC236}">
                <a16:creationId xmlns:a16="http://schemas.microsoft.com/office/drawing/2014/main" id="{150B2B3E-3572-1D8F-C311-A6B8286387FC}"/>
              </a:ext>
            </a:extLst>
          </p:cNvPr>
          <p:cNvCxnSpPr>
            <a:cxnSpLocks/>
          </p:cNvCxnSpPr>
          <p:nvPr/>
        </p:nvCxnSpPr>
        <p:spPr>
          <a:xfrm flipV="1">
            <a:off x="7182799" y="3912542"/>
            <a:ext cx="0" cy="483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CF03A16B-51C3-EB0E-FA2A-DFCE238BE8AC}"/>
              </a:ext>
            </a:extLst>
          </p:cNvPr>
          <p:cNvCxnSpPr>
            <a:cxnSpLocks/>
          </p:cNvCxnSpPr>
          <p:nvPr/>
        </p:nvCxnSpPr>
        <p:spPr>
          <a:xfrm>
            <a:off x="7182818" y="4491496"/>
            <a:ext cx="0" cy="483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7126CA33-5A9C-E2C9-662E-EC48DC91F7C2}"/>
              </a:ext>
            </a:extLst>
          </p:cNvPr>
          <p:cNvCxnSpPr>
            <a:cxnSpLocks/>
          </p:cNvCxnSpPr>
          <p:nvPr/>
        </p:nvCxnSpPr>
        <p:spPr>
          <a:xfrm>
            <a:off x="7236449" y="4440797"/>
            <a:ext cx="507376" cy="73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164D7162-D427-9B85-4C83-4576A7688CE1}"/>
              </a:ext>
            </a:extLst>
          </p:cNvPr>
          <p:cNvCxnSpPr>
            <a:cxnSpLocks/>
          </p:cNvCxnSpPr>
          <p:nvPr/>
        </p:nvCxnSpPr>
        <p:spPr>
          <a:xfrm>
            <a:off x="6563762" y="4440638"/>
            <a:ext cx="560278" cy="0"/>
          </a:xfrm>
          <a:prstGeom prst="straightConnector1">
            <a:avLst/>
          </a:prstGeom>
          <a:ln>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69DA031F-D9C1-CCF8-13BB-AD51CB0A56BF}"/>
              </a:ext>
            </a:extLst>
          </p:cNvPr>
          <p:cNvSpPr txBox="1"/>
          <p:nvPr/>
        </p:nvSpPr>
        <p:spPr>
          <a:xfrm>
            <a:off x="7180244" y="3761761"/>
            <a:ext cx="726481" cy="261610"/>
          </a:xfrm>
          <a:prstGeom prst="rect">
            <a:avLst/>
          </a:prstGeom>
          <a:noFill/>
        </p:spPr>
        <p:txBody>
          <a:bodyPr wrap="none" rtlCol="0">
            <a:spAutoFit/>
          </a:bodyPr>
          <a:lstStyle/>
          <a:p>
            <a:r>
              <a:rPr lang="en-US" sz="1100" dirty="0"/>
              <a:t>F</a:t>
            </a:r>
            <a:r>
              <a:rPr lang="en-US" sz="1100" baseline="-25000" dirty="0"/>
              <a:t>N </a:t>
            </a:r>
            <a:r>
              <a:rPr lang="en-US" sz="1100" dirty="0"/>
              <a:t>= 12 N</a:t>
            </a:r>
          </a:p>
        </p:txBody>
      </p:sp>
      <p:sp>
        <p:nvSpPr>
          <p:cNvPr id="76" name="TextBox 75">
            <a:extLst>
              <a:ext uri="{FF2B5EF4-FFF2-40B4-BE49-F238E27FC236}">
                <a16:creationId xmlns:a16="http://schemas.microsoft.com/office/drawing/2014/main" id="{3C6FA8B6-FEEA-425F-2EDE-156EB9019648}"/>
              </a:ext>
            </a:extLst>
          </p:cNvPr>
          <p:cNvSpPr txBox="1"/>
          <p:nvPr/>
        </p:nvSpPr>
        <p:spPr>
          <a:xfrm>
            <a:off x="7180243" y="4856810"/>
            <a:ext cx="697627" cy="261610"/>
          </a:xfrm>
          <a:prstGeom prst="rect">
            <a:avLst/>
          </a:prstGeom>
          <a:noFill/>
        </p:spPr>
        <p:txBody>
          <a:bodyPr wrap="none" rtlCol="0">
            <a:spAutoFit/>
          </a:bodyPr>
          <a:lstStyle/>
          <a:p>
            <a:r>
              <a:rPr lang="en-US" sz="1100" dirty="0"/>
              <a:t>w = 12 N</a:t>
            </a:r>
          </a:p>
        </p:txBody>
      </p:sp>
      <p:sp>
        <p:nvSpPr>
          <p:cNvPr id="80" name="TextBox 79">
            <a:extLst>
              <a:ext uri="{FF2B5EF4-FFF2-40B4-BE49-F238E27FC236}">
                <a16:creationId xmlns:a16="http://schemas.microsoft.com/office/drawing/2014/main" id="{AA3692D3-BE35-0E74-C310-E0726246A59B}"/>
              </a:ext>
            </a:extLst>
          </p:cNvPr>
          <p:cNvSpPr txBox="1"/>
          <p:nvPr/>
        </p:nvSpPr>
        <p:spPr>
          <a:xfrm>
            <a:off x="309993" y="6324206"/>
            <a:ext cx="604653" cy="261610"/>
          </a:xfrm>
          <a:prstGeom prst="rect">
            <a:avLst/>
          </a:prstGeom>
          <a:noFill/>
        </p:spPr>
        <p:txBody>
          <a:bodyPr wrap="none" rtlCol="0">
            <a:spAutoFit/>
          </a:bodyPr>
          <a:lstStyle/>
          <a:p>
            <a:r>
              <a:rPr lang="en-US" sz="1100" dirty="0"/>
              <a:t>Case 5</a:t>
            </a:r>
          </a:p>
        </p:txBody>
      </p:sp>
      <p:sp>
        <p:nvSpPr>
          <p:cNvPr id="2" name="Rectangle 1">
            <a:extLst>
              <a:ext uri="{FF2B5EF4-FFF2-40B4-BE49-F238E27FC236}">
                <a16:creationId xmlns:a16="http://schemas.microsoft.com/office/drawing/2014/main" id="{6CAAB784-65F1-22F0-1C14-542CF104C443}"/>
              </a:ext>
            </a:extLst>
          </p:cNvPr>
          <p:cNvSpPr/>
          <p:nvPr/>
        </p:nvSpPr>
        <p:spPr>
          <a:xfrm>
            <a:off x="207995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 name="Rectangle 3">
            <a:extLst>
              <a:ext uri="{FF2B5EF4-FFF2-40B4-BE49-F238E27FC236}">
                <a16:creationId xmlns:a16="http://schemas.microsoft.com/office/drawing/2014/main" id="{50C39DB8-BAD9-DB97-3DA0-6BFC6B6C176A}"/>
              </a:ext>
            </a:extLst>
          </p:cNvPr>
          <p:cNvSpPr/>
          <p:nvPr/>
        </p:nvSpPr>
        <p:spPr>
          <a:xfrm>
            <a:off x="415887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0" name="Rectangle 29">
            <a:extLst>
              <a:ext uri="{FF2B5EF4-FFF2-40B4-BE49-F238E27FC236}">
                <a16:creationId xmlns:a16="http://schemas.microsoft.com/office/drawing/2014/main" id="{00AD5687-E983-D5BE-57E9-669F9D352F84}"/>
              </a:ext>
            </a:extLst>
          </p:cNvPr>
          <p:cNvSpPr/>
          <p:nvPr/>
        </p:nvSpPr>
        <p:spPr>
          <a:xfrm>
            <a:off x="9560"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3" name="Rectangle 42">
            <a:extLst>
              <a:ext uri="{FF2B5EF4-FFF2-40B4-BE49-F238E27FC236}">
                <a16:creationId xmlns:a16="http://schemas.microsoft.com/office/drawing/2014/main" id="{5023488C-6B73-BA04-47BF-C3C717387A71}"/>
              </a:ext>
            </a:extLst>
          </p:cNvPr>
          <p:cNvSpPr/>
          <p:nvPr/>
        </p:nvSpPr>
        <p:spPr>
          <a:xfrm>
            <a:off x="2079956"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4" name="Rectangle 43">
            <a:extLst>
              <a:ext uri="{FF2B5EF4-FFF2-40B4-BE49-F238E27FC236}">
                <a16:creationId xmlns:a16="http://schemas.microsoft.com/office/drawing/2014/main" id="{02898EFA-C8FD-C3DE-F6DE-020E4723E7AF}"/>
              </a:ext>
            </a:extLst>
          </p:cNvPr>
          <p:cNvSpPr/>
          <p:nvPr/>
        </p:nvSpPr>
        <p:spPr>
          <a:xfrm>
            <a:off x="4158876"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5" name="Rectangle 44">
            <a:extLst>
              <a:ext uri="{FF2B5EF4-FFF2-40B4-BE49-F238E27FC236}">
                <a16:creationId xmlns:a16="http://schemas.microsoft.com/office/drawing/2014/main" id="{AA81FC7B-9B6F-4FC6-477D-E3A66ACE60DA}"/>
              </a:ext>
            </a:extLst>
          </p:cNvPr>
          <p:cNvSpPr/>
          <p:nvPr/>
        </p:nvSpPr>
        <p:spPr>
          <a:xfrm>
            <a:off x="6226082" y="2955663"/>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7" name="Rectangle 16">
            <a:extLst>
              <a:ext uri="{FF2B5EF4-FFF2-40B4-BE49-F238E27FC236}">
                <a16:creationId xmlns:a16="http://schemas.microsoft.com/office/drawing/2014/main" id="{BDCC027C-B177-DE06-2416-47E15612C9EF}"/>
              </a:ext>
            </a:extLst>
          </p:cNvPr>
          <p:cNvSpPr/>
          <p:nvPr/>
        </p:nvSpPr>
        <p:spPr>
          <a:xfrm>
            <a:off x="-1950" y="0"/>
            <a:ext cx="2087925" cy="25205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 vs t graph</a:t>
            </a:r>
          </a:p>
        </p:txBody>
      </p:sp>
      <p:sp>
        <p:nvSpPr>
          <p:cNvPr id="19" name="Rectangle 18">
            <a:extLst>
              <a:ext uri="{FF2B5EF4-FFF2-40B4-BE49-F238E27FC236}">
                <a16:creationId xmlns:a16="http://schemas.microsoft.com/office/drawing/2014/main" id="{0C6766B5-CA30-064B-9461-C4AF709583D7}"/>
              </a:ext>
            </a:extLst>
          </p:cNvPr>
          <p:cNvSpPr/>
          <p:nvPr/>
        </p:nvSpPr>
        <p:spPr>
          <a:xfrm>
            <a:off x="2083595" y="374"/>
            <a:ext cx="2076450" cy="252056"/>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v vs t graph</a:t>
            </a:r>
          </a:p>
        </p:txBody>
      </p:sp>
      <p:sp>
        <p:nvSpPr>
          <p:cNvPr id="20" name="Rectangle 19">
            <a:extLst>
              <a:ext uri="{FF2B5EF4-FFF2-40B4-BE49-F238E27FC236}">
                <a16:creationId xmlns:a16="http://schemas.microsoft.com/office/drawing/2014/main" id="{DC9BDDE4-1F93-235F-992B-37DE07230392}"/>
              </a:ext>
            </a:extLst>
          </p:cNvPr>
          <p:cNvSpPr/>
          <p:nvPr/>
        </p:nvSpPr>
        <p:spPr>
          <a:xfrm>
            <a:off x="4160044" y="202"/>
            <a:ext cx="2074563" cy="252056"/>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 vs t graph</a:t>
            </a:r>
          </a:p>
        </p:txBody>
      </p:sp>
      <p:sp>
        <p:nvSpPr>
          <p:cNvPr id="47" name="Rectangle 46">
            <a:extLst>
              <a:ext uri="{FF2B5EF4-FFF2-40B4-BE49-F238E27FC236}">
                <a16:creationId xmlns:a16="http://schemas.microsoft.com/office/drawing/2014/main" id="{167048F8-F97D-35CF-E44D-62BE784BC941}"/>
              </a:ext>
            </a:extLst>
          </p:cNvPr>
          <p:cNvSpPr/>
          <p:nvPr/>
        </p:nvSpPr>
        <p:spPr>
          <a:xfrm>
            <a:off x="0" y="2959172"/>
            <a:ext cx="2088480" cy="252056"/>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Velocity</a:t>
            </a:r>
          </a:p>
        </p:txBody>
      </p:sp>
      <p:sp>
        <p:nvSpPr>
          <p:cNvPr id="48" name="Rectangle 47">
            <a:extLst>
              <a:ext uri="{FF2B5EF4-FFF2-40B4-BE49-F238E27FC236}">
                <a16:creationId xmlns:a16="http://schemas.microsoft.com/office/drawing/2014/main" id="{127BDD6D-9123-F2C4-2BB0-4F1CBE7860D7}"/>
              </a:ext>
            </a:extLst>
          </p:cNvPr>
          <p:cNvSpPr/>
          <p:nvPr/>
        </p:nvSpPr>
        <p:spPr>
          <a:xfrm>
            <a:off x="2081269" y="2960748"/>
            <a:ext cx="2077606" cy="252056"/>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Acceleration</a:t>
            </a:r>
          </a:p>
        </p:txBody>
      </p:sp>
      <p:sp>
        <p:nvSpPr>
          <p:cNvPr id="52" name="Rectangle 51">
            <a:extLst>
              <a:ext uri="{FF2B5EF4-FFF2-40B4-BE49-F238E27FC236}">
                <a16:creationId xmlns:a16="http://schemas.microsoft.com/office/drawing/2014/main" id="{C61E421E-AAC4-14EF-AAF2-197A7056AED9}"/>
              </a:ext>
            </a:extLst>
          </p:cNvPr>
          <p:cNvSpPr/>
          <p:nvPr/>
        </p:nvSpPr>
        <p:spPr>
          <a:xfrm>
            <a:off x="4158875" y="2959073"/>
            <a:ext cx="2076986" cy="25205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Motion diagram</a:t>
            </a:r>
          </a:p>
        </p:txBody>
      </p:sp>
      <p:sp>
        <p:nvSpPr>
          <p:cNvPr id="54" name="Rectangle 53">
            <a:extLst>
              <a:ext uri="{FF2B5EF4-FFF2-40B4-BE49-F238E27FC236}">
                <a16:creationId xmlns:a16="http://schemas.microsoft.com/office/drawing/2014/main" id="{D95CD3A5-450C-DC7D-4104-FA9E868C1B1F}"/>
              </a:ext>
            </a:extLst>
          </p:cNvPr>
          <p:cNvSpPr/>
          <p:nvPr/>
        </p:nvSpPr>
        <p:spPr>
          <a:xfrm>
            <a:off x="6236557" y="2959073"/>
            <a:ext cx="2068598" cy="252056"/>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Free Body Diagram</a:t>
            </a:r>
          </a:p>
        </p:txBody>
      </p:sp>
      <p:sp>
        <p:nvSpPr>
          <p:cNvPr id="12" name="TextBox 11">
            <a:extLst>
              <a:ext uri="{FF2B5EF4-FFF2-40B4-BE49-F238E27FC236}">
                <a16:creationId xmlns:a16="http://schemas.microsoft.com/office/drawing/2014/main" id="{E8E9346A-6619-DCAB-C7AC-550F9EA12CFC}"/>
              </a:ext>
            </a:extLst>
          </p:cNvPr>
          <p:cNvSpPr txBox="1"/>
          <p:nvPr/>
        </p:nvSpPr>
        <p:spPr>
          <a:xfrm>
            <a:off x="7279762" y="4162815"/>
            <a:ext cx="620683" cy="261610"/>
          </a:xfrm>
          <a:prstGeom prst="rect">
            <a:avLst/>
          </a:prstGeom>
          <a:noFill/>
        </p:spPr>
        <p:txBody>
          <a:bodyPr wrap="none" rtlCol="0">
            <a:spAutoFit/>
          </a:bodyPr>
          <a:lstStyle/>
          <a:p>
            <a:r>
              <a:rPr lang="en-US" sz="1100" dirty="0" err="1"/>
              <a:t>f</a:t>
            </a:r>
            <a:r>
              <a:rPr lang="en-US" sz="1100" baseline="-25000" dirty="0" err="1"/>
              <a:t>k</a:t>
            </a:r>
            <a:r>
              <a:rPr lang="en-US" sz="1100" baseline="-25000" dirty="0"/>
              <a:t>  </a:t>
            </a:r>
            <a:r>
              <a:rPr lang="en-US" sz="1100" dirty="0"/>
              <a:t>= 7 N</a:t>
            </a:r>
          </a:p>
        </p:txBody>
      </p:sp>
      <p:sp>
        <p:nvSpPr>
          <p:cNvPr id="23" name="TextBox 22">
            <a:extLst>
              <a:ext uri="{FF2B5EF4-FFF2-40B4-BE49-F238E27FC236}">
                <a16:creationId xmlns:a16="http://schemas.microsoft.com/office/drawing/2014/main" id="{FE6E08FB-4E2E-DE12-61E1-0C6145432EAA}"/>
              </a:ext>
            </a:extLst>
          </p:cNvPr>
          <p:cNvSpPr txBox="1"/>
          <p:nvPr/>
        </p:nvSpPr>
        <p:spPr>
          <a:xfrm>
            <a:off x="6275784" y="4142527"/>
            <a:ext cx="984565" cy="261610"/>
          </a:xfrm>
          <a:prstGeom prst="rect">
            <a:avLst/>
          </a:prstGeom>
          <a:noFill/>
        </p:spPr>
        <p:txBody>
          <a:bodyPr wrap="none" rtlCol="0">
            <a:spAutoFit/>
          </a:bodyPr>
          <a:lstStyle/>
          <a:p>
            <a:r>
              <a:rPr lang="en-US" sz="1100" dirty="0" err="1"/>
              <a:t>F</a:t>
            </a:r>
            <a:r>
              <a:rPr lang="en-US" sz="1100" baseline="-25000" dirty="0" err="1"/>
              <a:t>applied</a:t>
            </a:r>
            <a:r>
              <a:rPr lang="en-US" sz="1100" baseline="-25000" dirty="0"/>
              <a:t>  </a:t>
            </a:r>
            <a:r>
              <a:rPr lang="en-US" sz="1100" dirty="0"/>
              <a:t>= 10 N</a:t>
            </a:r>
          </a:p>
        </p:txBody>
      </p:sp>
      <p:cxnSp>
        <p:nvCxnSpPr>
          <p:cNvPr id="29" name="Straight Connector 28">
            <a:extLst>
              <a:ext uri="{FF2B5EF4-FFF2-40B4-BE49-F238E27FC236}">
                <a16:creationId xmlns:a16="http://schemas.microsoft.com/office/drawing/2014/main" id="{935861AB-CD4B-920B-078B-736DBDFD5E60}"/>
              </a:ext>
            </a:extLst>
          </p:cNvPr>
          <p:cNvCxnSpPr>
            <a:cxnSpLocks/>
          </p:cNvCxnSpPr>
          <p:nvPr/>
        </p:nvCxnSpPr>
        <p:spPr>
          <a:xfrm>
            <a:off x="2428363" y="1790767"/>
            <a:ext cx="1334277" cy="295484"/>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sp>
        <p:nvSpPr>
          <p:cNvPr id="42" name="Freeform: Shape 41">
            <a:extLst>
              <a:ext uri="{FF2B5EF4-FFF2-40B4-BE49-F238E27FC236}">
                <a16:creationId xmlns:a16="http://schemas.microsoft.com/office/drawing/2014/main" id="{9AD0FBB4-7EA1-15D5-13CF-194B1C3A7130}"/>
              </a:ext>
            </a:extLst>
          </p:cNvPr>
          <p:cNvSpPr/>
          <p:nvPr/>
        </p:nvSpPr>
        <p:spPr>
          <a:xfrm flipV="1">
            <a:off x="362396" y="1568388"/>
            <a:ext cx="1374064" cy="700428"/>
          </a:xfrm>
          <a:custGeom>
            <a:avLst/>
            <a:gdLst>
              <a:gd name="connsiteX0" fmla="*/ 0 w 3704253"/>
              <a:gd name="connsiteY0" fmla="*/ 1800808 h 1800808"/>
              <a:gd name="connsiteX1" fmla="*/ 737119 w 3704253"/>
              <a:gd name="connsiteY1" fmla="*/ 1716832 h 1800808"/>
              <a:gd name="connsiteX2" fmla="*/ 1492898 w 3704253"/>
              <a:gd name="connsiteY2" fmla="*/ 1492898 h 1800808"/>
              <a:gd name="connsiteX3" fmla="*/ 2239347 w 3704253"/>
              <a:gd name="connsiteY3" fmla="*/ 1147665 h 1800808"/>
              <a:gd name="connsiteX4" fmla="*/ 2976466 w 3704253"/>
              <a:gd name="connsiteY4" fmla="*/ 653142 h 1800808"/>
              <a:gd name="connsiteX5" fmla="*/ 3704253 w 3704253"/>
              <a:gd name="connsiteY5" fmla="*/ 0 h 1800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4253" h="1800808">
                <a:moveTo>
                  <a:pt x="0" y="1800808"/>
                </a:moveTo>
                <a:cubicBezTo>
                  <a:pt x="244151" y="1784479"/>
                  <a:pt x="488303" y="1768150"/>
                  <a:pt x="737119" y="1716832"/>
                </a:cubicBezTo>
                <a:cubicBezTo>
                  <a:pt x="985935" y="1665514"/>
                  <a:pt x="1242527" y="1587759"/>
                  <a:pt x="1492898" y="1492898"/>
                </a:cubicBezTo>
                <a:cubicBezTo>
                  <a:pt x="1743269" y="1398037"/>
                  <a:pt x="1992086" y="1287624"/>
                  <a:pt x="2239347" y="1147665"/>
                </a:cubicBezTo>
                <a:cubicBezTo>
                  <a:pt x="2486608" y="1007706"/>
                  <a:pt x="2732315" y="844419"/>
                  <a:pt x="2976466" y="653142"/>
                </a:cubicBezTo>
                <a:cubicBezTo>
                  <a:pt x="3220617" y="461865"/>
                  <a:pt x="3462435" y="230932"/>
                  <a:pt x="3704253" y="0"/>
                </a:cubicBezTo>
              </a:path>
            </a:pathLst>
          </a:cu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1DA2D979-80A7-43AD-3B31-C735D27F8DDE}"/>
              </a:ext>
            </a:extLst>
          </p:cNvPr>
          <p:cNvSpPr/>
          <p:nvPr/>
        </p:nvSpPr>
        <p:spPr>
          <a:xfrm>
            <a:off x="6226082" y="-7609"/>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28" name="TextBox 27">
            <a:extLst>
              <a:ext uri="{FF2B5EF4-FFF2-40B4-BE49-F238E27FC236}">
                <a16:creationId xmlns:a16="http://schemas.microsoft.com/office/drawing/2014/main" id="{BD3C0D5C-FBAA-8008-EDD9-D46402AA71EF}"/>
              </a:ext>
            </a:extLst>
          </p:cNvPr>
          <p:cNvSpPr txBox="1"/>
          <p:nvPr/>
        </p:nvSpPr>
        <p:spPr>
          <a:xfrm>
            <a:off x="6274014" y="1250290"/>
            <a:ext cx="2169169" cy="846386"/>
          </a:xfrm>
          <a:prstGeom prst="rect">
            <a:avLst/>
          </a:prstGeom>
          <a:noFill/>
        </p:spPr>
        <p:txBody>
          <a:bodyPr wrap="square" rtlCol="0">
            <a:spAutoFit/>
          </a:bodyPr>
          <a:lstStyle/>
          <a:p>
            <a:pPr algn="ctr"/>
            <a:r>
              <a:rPr lang="en-US" sz="1400" dirty="0"/>
              <a:t>Object moving in </a:t>
            </a:r>
            <a:r>
              <a:rPr lang="en-US" sz="1400" b="1" dirty="0"/>
              <a:t>negative</a:t>
            </a:r>
            <a:r>
              <a:rPr lang="en-US" sz="1400" dirty="0"/>
              <a:t> direction at </a:t>
            </a:r>
            <a:r>
              <a:rPr lang="en-US" sz="1400" dirty="0">
                <a:solidFill>
                  <a:schemeClr val="accent6">
                    <a:lumMod val="75000"/>
                  </a:schemeClr>
                </a:solidFill>
              </a:rPr>
              <a:t>increasing</a:t>
            </a:r>
            <a:r>
              <a:rPr lang="en-US" sz="1400" dirty="0"/>
              <a:t> speed</a:t>
            </a:r>
          </a:p>
          <a:p>
            <a:pPr algn="ctr"/>
            <a:endParaRPr lang="en-US" sz="600" dirty="0"/>
          </a:p>
        </p:txBody>
      </p:sp>
      <p:sp>
        <p:nvSpPr>
          <p:cNvPr id="56" name="Arrow: Pentagon 55">
            <a:extLst>
              <a:ext uri="{FF2B5EF4-FFF2-40B4-BE49-F238E27FC236}">
                <a16:creationId xmlns:a16="http://schemas.microsoft.com/office/drawing/2014/main" id="{A44602A3-B029-DEEC-C4A9-56ACCFB30904}"/>
              </a:ext>
            </a:extLst>
          </p:cNvPr>
          <p:cNvSpPr/>
          <p:nvPr/>
        </p:nvSpPr>
        <p:spPr>
          <a:xfrm rot="10800000" flipV="1">
            <a:off x="6585456" y="452548"/>
            <a:ext cx="1443174" cy="338553"/>
          </a:xfrm>
          <a:prstGeom prst="homePlat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Scenario</a:t>
            </a:r>
            <a:r>
              <a:rPr lang="en-US" b="1" dirty="0"/>
              <a:t> 5</a:t>
            </a:r>
          </a:p>
        </p:txBody>
      </p:sp>
      <p:sp>
        <p:nvSpPr>
          <p:cNvPr id="58" name="Diagonal Stripe 57">
            <a:extLst>
              <a:ext uri="{FF2B5EF4-FFF2-40B4-BE49-F238E27FC236}">
                <a16:creationId xmlns:a16="http://schemas.microsoft.com/office/drawing/2014/main" id="{E27256D4-58AA-47FE-C2DF-AA434C507BC2}"/>
              </a:ext>
            </a:extLst>
          </p:cNvPr>
          <p:cNvSpPr/>
          <p:nvPr/>
        </p:nvSpPr>
        <p:spPr>
          <a:xfrm>
            <a:off x="6247969" y="0"/>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9" name="Diagonal Stripe 58">
            <a:extLst>
              <a:ext uri="{FF2B5EF4-FFF2-40B4-BE49-F238E27FC236}">
                <a16:creationId xmlns:a16="http://schemas.microsoft.com/office/drawing/2014/main" id="{075BDD08-0BF5-8B7B-55F5-18F615E0BBCC}"/>
              </a:ext>
            </a:extLst>
          </p:cNvPr>
          <p:cNvSpPr/>
          <p:nvPr/>
        </p:nvSpPr>
        <p:spPr>
          <a:xfrm rot="10800000">
            <a:off x="7717891" y="2367056"/>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TextBox 59">
            <a:extLst>
              <a:ext uri="{FF2B5EF4-FFF2-40B4-BE49-F238E27FC236}">
                <a16:creationId xmlns:a16="http://schemas.microsoft.com/office/drawing/2014/main" id="{147B6B64-4311-3B68-A5A7-C1B61525DAD0}"/>
              </a:ext>
            </a:extLst>
          </p:cNvPr>
          <p:cNvSpPr txBox="1"/>
          <p:nvPr/>
        </p:nvSpPr>
        <p:spPr>
          <a:xfrm>
            <a:off x="6622921" y="2381869"/>
            <a:ext cx="1294640" cy="430887"/>
          </a:xfrm>
          <a:prstGeom prst="rect">
            <a:avLst/>
          </a:prstGeom>
          <a:noFill/>
        </p:spPr>
        <p:txBody>
          <a:bodyPr wrap="square" rtlCol="0">
            <a:spAutoFit/>
          </a:bodyPr>
          <a:lstStyle/>
          <a:p>
            <a:pPr algn="ctr"/>
            <a:r>
              <a:rPr lang="en-US" sz="1100" dirty="0"/>
              <a:t>Answer key on reverse side</a:t>
            </a:r>
          </a:p>
        </p:txBody>
      </p:sp>
      <p:sp>
        <p:nvSpPr>
          <p:cNvPr id="61" name="TextBox 60">
            <a:extLst>
              <a:ext uri="{FF2B5EF4-FFF2-40B4-BE49-F238E27FC236}">
                <a16:creationId xmlns:a16="http://schemas.microsoft.com/office/drawing/2014/main" id="{919EC61D-DA4E-B1D4-8ECB-087391998183}"/>
              </a:ext>
            </a:extLst>
          </p:cNvPr>
          <p:cNvSpPr txBox="1"/>
          <p:nvPr/>
        </p:nvSpPr>
        <p:spPr>
          <a:xfrm>
            <a:off x="68492" y="2575731"/>
            <a:ext cx="662361" cy="261610"/>
          </a:xfrm>
          <a:prstGeom prst="rect">
            <a:avLst/>
          </a:prstGeom>
          <a:noFill/>
        </p:spPr>
        <p:txBody>
          <a:bodyPr wrap="none" rtlCol="0">
            <a:spAutoFit/>
          </a:bodyPr>
          <a:lstStyle/>
          <a:p>
            <a:r>
              <a:rPr lang="en-US" sz="1100" dirty="0"/>
              <a:t>Card 17</a:t>
            </a:r>
          </a:p>
        </p:txBody>
      </p:sp>
      <p:sp>
        <p:nvSpPr>
          <p:cNvPr id="62" name="TextBox 61">
            <a:extLst>
              <a:ext uri="{FF2B5EF4-FFF2-40B4-BE49-F238E27FC236}">
                <a16:creationId xmlns:a16="http://schemas.microsoft.com/office/drawing/2014/main" id="{AF4D364A-AE4E-D81F-AC2B-B1539E318741}"/>
              </a:ext>
            </a:extLst>
          </p:cNvPr>
          <p:cNvSpPr txBox="1"/>
          <p:nvPr/>
        </p:nvSpPr>
        <p:spPr>
          <a:xfrm>
            <a:off x="68492" y="5557769"/>
            <a:ext cx="587020" cy="261610"/>
          </a:xfrm>
          <a:prstGeom prst="rect">
            <a:avLst/>
          </a:prstGeom>
          <a:noFill/>
        </p:spPr>
        <p:txBody>
          <a:bodyPr wrap="none" rtlCol="0">
            <a:spAutoFit/>
          </a:bodyPr>
          <a:lstStyle/>
          <a:p>
            <a:r>
              <a:rPr lang="en-US" sz="1100" dirty="0"/>
              <a:t>Card 7</a:t>
            </a:r>
          </a:p>
        </p:txBody>
      </p:sp>
      <p:sp>
        <p:nvSpPr>
          <p:cNvPr id="69" name="TextBox 68">
            <a:extLst>
              <a:ext uri="{FF2B5EF4-FFF2-40B4-BE49-F238E27FC236}">
                <a16:creationId xmlns:a16="http://schemas.microsoft.com/office/drawing/2014/main" id="{1A56A33A-BA14-B613-59D6-E5C979B24372}"/>
              </a:ext>
            </a:extLst>
          </p:cNvPr>
          <p:cNvSpPr txBox="1"/>
          <p:nvPr/>
        </p:nvSpPr>
        <p:spPr>
          <a:xfrm>
            <a:off x="2210492" y="5556245"/>
            <a:ext cx="662361" cy="261610"/>
          </a:xfrm>
          <a:prstGeom prst="rect">
            <a:avLst/>
          </a:prstGeom>
          <a:noFill/>
        </p:spPr>
        <p:txBody>
          <a:bodyPr wrap="none" rtlCol="0">
            <a:spAutoFit/>
          </a:bodyPr>
          <a:lstStyle/>
          <a:p>
            <a:r>
              <a:rPr lang="en-US" sz="1100" dirty="0"/>
              <a:t>Card 10</a:t>
            </a:r>
          </a:p>
        </p:txBody>
      </p:sp>
      <p:sp>
        <p:nvSpPr>
          <p:cNvPr id="71" name="TextBox 70">
            <a:extLst>
              <a:ext uri="{FF2B5EF4-FFF2-40B4-BE49-F238E27FC236}">
                <a16:creationId xmlns:a16="http://schemas.microsoft.com/office/drawing/2014/main" id="{685073E9-E493-C15F-7291-B2849C50060D}"/>
              </a:ext>
            </a:extLst>
          </p:cNvPr>
          <p:cNvSpPr txBox="1"/>
          <p:nvPr/>
        </p:nvSpPr>
        <p:spPr>
          <a:xfrm>
            <a:off x="2153694" y="2610998"/>
            <a:ext cx="662361" cy="261610"/>
          </a:xfrm>
          <a:prstGeom prst="rect">
            <a:avLst/>
          </a:prstGeom>
          <a:noFill/>
        </p:spPr>
        <p:txBody>
          <a:bodyPr wrap="none" rtlCol="0">
            <a:spAutoFit/>
          </a:bodyPr>
          <a:lstStyle/>
          <a:p>
            <a:r>
              <a:rPr lang="en-US" sz="1100" dirty="0"/>
              <a:t>Card 20</a:t>
            </a:r>
          </a:p>
        </p:txBody>
      </p:sp>
      <p:sp>
        <p:nvSpPr>
          <p:cNvPr id="72" name="TextBox 71">
            <a:extLst>
              <a:ext uri="{FF2B5EF4-FFF2-40B4-BE49-F238E27FC236}">
                <a16:creationId xmlns:a16="http://schemas.microsoft.com/office/drawing/2014/main" id="{7968603F-0527-67BB-5BD7-FA4A2B6ADA66}"/>
              </a:ext>
            </a:extLst>
          </p:cNvPr>
          <p:cNvSpPr txBox="1"/>
          <p:nvPr/>
        </p:nvSpPr>
        <p:spPr>
          <a:xfrm>
            <a:off x="4256608" y="2645428"/>
            <a:ext cx="662361" cy="261610"/>
          </a:xfrm>
          <a:prstGeom prst="rect">
            <a:avLst/>
          </a:prstGeom>
          <a:noFill/>
        </p:spPr>
        <p:txBody>
          <a:bodyPr wrap="none" rtlCol="0">
            <a:spAutoFit/>
          </a:bodyPr>
          <a:lstStyle/>
          <a:p>
            <a:r>
              <a:rPr lang="en-US" sz="1100" dirty="0"/>
              <a:t>Card 25</a:t>
            </a:r>
          </a:p>
        </p:txBody>
      </p:sp>
      <p:sp>
        <p:nvSpPr>
          <p:cNvPr id="77" name="TextBox 76">
            <a:extLst>
              <a:ext uri="{FF2B5EF4-FFF2-40B4-BE49-F238E27FC236}">
                <a16:creationId xmlns:a16="http://schemas.microsoft.com/office/drawing/2014/main" id="{4E4528DA-D002-2C58-9749-A23D3E231052}"/>
              </a:ext>
            </a:extLst>
          </p:cNvPr>
          <p:cNvSpPr txBox="1"/>
          <p:nvPr/>
        </p:nvSpPr>
        <p:spPr>
          <a:xfrm>
            <a:off x="4301001" y="5556245"/>
            <a:ext cx="587020" cy="261610"/>
          </a:xfrm>
          <a:prstGeom prst="rect">
            <a:avLst/>
          </a:prstGeom>
          <a:noFill/>
        </p:spPr>
        <p:txBody>
          <a:bodyPr wrap="none" rtlCol="0">
            <a:spAutoFit/>
          </a:bodyPr>
          <a:lstStyle/>
          <a:p>
            <a:r>
              <a:rPr lang="en-US" sz="1100" dirty="0"/>
              <a:t>Card 1</a:t>
            </a:r>
          </a:p>
        </p:txBody>
      </p:sp>
      <p:sp>
        <p:nvSpPr>
          <p:cNvPr id="78" name="TextBox 77">
            <a:extLst>
              <a:ext uri="{FF2B5EF4-FFF2-40B4-BE49-F238E27FC236}">
                <a16:creationId xmlns:a16="http://schemas.microsoft.com/office/drawing/2014/main" id="{C3E217F7-6D3F-BC0F-01A4-546711118246}"/>
              </a:ext>
            </a:extLst>
          </p:cNvPr>
          <p:cNvSpPr txBox="1"/>
          <p:nvPr/>
        </p:nvSpPr>
        <p:spPr>
          <a:xfrm>
            <a:off x="6330238" y="5552036"/>
            <a:ext cx="662361" cy="261610"/>
          </a:xfrm>
          <a:prstGeom prst="rect">
            <a:avLst/>
          </a:prstGeom>
          <a:noFill/>
        </p:spPr>
        <p:txBody>
          <a:bodyPr wrap="none" rtlCol="0">
            <a:spAutoFit/>
          </a:bodyPr>
          <a:lstStyle/>
          <a:p>
            <a:r>
              <a:rPr lang="en-US" sz="1100" dirty="0"/>
              <a:t>Card 32</a:t>
            </a:r>
          </a:p>
        </p:txBody>
      </p:sp>
      <p:cxnSp>
        <p:nvCxnSpPr>
          <p:cNvPr id="79" name="Straight Connector 78">
            <a:extLst>
              <a:ext uri="{FF2B5EF4-FFF2-40B4-BE49-F238E27FC236}">
                <a16:creationId xmlns:a16="http://schemas.microsoft.com/office/drawing/2014/main" id="{00954422-6EDF-77E5-2783-403FB01BE242}"/>
              </a:ext>
            </a:extLst>
          </p:cNvPr>
          <p:cNvCxnSpPr>
            <a:cxnSpLocks/>
          </p:cNvCxnSpPr>
          <p:nvPr/>
        </p:nvCxnSpPr>
        <p:spPr>
          <a:xfrm>
            <a:off x="4467048" y="1795278"/>
            <a:ext cx="1292968" cy="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16369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0C93E-1286-3B83-7678-74DB7029AD6D}"/>
            </a:ext>
          </a:extLst>
        </p:cNvPr>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598CF6B1-A2EF-99AC-5E6F-4200D90001DB}"/>
              </a:ext>
            </a:extLst>
          </p:cNvPr>
          <p:cNvCxnSpPr>
            <a:cxnSpLocks/>
          </p:cNvCxnSpPr>
          <p:nvPr/>
        </p:nvCxnSpPr>
        <p:spPr>
          <a:xfrm>
            <a:off x="369145" y="548640"/>
            <a:ext cx="0" cy="1891417"/>
          </a:xfrm>
          <a:prstGeom prst="line">
            <a:avLst/>
          </a:prstGeom>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D52E13CD-DD16-A289-F0A3-932D7E33DFA0}"/>
              </a:ext>
            </a:extLst>
          </p:cNvPr>
          <p:cNvSpPr/>
          <p:nvPr/>
        </p:nvSpPr>
        <p:spPr>
          <a:xfrm>
            <a:off x="0" y="-9848"/>
            <a:ext cx="2085290" cy="2963272"/>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cxnSp>
        <p:nvCxnSpPr>
          <p:cNvPr id="21" name="Straight Connector 20">
            <a:extLst>
              <a:ext uri="{FF2B5EF4-FFF2-40B4-BE49-F238E27FC236}">
                <a16:creationId xmlns:a16="http://schemas.microsoft.com/office/drawing/2014/main" id="{DE5955B8-D09C-BC0C-ECB6-5C0159D2BD7C}"/>
              </a:ext>
            </a:extLst>
          </p:cNvPr>
          <p:cNvCxnSpPr/>
          <p:nvPr/>
        </p:nvCxnSpPr>
        <p:spPr>
          <a:xfrm>
            <a:off x="-4482928" y="99168"/>
            <a:ext cx="0" cy="2683566"/>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1DC62155-E62D-ADD7-2812-179F04C13174}"/>
              </a:ext>
            </a:extLst>
          </p:cNvPr>
          <p:cNvCxnSpPr/>
          <p:nvPr/>
        </p:nvCxnSpPr>
        <p:spPr>
          <a:xfrm>
            <a:off x="371928" y="1431036"/>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0599469-7888-61CA-417A-970437CFE776}"/>
              </a:ext>
            </a:extLst>
          </p:cNvPr>
          <p:cNvSpPr txBox="1"/>
          <p:nvPr/>
        </p:nvSpPr>
        <p:spPr>
          <a:xfrm>
            <a:off x="1588159" y="1399032"/>
            <a:ext cx="457176" cy="261610"/>
          </a:xfrm>
          <a:prstGeom prst="rect">
            <a:avLst/>
          </a:prstGeom>
          <a:noFill/>
        </p:spPr>
        <p:txBody>
          <a:bodyPr wrap="none" rtlCol="0">
            <a:spAutoFit/>
          </a:bodyPr>
          <a:lstStyle/>
          <a:p>
            <a:r>
              <a:rPr lang="en-US" sz="1100" dirty="0"/>
              <a:t>time</a:t>
            </a:r>
          </a:p>
        </p:txBody>
      </p:sp>
      <p:sp>
        <p:nvSpPr>
          <p:cNvPr id="26" name="TextBox 25">
            <a:extLst>
              <a:ext uri="{FF2B5EF4-FFF2-40B4-BE49-F238E27FC236}">
                <a16:creationId xmlns:a16="http://schemas.microsoft.com/office/drawing/2014/main" id="{5DF38D48-5866-8A38-4DA8-956D9BB3F2E1}"/>
              </a:ext>
            </a:extLst>
          </p:cNvPr>
          <p:cNvSpPr txBox="1"/>
          <p:nvPr/>
        </p:nvSpPr>
        <p:spPr>
          <a:xfrm rot="16200000">
            <a:off x="-107052" y="676132"/>
            <a:ext cx="679994" cy="261610"/>
          </a:xfrm>
          <a:prstGeom prst="rect">
            <a:avLst/>
          </a:prstGeom>
          <a:noFill/>
        </p:spPr>
        <p:txBody>
          <a:bodyPr wrap="none" rtlCol="0">
            <a:spAutoFit/>
          </a:bodyPr>
          <a:lstStyle/>
          <a:p>
            <a:r>
              <a:rPr lang="en-US" sz="1100" dirty="0"/>
              <a:t>position</a:t>
            </a:r>
          </a:p>
        </p:txBody>
      </p:sp>
      <p:sp>
        <p:nvSpPr>
          <p:cNvPr id="27" name="TextBox 26">
            <a:extLst>
              <a:ext uri="{FF2B5EF4-FFF2-40B4-BE49-F238E27FC236}">
                <a16:creationId xmlns:a16="http://schemas.microsoft.com/office/drawing/2014/main" id="{D2A2843E-D4DA-4E42-D96D-3853CF733A0B}"/>
              </a:ext>
            </a:extLst>
          </p:cNvPr>
          <p:cNvSpPr txBox="1"/>
          <p:nvPr/>
        </p:nvSpPr>
        <p:spPr>
          <a:xfrm>
            <a:off x="114668" y="1300231"/>
            <a:ext cx="260008" cy="261610"/>
          </a:xfrm>
          <a:prstGeom prst="rect">
            <a:avLst/>
          </a:prstGeom>
          <a:noFill/>
        </p:spPr>
        <p:txBody>
          <a:bodyPr wrap="none" rtlCol="0">
            <a:spAutoFit/>
          </a:bodyPr>
          <a:lstStyle/>
          <a:p>
            <a:r>
              <a:rPr lang="en-US" sz="1100" dirty="0"/>
              <a:t>0</a:t>
            </a:r>
          </a:p>
        </p:txBody>
      </p:sp>
      <p:cxnSp>
        <p:nvCxnSpPr>
          <p:cNvPr id="31" name="Straight Connector 30">
            <a:extLst>
              <a:ext uri="{FF2B5EF4-FFF2-40B4-BE49-F238E27FC236}">
                <a16:creationId xmlns:a16="http://schemas.microsoft.com/office/drawing/2014/main" id="{BD3E2016-39E8-61DB-DDA6-859065E05112}"/>
              </a:ext>
            </a:extLst>
          </p:cNvPr>
          <p:cNvCxnSpPr>
            <a:cxnSpLocks/>
          </p:cNvCxnSpPr>
          <p:nvPr/>
        </p:nvCxnSpPr>
        <p:spPr>
          <a:xfrm>
            <a:off x="2423619" y="550164"/>
            <a:ext cx="0" cy="1891417"/>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659CF1E-F1C0-6B29-F85E-F5F91334ED45}"/>
              </a:ext>
            </a:extLst>
          </p:cNvPr>
          <p:cNvCxnSpPr/>
          <p:nvPr/>
        </p:nvCxnSpPr>
        <p:spPr>
          <a:xfrm>
            <a:off x="2426402" y="1432560"/>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4D8138BD-3024-743F-0DFF-0F35FF9A5124}"/>
              </a:ext>
            </a:extLst>
          </p:cNvPr>
          <p:cNvSpPr txBox="1"/>
          <p:nvPr/>
        </p:nvSpPr>
        <p:spPr>
          <a:xfrm>
            <a:off x="3642633" y="1400556"/>
            <a:ext cx="457176" cy="261610"/>
          </a:xfrm>
          <a:prstGeom prst="rect">
            <a:avLst/>
          </a:prstGeom>
          <a:noFill/>
        </p:spPr>
        <p:txBody>
          <a:bodyPr wrap="none" rtlCol="0">
            <a:spAutoFit/>
          </a:bodyPr>
          <a:lstStyle/>
          <a:p>
            <a:r>
              <a:rPr lang="en-US" sz="1100" dirty="0"/>
              <a:t>time</a:t>
            </a:r>
          </a:p>
        </p:txBody>
      </p:sp>
      <p:sp>
        <p:nvSpPr>
          <p:cNvPr id="34" name="TextBox 33">
            <a:extLst>
              <a:ext uri="{FF2B5EF4-FFF2-40B4-BE49-F238E27FC236}">
                <a16:creationId xmlns:a16="http://schemas.microsoft.com/office/drawing/2014/main" id="{68D938B9-087D-D28C-DA42-3FDCE5965C23}"/>
              </a:ext>
            </a:extLst>
          </p:cNvPr>
          <p:cNvSpPr txBox="1"/>
          <p:nvPr/>
        </p:nvSpPr>
        <p:spPr>
          <a:xfrm rot="16200000">
            <a:off x="1960246" y="677656"/>
            <a:ext cx="654346" cy="261610"/>
          </a:xfrm>
          <a:prstGeom prst="rect">
            <a:avLst/>
          </a:prstGeom>
          <a:noFill/>
        </p:spPr>
        <p:txBody>
          <a:bodyPr wrap="none" rtlCol="0">
            <a:spAutoFit/>
          </a:bodyPr>
          <a:lstStyle/>
          <a:p>
            <a:r>
              <a:rPr lang="en-US" sz="1100" dirty="0"/>
              <a:t>velocity</a:t>
            </a:r>
          </a:p>
        </p:txBody>
      </p:sp>
      <p:sp>
        <p:nvSpPr>
          <p:cNvPr id="35" name="TextBox 34">
            <a:extLst>
              <a:ext uri="{FF2B5EF4-FFF2-40B4-BE49-F238E27FC236}">
                <a16:creationId xmlns:a16="http://schemas.microsoft.com/office/drawing/2014/main" id="{E0C9A643-9890-3B45-9087-793497E1CA2E}"/>
              </a:ext>
            </a:extLst>
          </p:cNvPr>
          <p:cNvSpPr txBox="1"/>
          <p:nvPr/>
        </p:nvSpPr>
        <p:spPr>
          <a:xfrm>
            <a:off x="2169142" y="1301755"/>
            <a:ext cx="260008" cy="261610"/>
          </a:xfrm>
          <a:prstGeom prst="rect">
            <a:avLst/>
          </a:prstGeom>
          <a:noFill/>
        </p:spPr>
        <p:txBody>
          <a:bodyPr wrap="none" rtlCol="0">
            <a:spAutoFit/>
          </a:bodyPr>
          <a:lstStyle/>
          <a:p>
            <a:r>
              <a:rPr lang="en-US" sz="1100" dirty="0"/>
              <a:t>0</a:t>
            </a:r>
          </a:p>
        </p:txBody>
      </p:sp>
      <p:cxnSp>
        <p:nvCxnSpPr>
          <p:cNvPr id="37" name="Straight Connector 36">
            <a:extLst>
              <a:ext uri="{FF2B5EF4-FFF2-40B4-BE49-F238E27FC236}">
                <a16:creationId xmlns:a16="http://schemas.microsoft.com/office/drawing/2014/main" id="{9528D9DC-C90C-444A-FE4A-35F260EA8BFB}"/>
              </a:ext>
            </a:extLst>
          </p:cNvPr>
          <p:cNvCxnSpPr>
            <a:cxnSpLocks/>
          </p:cNvCxnSpPr>
          <p:nvPr/>
        </p:nvCxnSpPr>
        <p:spPr>
          <a:xfrm>
            <a:off x="4464265" y="548640"/>
            <a:ext cx="0" cy="1891417"/>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FD659F7-FEBC-7CDD-765E-DFA20781A1B8}"/>
              </a:ext>
            </a:extLst>
          </p:cNvPr>
          <p:cNvCxnSpPr/>
          <p:nvPr/>
        </p:nvCxnSpPr>
        <p:spPr>
          <a:xfrm>
            <a:off x="4467048" y="1431036"/>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FD64C1FB-7A64-3BF2-067E-AA001B56CD7B}"/>
              </a:ext>
            </a:extLst>
          </p:cNvPr>
          <p:cNvSpPr txBox="1"/>
          <p:nvPr/>
        </p:nvSpPr>
        <p:spPr>
          <a:xfrm>
            <a:off x="5699933" y="1399032"/>
            <a:ext cx="457176" cy="261610"/>
          </a:xfrm>
          <a:prstGeom prst="rect">
            <a:avLst/>
          </a:prstGeom>
          <a:noFill/>
        </p:spPr>
        <p:txBody>
          <a:bodyPr wrap="none" rtlCol="0">
            <a:spAutoFit/>
          </a:bodyPr>
          <a:lstStyle/>
          <a:p>
            <a:r>
              <a:rPr lang="en-US" sz="1100" dirty="0"/>
              <a:t>time</a:t>
            </a:r>
          </a:p>
        </p:txBody>
      </p:sp>
      <p:sp>
        <p:nvSpPr>
          <p:cNvPr id="40" name="TextBox 39">
            <a:extLst>
              <a:ext uri="{FF2B5EF4-FFF2-40B4-BE49-F238E27FC236}">
                <a16:creationId xmlns:a16="http://schemas.microsoft.com/office/drawing/2014/main" id="{639CE61C-2265-DD26-5C42-41D48BE51041}"/>
              </a:ext>
            </a:extLst>
          </p:cNvPr>
          <p:cNvSpPr txBox="1"/>
          <p:nvPr/>
        </p:nvSpPr>
        <p:spPr>
          <a:xfrm rot="16200000">
            <a:off x="3853417" y="676132"/>
            <a:ext cx="949299" cy="261610"/>
          </a:xfrm>
          <a:prstGeom prst="rect">
            <a:avLst/>
          </a:prstGeom>
          <a:noFill/>
        </p:spPr>
        <p:txBody>
          <a:bodyPr wrap="none" rtlCol="0">
            <a:spAutoFit/>
          </a:bodyPr>
          <a:lstStyle/>
          <a:p>
            <a:r>
              <a:rPr lang="en-US" sz="1100" dirty="0"/>
              <a:t>acceleration</a:t>
            </a:r>
          </a:p>
        </p:txBody>
      </p:sp>
      <p:sp>
        <p:nvSpPr>
          <p:cNvPr id="41" name="TextBox 40">
            <a:extLst>
              <a:ext uri="{FF2B5EF4-FFF2-40B4-BE49-F238E27FC236}">
                <a16:creationId xmlns:a16="http://schemas.microsoft.com/office/drawing/2014/main" id="{63EA55AB-1202-B337-9BA9-38E51B772B7F}"/>
              </a:ext>
            </a:extLst>
          </p:cNvPr>
          <p:cNvSpPr txBox="1"/>
          <p:nvPr/>
        </p:nvSpPr>
        <p:spPr>
          <a:xfrm>
            <a:off x="4209788" y="1300231"/>
            <a:ext cx="260008" cy="261610"/>
          </a:xfrm>
          <a:prstGeom prst="rect">
            <a:avLst/>
          </a:prstGeom>
          <a:noFill/>
        </p:spPr>
        <p:txBody>
          <a:bodyPr wrap="none" rtlCol="0">
            <a:spAutoFit/>
          </a:bodyPr>
          <a:lstStyle/>
          <a:p>
            <a:r>
              <a:rPr lang="en-US" sz="1100" dirty="0"/>
              <a:t>0</a:t>
            </a:r>
          </a:p>
        </p:txBody>
      </p:sp>
      <p:sp>
        <p:nvSpPr>
          <p:cNvPr id="49" name="TextBox 48">
            <a:extLst>
              <a:ext uri="{FF2B5EF4-FFF2-40B4-BE49-F238E27FC236}">
                <a16:creationId xmlns:a16="http://schemas.microsoft.com/office/drawing/2014/main" id="{622BAC8B-6E1C-88E0-8B13-ED295F9DF6F2}"/>
              </a:ext>
            </a:extLst>
          </p:cNvPr>
          <p:cNvSpPr txBox="1"/>
          <p:nvPr/>
        </p:nvSpPr>
        <p:spPr>
          <a:xfrm>
            <a:off x="2284070" y="3971718"/>
            <a:ext cx="1612447" cy="584775"/>
          </a:xfrm>
          <a:prstGeom prst="rect">
            <a:avLst/>
          </a:prstGeom>
          <a:noFill/>
        </p:spPr>
        <p:txBody>
          <a:bodyPr wrap="square" rtlCol="0">
            <a:spAutoFit/>
          </a:bodyPr>
          <a:lstStyle/>
          <a:p>
            <a:pPr algn="ctr"/>
            <a:r>
              <a:rPr lang="en-US" sz="1600" b="1" dirty="0">
                <a:solidFill>
                  <a:schemeClr val="accent6">
                    <a:lumMod val="75000"/>
                  </a:schemeClr>
                </a:solidFill>
              </a:rPr>
              <a:t>Positive Acceleration</a:t>
            </a:r>
          </a:p>
        </p:txBody>
      </p:sp>
      <p:sp>
        <p:nvSpPr>
          <p:cNvPr id="50" name="TextBox 49">
            <a:extLst>
              <a:ext uri="{FF2B5EF4-FFF2-40B4-BE49-F238E27FC236}">
                <a16:creationId xmlns:a16="http://schemas.microsoft.com/office/drawing/2014/main" id="{014DC937-45CA-C19A-4FB6-B0A33DF08EDC}"/>
              </a:ext>
            </a:extLst>
          </p:cNvPr>
          <p:cNvSpPr txBox="1"/>
          <p:nvPr/>
        </p:nvSpPr>
        <p:spPr>
          <a:xfrm>
            <a:off x="232944" y="3970454"/>
            <a:ext cx="1612447" cy="584775"/>
          </a:xfrm>
          <a:prstGeom prst="rect">
            <a:avLst/>
          </a:prstGeom>
          <a:noFill/>
        </p:spPr>
        <p:txBody>
          <a:bodyPr wrap="square" rtlCol="0">
            <a:spAutoFit/>
          </a:bodyPr>
          <a:lstStyle/>
          <a:p>
            <a:pPr algn="ctr"/>
            <a:r>
              <a:rPr lang="en-US" sz="1600" b="1" dirty="0">
                <a:solidFill>
                  <a:schemeClr val="accent5">
                    <a:lumMod val="75000"/>
                  </a:schemeClr>
                </a:solidFill>
              </a:rPr>
              <a:t>Negative Velocity</a:t>
            </a:r>
          </a:p>
        </p:txBody>
      </p:sp>
      <p:sp>
        <p:nvSpPr>
          <p:cNvPr id="51" name="Oval 50">
            <a:extLst>
              <a:ext uri="{FF2B5EF4-FFF2-40B4-BE49-F238E27FC236}">
                <a16:creationId xmlns:a16="http://schemas.microsoft.com/office/drawing/2014/main" id="{F929DB38-9EE6-4326-A3C9-79D30BAC38A6}"/>
              </a:ext>
            </a:extLst>
          </p:cNvPr>
          <p:cNvSpPr/>
          <p:nvPr/>
        </p:nvSpPr>
        <p:spPr>
          <a:xfrm>
            <a:off x="4513491" y="4335809"/>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4DF7DEBE-E655-DA37-8D5B-207B552FEB9E}"/>
              </a:ext>
            </a:extLst>
          </p:cNvPr>
          <p:cNvSpPr/>
          <p:nvPr/>
        </p:nvSpPr>
        <p:spPr>
          <a:xfrm>
            <a:off x="4750896" y="4335809"/>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D29C5BCA-23CF-0E29-3B73-9D4D373F6403}"/>
              </a:ext>
            </a:extLst>
          </p:cNvPr>
          <p:cNvSpPr/>
          <p:nvPr/>
        </p:nvSpPr>
        <p:spPr>
          <a:xfrm>
            <a:off x="5216806" y="4331935"/>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5F8F40D0-4C29-E974-3171-5C9B37F19E26}"/>
              </a:ext>
            </a:extLst>
          </p:cNvPr>
          <p:cNvSpPr/>
          <p:nvPr/>
        </p:nvSpPr>
        <p:spPr>
          <a:xfrm>
            <a:off x="5921649" y="4331935"/>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9AE4706A-FC8B-5DF3-4DD3-0026AB0FE2B3}"/>
              </a:ext>
            </a:extLst>
          </p:cNvPr>
          <p:cNvSpPr txBox="1"/>
          <p:nvPr/>
        </p:nvSpPr>
        <p:spPr>
          <a:xfrm>
            <a:off x="4404311" y="4430006"/>
            <a:ext cx="260008" cy="261610"/>
          </a:xfrm>
          <a:prstGeom prst="rect">
            <a:avLst/>
          </a:prstGeom>
          <a:noFill/>
        </p:spPr>
        <p:txBody>
          <a:bodyPr wrap="none" rtlCol="0">
            <a:spAutoFit/>
          </a:bodyPr>
          <a:lstStyle/>
          <a:p>
            <a:r>
              <a:rPr lang="en-US" sz="1100" dirty="0"/>
              <a:t>4</a:t>
            </a:r>
          </a:p>
        </p:txBody>
      </p:sp>
      <p:sp>
        <p:nvSpPr>
          <p:cNvPr id="64" name="TextBox 63">
            <a:extLst>
              <a:ext uri="{FF2B5EF4-FFF2-40B4-BE49-F238E27FC236}">
                <a16:creationId xmlns:a16="http://schemas.microsoft.com/office/drawing/2014/main" id="{3F85649D-C2AF-15C4-33BB-7F94B143C46A}"/>
              </a:ext>
            </a:extLst>
          </p:cNvPr>
          <p:cNvSpPr txBox="1"/>
          <p:nvPr/>
        </p:nvSpPr>
        <p:spPr>
          <a:xfrm>
            <a:off x="4650278" y="4430006"/>
            <a:ext cx="260008" cy="261610"/>
          </a:xfrm>
          <a:prstGeom prst="rect">
            <a:avLst/>
          </a:prstGeom>
          <a:noFill/>
        </p:spPr>
        <p:txBody>
          <a:bodyPr wrap="none" rtlCol="0">
            <a:spAutoFit/>
          </a:bodyPr>
          <a:lstStyle/>
          <a:p>
            <a:r>
              <a:rPr lang="en-US" sz="1100" dirty="0"/>
              <a:t>3</a:t>
            </a:r>
          </a:p>
        </p:txBody>
      </p:sp>
      <p:sp>
        <p:nvSpPr>
          <p:cNvPr id="65" name="TextBox 64">
            <a:extLst>
              <a:ext uri="{FF2B5EF4-FFF2-40B4-BE49-F238E27FC236}">
                <a16:creationId xmlns:a16="http://schemas.microsoft.com/office/drawing/2014/main" id="{3A93AF3F-FBD5-D827-7EA1-8FC53E90B5CE}"/>
              </a:ext>
            </a:extLst>
          </p:cNvPr>
          <p:cNvSpPr txBox="1"/>
          <p:nvPr/>
        </p:nvSpPr>
        <p:spPr>
          <a:xfrm>
            <a:off x="5109066" y="4430006"/>
            <a:ext cx="260008" cy="261610"/>
          </a:xfrm>
          <a:prstGeom prst="rect">
            <a:avLst/>
          </a:prstGeom>
          <a:noFill/>
        </p:spPr>
        <p:txBody>
          <a:bodyPr wrap="none" rtlCol="0">
            <a:spAutoFit/>
          </a:bodyPr>
          <a:lstStyle/>
          <a:p>
            <a:r>
              <a:rPr lang="en-US" sz="1100" dirty="0"/>
              <a:t>2</a:t>
            </a:r>
          </a:p>
        </p:txBody>
      </p:sp>
      <p:sp>
        <p:nvSpPr>
          <p:cNvPr id="66" name="TextBox 65">
            <a:extLst>
              <a:ext uri="{FF2B5EF4-FFF2-40B4-BE49-F238E27FC236}">
                <a16:creationId xmlns:a16="http://schemas.microsoft.com/office/drawing/2014/main" id="{7C538B3F-ABA3-11A0-ECFA-D8ECB29EFA17}"/>
              </a:ext>
            </a:extLst>
          </p:cNvPr>
          <p:cNvSpPr txBox="1"/>
          <p:nvPr/>
        </p:nvSpPr>
        <p:spPr>
          <a:xfrm>
            <a:off x="5817216" y="4428433"/>
            <a:ext cx="260008" cy="261610"/>
          </a:xfrm>
          <a:prstGeom prst="rect">
            <a:avLst/>
          </a:prstGeom>
          <a:noFill/>
        </p:spPr>
        <p:txBody>
          <a:bodyPr wrap="none" rtlCol="0">
            <a:spAutoFit/>
          </a:bodyPr>
          <a:lstStyle/>
          <a:p>
            <a:r>
              <a:rPr lang="en-US" sz="1100" dirty="0"/>
              <a:t>1</a:t>
            </a:r>
          </a:p>
        </p:txBody>
      </p:sp>
      <p:sp>
        <p:nvSpPr>
          <p:cNvPr id="67" name="Oval 66">
            <a:extLst>
              <a:ext uri="{FF2B5EF4-FFF2-40B4-BE49-F238E27FC236}">
                <a16:creationId xmlns:a16="http://schemas.microsoft.com/office/drawing/2014/main" id="{C8634A12-BC91-8EC5-2F72-594D4C1BA6D6}"/>
              </a:ext>
            </a:extLst>
          </p:cNvPr>
          <p:cNvSpPr/>
          <p:nvPr/>
        </p:nvSpPr>
        <p:spPr>
          <a:xfrm>
            <a:off x="7131763" y="4395809"/>
            <a:ext cx="96963" cy="8883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Arrow Connector 67">
            <a:extLst>
              <a:ext uri="{FF2B5EF4-FFF2-40B4-BE49-F238E27FC236}">
                <a16:creationId xmlns:a16="http://schemas.microsoft.com/office/drawing/2014/main" id="{0C399D43-3F1C-D0C6-E325-7456DFAA2CEB}"/>
              </a:ext>
            </a:extLst>
          </p:cNvPr>
          <p:cNvCxnSpPr>
            <a:cxnSpLocks/>
          </p:cNvCxnSpPr>
          <p:nvPr/>
        </p:nvCxnSpPr>
        <p:spPr>
          <a:xfrm flipV="1">
            <a:off x="7182799" y="3912542"/>
            <a:ext cx="0" cy="483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2B06D4BC-834B-AD33-35F4-5666653E1FA6}"/>
              </a:ext>
            </a:extLst>
          </p:cNvPr>
          <p:cNvCxnSpPr>
            <a:cxnSpLocks/>
          </p:cNvCxnSpPr>
          <p:nvPr/>
        </p:nvCxnSpPr>
        <p:spPr>
          <a:xfrm>
            <a:off x="7182818" y="4491496"/>
            <a:ext cx="0" cy="483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D26CF951-AF27-9802-B63C-E2917C309C1E}"/>
              </a:ext>
            </a:extLst>
          </p:cNvPr>
          <p:cNvCxnSpPr>
            <a:cxnSpLocks/>
          </p:cNvCxnSpPr>
          <p:nvPr/>
        </p:nvCxnSpPr>
        <p:spPr>
          <a:xfrm>
            <a:off x="7236449" y="4440797"/>
            <a:ext cx="41372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28FD53BB-32EA-702F-0E71-378FECEC209C}"/>
              </a:ext>
            </a:extLst>
          </p:cNvPr>
          <p:cNvSpPr txBox="1"/>
          <p:nvPr/>
        </p:nvSpPr>
        <p:spPr>
          <a:xfrm>
            <a:off x="7180244" y="3761761"/>
            <a:ext cx="726481" cy="261610"/>
          </a:xfrm>
          <a:prstGeom prst="rect">
            <a:avLst/>
          </a:prstGeom>
          <a:noFill/>
        </p:spPr>
        <p:txBody>
          <a:bodyPr wrap="none" rtlCol="0">
            <a:spAutoFit/>
          </a:bodyPr>
          <a:lstStyle/>
          <a:p>
            <a:r>
              <a:rPr lang="en-US" sz="1100" dirty="0"/>
              <a:t>F</a:t>
            </a:r>
            <a:r>
              <a:rPr lang="en-US" sz="1100" baseline="-25000" dirty="0"/>
              <a:t>N </a:t>
            </a:r>
            <a:r>
              <a:rPr lang="en-US" sz="1100" dirty="0"/>
              <a:t>= 12 N</a:t>
            </a:r>
          </a:p>
        </p:txBody>
      </p:sp>
      <p:sp>
        <p:nvSpPr>
          <p:cNvPr id="76" name="TextBox 75">
            <a:extLst>
              <a:ext uri="{FF2B5EF4-FFF2-40B4-BE49-F238E27FC236}">
                <a16:creationId xmlns:a16="http://schemas.microsoft.com/office/drawing/2014/main" id="{2B940823-664C-BBE1-3AAD-F4B5A4D7B562}"/>
              </a:ext>
            </a:extLst>
          </p:cNvPr>
          <p:cNvSpPr txBox="1"/>
          <p:nvPr/>
        </p:nvSpPr>
        <p:spPr>
          <a:xfrm>
            <a:off x="7180243" y="4856810"/>
            <a:ext cx="697627" cy="261610"/>
          </a:xfrm>
          <a:prstGeom prst="rect">
            <a:avLst/>
          </a:prstGeom>
          <a:noFill/>
        </p:spPr>
        <p:txBody>
          <a:bodyPr wrap="none" rtlCol="0">
            <a:spAutoFit/>
          </a:bodyPr>
          <a:lstStyle/>
          <a:p>
            <a:r>
              <a:rPr lang="en-US" sz="1100" dirty="0"/>
              <a:t>w = 12 N</a:t>
            </a:r>
          </a:p>
        </p:txBody>
      </p:sp>
      <p:sp>
        <p:nvSpPr>
          <p:cNvPr id="77" name="TextBox 76">
            <a:extLst>
              <a:ext uri="{FF2B5EF4-FFF2-40B4-BE49-F238E27FC236}">
                <a16:creationId xmlns:a16="http://schemas.microsoft.com/office/drawing/2014/main" id="{2CA9EF4D-E4C9-D7F6-C377-C32A6B0D69E1}"/>
              </a:ext>
            </a:extLst>
          </p:cNvPr>
          <p:cNvSpPr txBox="1"/>
          <p:nvPr/>
        </p:nvSpPr>
        <p:spPr>
          <a:xfrm>
            <a:off x="7468708" y="4154175"/>
            <a:ext cx="676788" cy="261610"/>
          </a:xfrm>
          <a:prstGeom prst="rect">
            <a:avLst/>
          </a:prstGeom>
          <a:noFill/>
        </p:spPr>
        <p:txBody>
          <a:bodyPr wrap="none" rtlCol="0">
            <a:spAutoFit/>
          </a:bodyPr>
          <a:lstStyle/>
          <a:p>
            <a:r>
              <a:rPr lang="en-US" sz="1100" dirty="0" err="1"/>
              <a:t>f</a:t>
            </a:r>
            <a:r>
              <a:rPr lang="en-US" sz="1100" baseline="-25000" dirty="0" err="1"/>
              <a:t>k</a:t>
            </a:r>
            <a:r>
              <a:rPr lang="en-US" sz="1100" baseline="-25000" dirty="0"/>
              <a:t> </a:t>
            </a:r>
            <a:r>
              <a:rPr lang="en-US" sz="1100" dirty="0"/>
              <a:t>= 10 N</a:t>
            </a:r>
          </a:p>
        </p:txBody>
      </p:sp>
      <p:sp>
        <p:nvSpPr>
          <p:cNvPr id="80" name="TextBox 79">
            <a:extLst>
              <a:ext uri="{FF2B5EF4-FFF2-40B4-BE49-F238E27FC236}">
                <a16:creationId xmlns:a16="http://schemas.microsoft.com/office/drawing/2014/main" id="{9FF43061-C1F9-5C90-2B03-B4190396C56E}"/>
              </a:ext>
            </a:extLst>
          </p:cNvPr>
          <p:cNvSpPr txBox="1"/>
          <p:nvPr/>
        </p:nvSpPr>
        <p:spPr>
          <a:xfrm>
            <a:off x="309993" y="6324206"/>
            <a:ext cx="604653" cy="261610"/>
          </a:xfrm>
          <a:prstGeom prst="rect">
            <a:avLst/>
          </a:prstGeom>
          <a:noFill/>
        </p:spPr>
        <p:txBody>
          <a:bodyPr wrap="none" rtlCol="0">
            <a:spAutoFit/>
          </a:bodyPr>
          <a:lstStyle/>
          <a:p>
            <a:r>
              <a:rPr lang="en-US" sz="1100" dirty="0"/>
              <a:t>Case 6</a:t>
            </a:r>
          </a:p>
        </p:txBody>
      </p:sp>
      <p:sp>
        <p:nvSpPr>
          <p:cNvPr id="2" name="Rectangle 1">
            <a:extLst>
              <a:ext uri="{FF2B5EF4-FFF2-40B4-BE49-F238E27FC236}">
                <a16:creationId xmlns:a16="http://schemas.microsoft.com/office/drawing/2014/main" id="{97AD9CA2-F1C5-75E5-3AB7-4C24E28B4A4D}"/>
              </a:ext>
            </a:extLst>
          </p:cNvPr>
          <p:cNvSpPr/>
          <p:nvPr/>
        </p:nvSpPr>
        <p:spPr>
          <a:xfrm>
            <a:off x="207995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 name="Rectangle 3">
            <a:extLst>
              <a:ext uri="{FF2B5EF4-FFF2-40B4-BE49-F238E27FC236}">
                <a16:creationId xmlns:a16="http://schemas.microsoft.com/office/drawing/2014/main" id="{B5D113BE-89CD-2710-B2A3-C1FA9611A806}"/>
              </a:ext>
            </a:extLst>
          </p:cNvPr>
          <p:cNvSpPr/>
          <p:nvPr/>
        </p:nvSpPr>
        <p:spPr>
          <a:xfrm>
            <a:off x="415887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0" name="Rectangle 29">
            <a:extLst>
              <a:ext uri="{FF2B5EF4-FFF2-40B4-BE49-F238E27FC236}">
                <a16:creationId xmlns:a16="http://schemas.microsoft.com/office/drawing/2014/main" id="{9EF80214-4C1B-C277-10E5-D5DA46400010}"/>
              </a:ext>
            </a:extLst>
          </p:cNvPr>
          <p:cNvSpPr/>
          <p:nvPr/>
        </p:nvSpPr>
        <p:spPr>
          <a:xfrm>
            <a:off x="9560"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3" name="Rectangle 42">
            <a:extLst>
              <a:ext uri="{FF2B5EF4-FFF2-40B4-BE49-F238E27FC236}">
                <a16:creationId xmlns:a16="http://schemas.microsoft.com/office/drawing/2014/main" id="{F2415DC8-4F9A-2BF9-602F-F12C3E763D7C}"/>
              </a:ext>
            </a:extLst>
          </p:cNvPr>
          <p:cNvSpPr/>
          <p:nvPr/>
        </p:nvSpPr>
        <p:spPr>
          <a:xfrm>
            <a:off x="2079956"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4" name="Rectangle 43">
            <a:extLst>
              <a:ext uri="{FF2B5EF4-FFF2-40B4-BE49-F238E27FC236}">
                <a16:creationId xmlns:a16="http://schemas.microsoft.com/office/drawing/2014/main" id="{CB4A490B-95BA-9393-503A-3E045164B26A}"/>
              </a:ext>
            </a:extLst>
          </p:cNvPr>
          <p:cNvSpPr/>
          <p:nvPr/>
        </p:nvSpPr>
        <p:spPr>
          <a:xfrm>
            <a:off x="4158876"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5" name="Rectangle 44">
            <a:extLst>
              <a:ext uri="{FF2B5EF4-FFF2-40B4-BE49-F238E27FC236}">
                <a16:creationId xmlns:a16="http://schemas.microsoft.com/office/drawing/2014/main" id="{0F92A1A3-16CC-06C2-EC3D-A3B159FE1496}"/>
              </a:ext>
            </a:extLst>
          </p:cNvPr>
          <p:cNvSpPr/>
          <p:nvPr/>
        </p:nvSpPr>
        <p:spPr>
          <a:xfrm>
            <a:off x="6226082" y="2955663"/>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7" name="Rectangle 16">
            <a:extLst>
              <a:ext uri="{FF2B5EF4-FFF2-40B4-BE49-F238E27FC236}">
                <a16:creationId xmlns:a16="http://schemas.microsoft.com/office/drawing/2014/main" id="{70A46E6A-4DD3-DDD4-1AE3-7D03AD043E40}"/>
              </a:ext>
            </a:extLst>
          </p:cNvPr>
          <p:cNvSpPr/>
          <p:nvPr/>
        </p:nvSpPr>
        <p:spPr>
          <a:xfrm>
            <a:off x="-1950" y="0"/>
            <a:ext cx="2087925" cy="25205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 vs t graph</a:t>
            </a:r>
          </a:p>
        </p:txBody>
      </p:sp>
      <p:sp>
        <p:nvSpPr>
          <p:cNvPr id="19" name="Rectangle 18">
            <a:extLst>
              <a:ext uri="{FF2B5EF4-FFF2-40B4-BE49-F238E27FC236}">
                <a16:creationId xmlns:a16="http://schemas.microsoft.com/office/drawing/2014/main" id="{7D36735E-BE4A-EF82-B1D5-794D917ED6B1}"/>
              </a:ext>
            </a:extLst>
          </p:cNvPr>
          <p:cNvSpPr/>
          <p:nvPr/>
        </p:nvSpPr>
        <p:spPr>
          <a:xfrm>
            <a:off x="2083595" y="374"/>
            <a:ext cx="2076450" cy="252056"/>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v vs t graph</a:t>
            </a:r>
          </a:p>
        </p:txBody>
      </p:sp>
      <p:sp>
        <p:nvSpPr>
          <p:cNvPr id="20" name="Rectangle 19">
            <a:extLst>
              <a:ext uri="{FF2B5EF4-FFF2-40B4-BE49-F238E27FC236}">
                <a16:creationId xmlns:a16="http://schemas.microsoft.com/office/drawing/2014/main" id="{D7280793-40DB-A695-91B2-A89FA71669DF}"/>
              </a:ext>
            </a:extLst>
          </p:cNvPr>
          <p:cNvSpPr/>
          <p:nvPr/>
        </p:nvSpPr>
        <p:spPr>
          <a:xfrm>
            <a:off x="4160044" y="202"/>
            <a:ext cx="2074563" cy="252056"/>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 vs t graph</a:t>
            </a:r>
          </a:p>
        </p:txBody>
      </p:sp>
      <p:sp>
        <p:nvSpPr>
          <p:cNvPr id="47" name="Rectangle 46">
            <a:extLst>
              <a:ext uri="{FF2B5EF4-FFF2-40B4-BE49-F238E27FC236}">
                <a16:creationId xmlns:a16="http://schemas.microsoft.com/office/drawing/2014/main" id="{B21C82F5-6610-4AD9-4F0E-E6BA9183021B}"/>
              </a:ext>
            </a:extLst>
          </p:cNvPr>
          <p:cNvSpPr/>
          <p:nvPr/>
        </p:nvSpPr>
        <p:spPr>
          <a:xfrm>
            <a:off x="0" y="2959172"/>
            <a:ext cx="2088480" cy="252056"/>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Velocity</a:t>
            </a:r>
          </a:p>
        </p:txBody>
      </p:sp>
      <p:sp>
        <p:nvSpPr>
          <p:cNvPr id="48" name="Rectangle 47">
            <a:extLst>
              <a:ext uri="{FF2B5EF4-FFF2-40B4-BE49-F238E27FC236}">
                <a16:creationId xmlns:a16="http://schemas.microsoft.com/office/drawing/2014/main" id="{0AA83415-FFBA-1E3F-4500-98055F1E7D36}"/>
              </a:ext>
            </a:extLst>
          </p:cNvPr>
          <p:cNvSpPr/>
          <p:nvPr/>
        </p:nvSpPr>
        <p:spPr>
          <a:xfrm>
            <a:off x="2081269" y="2960748"/>
            <a:ext cx="2077606" cy="252056"/>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Acceleration</a:t>
            </a:r>
          </a:p>
        </p:txBody>
      </p:sp>
      <p:sp>
        <p:nvSpPr>
          <p:cNvPr id="52" name="Rectangle 51">
            <a:extLst>
              <a:ext uri="{FF2B5EF4-FFF2-40B4-BE49-F238E27FC236}">
                <a16:creationId xmlns:a16="http://schemas.microsoft.com/office/drawing/2014/main" id="{3D7AEC56-4213-D049-77E9-4DCCA37A844E}"/>
              </a:ext>
            </a:extLst>
          </p:cNvPr>
          <p:cNvSpPr/>
          <p:nvPr/>
        </p:nvSpPr>
        <p:spPr>
          <a:xfrm>
            <a:off x="4158875" y="2959073"/>
            <a:ext cx="2076986" cy="25205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Motion diagram</a:t>
            </a:r>
          </a:p>
        </p:txBody>
      </p:sp>
      <p:sp>
        <p:nvSpPr>
          <p:cNvPr id="54" name="Rectangle 53">
            <a:extLst>
              <a:ext uri="{FF2B5EF4-FFF2-40B4-BE49-F238E27FC236}">
                <a16:creationId xmlns:a16="http://schemas.microsoft.com/office/drawing/2014/main" id="{7C57BCB3-B555-1144-9C4F-CCB1B29AF21E}"/>
              </a:ext>
            </a:extLst>
          </p:cNvPr>
          <p:cNvSpPr/>
          <p:nvPr/>
        </p:nvSpPr>
        <p:spPr>
          <a:xfrm>
            <a:off x="6236557" y="2959073"/>
            <a:ext cx="2068598" cy="252056"/>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Free Body Diagram</a:t>
            </a:r>
          </a:p>
        </p:txBody>
      </p:sp>
      <p:cxnSp>
        <p:nvCxnSpPr>
          <p:cNvPr id="8" name="Straight Connector 7">
            <a:extLst>
              <a:ext uri="{FF2B5EF4-FFF2-40B4-BE49-F238E27FC236}">
                <a16:creationId xmlns:a16="http://schemas.microsoft.com/office/drawing/2014/main" id="{94554059-0B21-57AE-4530-8A6D989886F1}"/>
              </a:ext>
            </a:extLst>
          </p:cNvPr>
          <p:cNvCxnSpPr>
            <a:cxnSpLocks/>
          </p:cNvCxnSpPr>
          <p:nvPr/>
        </p:nvCxnSpPr>
        <p:spPr>
          <a:xfrm flipV="1">
            <a:off x="2422641" y="1673334"/>
            <a:ext cx="1332266" cy="400015"/>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sp>
        <p:nvSpPr>
          <p:cNvPr id="29" name="Freeform: Shape 28">
            <a:extLst>
              <a:ext uri="{FF2B5EF4-FFF2-40B4-BE49-F238E27FC236}">
                <a16:creationId xmlns:a16="http://schemas.microsoft.com/office/drawing/2014/main" id="{D9A1F1B8-FE36-704E-DBA0-97DE730A1B1F}"/>
              </a:ext>
            </a:extLst>
          </p:cNvPr>
          <p:cNvSpPr/>
          <p:nvPr/>
        </p:nvSpPr>
        <p:spPr>
          <a:xfrm flipH="1">
            <a:off x="368813" y="1541251"/>
            <a:ext cx="1481666" cy="691737"/>
          </a:xfrm>
          <a:custGeom>
            <a:avLst/>
            <a:gdLst>
              <a:gd name="connsiteX0" fmla="*/ 0 w 3704253"/>
              <a:gd name="connsiteY0" fmla="*/ 1800808 h 1800808"/>
              <a:gd name="connsiteX1" fmla="*/ 737119 w 3704253"/>
              <a:gd name="connsiteY1" fmla="*/ 1716832 h 1800808"/>
              <a:gd name="connsiteX2" fmla="*/ 1492898 w 3704253"/>
              <a:gd name="connsiteY2" fmla="*/ 1492898 h 1800808"/>
              <a:gd name="connsiteX3" fmla="*/ 2239347 w 3704253"/>
              <a:gd name="connsiteY3" fmla="*/ 1147665 h 1800808"/>
              <a:gd name="connsiteX4" fmla="*/ 2976466 w 3704253"/>
              <a:gd name="connsiteY4" fmla="*/ 653142 h 1800808"/>
              <a:gd name="connsiteX5" fmla="*/ 3704253 w 3704253"/>
              <a:gd name="connsiteY5" fmla="*/ 0 h 1800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4253" h="1800808">
                <a:moveTo>
                  <a:pt x="0" y="1800808"/>
                </a:moveTo>
                <a:cubicBezTo>
                  <a:pt x="244151" y="1784479"/>
                  <a:pt x="488303" y="1768150"/>
                  <a:pt x="737119" y="1716832"/>
                </a:cubicBezTo>
                <a:cubicBezTo>
                  <a:pt x="985935" y="1665514"/>
                  <a:pt x="1242527" y="1587759"/>
                  <a:pt x="1492898" y="1492898"/>
                </a:cubicBezTo>
                <a:cubicBezTo>
                  <a:pt x="1743269" y="1398037"/>
                  <a:pt x="1992086" y="1287624"/>
                  <a:pt x="2239347" y="1147665"/>
                </a:cubicBezTo>
                <a:cubicBezTo>
                  <a:pt x="2486608" y="1007706"/>
                  <a:pt x="2732315" y="844419"/>
                  <a:pt x="2976466" y="653142"/>
                </a:cubicBezTo>
                <a:cubicBezTo>
                  <a:pt x="3220617" y="461865"/>
                  <a:pt x="3462435" y="230932"/>
                  <a:pt x="3704253" y="0"/>
                </a:cubicBezTo>
              </a:path>
            </a:pathLst>
          </a:cu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D8A3D0E-EFDD-0551-8353-B124045248C3}"/>
              </a:ext>
            </a:extLst>
          </p:cNvPr>
          <p:cNvSpPr/>
          <p:nvPr/>
        </p:nvSpPr>
        <p:spPr>
          <a:xfrm>
            <a:off x="6226082" y="-7609"/>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28" name="TextBox 27">
            <a:extLst>
              <a:ext uri="{FF2B5EF4-FFF2-40B4-BE49-F238E27FC236}">
                <a16:creationId xmlns:a16="http://schemas.microsoft.com/office/drawing/2014/main" id="{5987C5B7-749B-4287-1FDA-7F02C011B6EB}"/>
              </a:ext>
            </a:extLst>
          </p:cNvPr>
          <p:cNvSpPr txBox="1"/>
          <p:nvPr/>
        </p:nvSpPr>
        <p:spPr>
          <a:xfrm>
            <a:off x="6274014" y="1250290"/>
            <a:ext cx="2169169" cy="923330"/>
          </a:xfrm>
          <a:prstGeom prst="rect">
            <a:avLst/>
          </a:prstGeom>
          <a:noFill/>
        </p:spPr>
        <p:txBody>
          <a:bodyPr wrap="square" rtlCol="0">
            <a:spAutoFit/>
          </a:bodyPr>
          <a:lstStyle/>
          <a:p>
            <a:pPr algn="ctr"/>
            <a:r>
              <a:rPr lang="en-US" sz="1400" dirty="0"/>
              <a:t>Object moving in the </a:t>
            </a:r>
            <a:r>
              <a:rPr lang="en-US" sz="1400" b="1" dirty="0"/>
              <a:t>negative</a:t>
            </a:r>
            <a:r>
              <a:rPr lang="en-US" sz="1400" dirty="0"/>
              <a:t> direction at </a:t>
            </a:r>
            <a:r>
              <a:rPr lang="en-US" sz="1400" dirty="0">
                <a:solidFill>
                  <a:srgbClr val="C00000"/>
                </a:solidFill>
              </a:rPr>
              <a:t>decreasing</a:t>
            </a:r>
            <a:r>
              <a:rPr lang="en-US" sz="1400" dirty="0"/>
              <a:t> speed</a:t>
            </a:r>
          </a:p>
          <a:p>
            <a:pPr marL="169863" indent="-169863" algn="ctr">
              <a:buFont typeface="+mj-lt"/>
              <a:buAutoNum type="arabicParenR"/>
            </a:pPr>
            <a:endParaRPr lang="en-US" sz="600" dirty="0"/>
          </a:p>
          <a:p>
            <a:pPr algn="ctr"/>
            <a:endParaRPr lang="en-US" sz="600" dirty="0"/>
          </a:p>
        </p:txBody>
      </p:sp>
      <p:sp>
        <p:nvSpPr>
          <p:cNvPr id="36" name="Arrow: Pentagon 35">
            <a:extLst>
              <a:ext uri="{FF2B5EF4-FFF2-40B4-BE49-F238E27FC236}">
                <a16:creationId xmlns:a16="http://schemas.microsoft.com/office/drawing/2014/main" id="{6866F1F5-D2F6-F063-7A27-368C6A51FDB4}"/>
              </a:ext>
            </a:extLst>
          </p:cNvPr>
          <p:cNvSpPr/>
          <p:nvPr/>
        </p:nvSpPr>
        <p:spPr>
          <a:xfrm rot="10800000" flipV="1">
            <a:off x="6585456" y="452548"/>
            <a:ext cx="1443174" cy="338553"/>
          </a:xfrm>
          <a:prstGeom prst="homePlat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Scenario</a:t>
            </a:r>
            <a:r>
              <a:rPr lang="en-US" b="1" dirty="0"/>
              <a:t> 6</a:t>
            </a:r>
          </a:p>
        </p:txBody>
      </p:sp>
      <p:sp>
        <p:nvSpPr>
          <p:cNvPr id="42" name="Diagonal Stripe 41">
            <a:extLst>
              <a:ext uri="{FF2B5EF4-FFF2-40B4-BE49-F238E27FC236}">
                <a16:creationId xmlns:a16="http://schemas.microsoft.com/office/drawing/2014/main" id="{0A5E5AEE-1FF0-4E1D-32FB-6F13A1B247F8}"/>
              </a:ext>
            </a:extLst>
          </p:cNvPr>
          <p:cNvSpPr/>
          <p:nvPr/>
        </p:nvSpPr>
        <p:spPr>
          <a:xfrm>
            <a:off x="6247969" y="0"/>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6" name="Diagonal Stripe 55">
            <a:extLst>
              <a:ext uri="{FF2B5EF4-FFF2-40B4-BE49-F238E27FC236}">
                <a16:creationId xmlns:a16="http://schemas.microsoft.com/office/drawing/2014/main" id="{C26CC87A-30F5-A7E1-F562-4668CEE16CF3}"/>
              </a:ext>
            </a:extLst>
          </p:cNvPr>
          <p:cNvSpPr/>
          <p:nvPr/>
        </p:nvSpPr>
        <p:spPr>
          <a:xfrm rot="10800000">
            <a:off x="7717891" y="2367056"/>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8" name="TextBox 57">
            <a:extLst>
              <a:ext uri="{FF2B5EF4-FFF2-40B4-BE49-F238E27FC236}">
                <a16:creationId xmlns:a16="http://schemas.microsoft.com/office/drawing/2014/main" id="{EF7FEED8-D0F3-F209-9317-E8C7F2FFCA0B}"/>
              </a:ext>
            </a:extLst>
          </p:cNvPr>
          <p:cNvSpPr txBox="1"/>
          <p:nvPr/>
        </p:nvSpPr>
        <p:spPr>
          <a:xfrm>
            <a:off x="6622921" y="2381869"/>
            <a:ext cx="1294640" cy="430887"/>
          </a:xfrm>
          <a:prstGeom prst="rect">
            <a:avLst/>
          </a:prstGeom>
          <a:noFill/>
        </p:spPr>
        <p:txBody>
          <a:bodyPr wrap="square" rtlCol="0">
            <a:spAutoFit/>
          </a:bodyPr>
          <a:lstStyle/>
          <a:p>
            <a:pPr algn="ctr"/>
            <a:r>
              <a:rPr lang="en-US" sz="1100" dirty="0"/>
              <a:t>Answer key on reverse side</a:t>
            </a:r>
          </a:p>
        </p:txBody>
      </p:sp>
      <p:sp>
        <p:nvSpPr>
          <p:cNvPr id="59" name="TextBox 58">
            <a:extLst>
              <a:ext uri="{FF2B5EF4-FFF2-40B4-BE49-F238E27FC236}">
                <a16:creationId xmlns:a16="http://schemas.microsoft.com/office/drawing/2014/main" id="{059DD8BB-E2B4-6E1B-134C-E9B696E82B7D}"/>
              </a:ext>
            </a:extLst>
          </p:cNvPr>
          <p:cNvSpPr txBox="1"/>
          <p:nvPr/>
        </p:nvSpPr>
        <p:spPr>
          <a:xfrm>
            <a:off x="68492" y="2575731"/>
            <a:ext cx="662361" cy="261610"/>
          </a:xfrm>
          <a:prstGeom prst="rect">
            <a:avLst/>
          </a:prstGeom>
          <a:noFill/>
        </p:spPr>
        <p:txBody>
          <a:bodyPr wrap="none" rtlCol="0">
            <a:spAutoFit/>
          </a:bodyPr>
          <a:lstStyle/>
          <a:p>
            <a:r>
              <a:rPr lang="en-US" sz="1100" dirty="0"/>
              <a:t>Card 14</a:t>
            </a:r>
          </a:p>
        </p:txBody>
      </p:sp>
      <p:sp>
        <p:nvSpPr>
          <p:cNvPr id="60" name="TextBox 59">
            <a:extLst>
              <a:ext uri="{FF2B5EF4-FFF2-40B4-BE49-F238E27FC236}">
                <a16:creationId xmlns:a16="http://schemas.microsoft.com/office/drawing/2014/main" id="{1B996E10-E787-7CC2-3A4D-66AE5340542B}"/>
              </a:ext>
            </a:extLst>
          </p:cNvPr>
          <p:cNvSpPr txBox="1"/>
          <p:nvPr/>
        </p:nvSpPr>
        <p:spPr>
          <a:xfrm>
            <a:off x="68492" y="5557769"/>
            <a:ext cx="587020" cy="261610"/>
          </a:xfrm>
          <a:prstGeom prst="rect">
            <a:avLst/>
          </a:prstGeom>
          <a:noFill/>
        </p:spPr>
        <p:txBody>
          <a:bodyPr wrap="none" rtlCol="0">
            <a:spAutoFit/>
          </a:bodyPr>
          <a:lstStyle/>
          <a:p>
            <a:r>
              <a:rPr lang="en-US" sz="1100" dirty="0"/>
              <a:t>Card 7</a:t>
            </a:r>
          </a:p>
        </p:txBody>
      </p:sp>
      <p:sp>
        <p:nvSpPr>
          <p:cNvPr id="61" name="TextBox 60">
            <a:extLst>
              <a:ext uri="{FF2B5EF4-FFF2-40B4-BE49-F238E27FC236}">
                <a16:creationId xmlns:a16="http://schemas.microsoft.com/office/drawing/2014/main" id="{BAB2C99B-F6B9-59C9-701C-C86795B36C74}"/>
              </a:ext>
            </a:extLst>
          </p:cNvPr>
          <p:cNvSpPr txBox="1"/>
          <p:nvPr/>
        </p:nvSpPr>
        <p:spPr>
          <a:xfrm>
            <a:off x="2210492" y="5556245"/>
            <a:ext cx="662361" cy="261610"/>
          </a:xfrm>
          <a:prstGeom prst="rect">
            <a:avLst/>
          </a:prstGeom>
          <a:noFill/>
        </p:spPr>
        <p:txBody>
          <a:bodyPr wrap="none" rtlCol="0">
            <a:spAutoFit/>
          </a:bodyPr>
          <a:lstStyle/>
          <a:p>
            <a:r>
              <a:rPr lang="en-US" sz="1100" dirty="0"/>
              <a:t>Card 11</a:t>
            </a:r>
          </a:p>
        </p:txBody>
      </p:sp>
      <p:sp>
        <p:nvSpPr>
          <p:cNvPr id="62" name="TextBox 61">
            <a:extLst>
              <a:ext uri="{FF2B5EF4-FFF2-40B4-BE49-F238E27FC236}">
                <a16:creationId xmlns:a16="http://schemas.microsoft.com/office/drawing/2014/main" id="{E4C69695-5BFC-6A18-3DCC-A63FA9684186}"/>
              </a:ext>
            </a:extLst>
          </p:cNvPr>
          <p:cNvSpPr txBox="1"/>
          <p:nvPr/>
        </p:nvSpPr>
        <p:spPr>
          <a:xfrm>
            <a:off x="2153694" y="2610998"/>
            <a:ext cx="662361" cy="261610"/>
          </a:xfrm>
          <a:prstGeom prst="rect">
            <a:avLst/>
          </a:prstGeom>
          <a:noFill/>
        </p:spPr>
        <p:txBody>
          <a:bodyPr wrap="none" rtlCol="0">
            <a:spAutoFit/>
          </a:bodyPr>
          <a:lstStyle/>
          <a:p>
            <a:r>
              <a:rPr lang="en-US" sz="1100" dirty="0"/>
              <a:t>Card 21</a:t>
            </a:r>
          </a:p>
        </p:txBody>
      </p:sp>
      <p:sp>
        <p:nvSpPr>
          <p:cNvPr id="69" name="TextBox 68">
            <a:extLst>
              <a:ext uri="{FF2B5EF4-FFF2-40B4-BE49-F238E27FC236}">
                <a16:creationId xmlns:a16="http://schemas.microsoft.com/office/drawing/2014/main" id="{8A9BED72-2C19-CEA0-FA94-40A4F1D304D1}"/>
              </a:ext>
            </a:extLst>
          </p:cNvPr>
          <p:cNvSpPr txBox="1"/>
          <p:nvPr/>
        </p:nvSpPr>
        <p:spPr>
          <a:xfrm>
            <a:off x="4256608" y="2645428"/>
            <a:ext cx="662361" cy="261610"/>
          </a:xfrm>
          <a:prstGeom prst="rect">
            <a:avLst/>
          </a:prstGeom>
          <a:noFill/>
        </p:spPr>
        <p:txBody>
          <a:bodyPr wrap="none" rtlCol="0">
            <a:spAutoFit/>
          </a:bodyPr>
          <a:lstStyle/>
          <a:p>
            <a:r>
              <a:rPr lang="en-US" sz="1100" dirty="0"/>
              <a:t>Card 24</a:t>
            </a:r>
          </a:p>
        </p:txBody>
      </p:sp>
      <p:sp>
        <p:nvSpPr>
          <p:cNvPr id="71" name="TextBox 70">
            <a:extLst>
              <a:ext uri="{FF2B5EF4-FFF2-40B4-BE49-F238E27FC236}">
                <a16:creationId xmlns:a16="http://schemas.microsoft.com/office/drawing/2014/main" id="{16CCBD3F-1BF5-3B17-1AF0-0B6422386CC5}"/>
              </a:ext>
            </a:extLst>
          </p:cNvPr>
          <p:cNvSpPr txBox="1"/>
          <p:nvPr/>
        </p:nvSpPr>
        <p:spPr>
          <a:xfrm>
            <a:off x="4301001" y="5556245"/>
            <a:ext cx="587020" cy="261610"/>
          </a:xfrm>
          <a:prstGeom prst="rect">
            <a:avLst/>
          </a:prstGeom>
          <a:noFill/>
        </p:spPr>
        <p:txBody>
          <a:bodyPr wrap="none" rtlCol="0">
            <a:spAutoFit/>
          </a:bodyPr>
          <a:lstStyle/>
          <a:p>
            <a:r>
              <a:rPr lang="en-US" sz="1100" dirty="0"/>
              <a:t>Card 4</a:t>
            </a:r>
          </a:p>
        </p:txBody>
      </p:sp>
      <p:sp>
        <p:nvSpPr>
          <p:cNvPr id="72" name="TextBox 71">
            <a:extLst>
              <a:ext uri="{FF2B5EF4-FFF2-40B4-BE49-F238E27FC236}">
                <a16:creationId xmlns:a16="http://schemas.microsoft.com/office/drawing/2014/main" id="{21DBA723-CFA2-4260-06CD-C30886AD09B3}"/>
              </a:ext>
            </a:extLst>
          </p:cNvPr>
          <p:cNvSpPr txBox="1"/>
          <p:nvPr/>
        </p:nvSpPr>
        <p:spPr>
          <a:xfrm>
            <a:off x="6330238" y="5552036"/>
            <a:ext cx="662361" cy="261610"/>
          </a:xfrm>
          <a:prstGeom prst="rect">
            <a:avLst/>
          </a:prstGeom>
          <a:noFill/>
        </p:spPr>
        <p:txBody>
          <a:bodyPr wrap="none" rtlCol="0">
            <a:spAutoFit/>
          </a:bodyPr>
          <a:lstStyle/>
          <a:p>
            <a:r>
              <a:rPr lang="en-US" sz="1100" dirty="0"/>
              <a:t>Card 27</a:t>
            </a:r>
          </a:p>
        </p:txBody>
      </p:sp>
      <p:cxnSp>
        <p:nvCxnSpPr>
          <p:cNvPr id="74" name="Straight Connector 73">
            <a:extLst>
              <a:ext uri="{FF2B5EF4-FFF2-40B4-BE49-F238E27FC236}">
                <a16:creationId xmlns:a16="http://schemas.microsoft.com/office/drawing/2014/main" id="{C4DD8DF0-67A7-970A-7A27-13FD7D5EFD84}"/>
              </a:ext>
            </a:extLst>
          </p:cNvPr>
          <p:cNvCxnSpPr>
            <a:cxnSpLocks/>
          </p:cNvCxnSpPr>
          <p:nvPr/>
        </p:nvCxnSpPr>
        <p:spPr>
          <a:xfrm>
            <a:off x="4467048" y="1172859"/>
            <a:ext cx="1292968" cy="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557693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20411-D79F-E629-C19B-6363945B9105}"/>
            </a:ext>
          </a:extLst>
        </p:cNvPr>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F3F57015-56E9-AE99-ACF2-D36DCEB2FF00}"/>
              </a:ext>
            </a:extLst>
          </p:cNvPr>
          <p:cNvCxnSpPr>
            <a:cxnSpLocks/>
          </p:cNvCxnSpPr>
          <p:nvPr/>
        </p:nvCxnSpPr>
        <p:spPr>
          <a:xfrm>
            <a:off x="369145" y="3519872"/>
            <a:ext cx="0" cy="1891417"/>
          </a:xfrm>
          <a:prstGeom prst="line">
            <a:avLst/>
          </a:prstGeom>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593F3FA7-9BE2-D275-0C55-4BD42F0A7BB0}"/>
              </a:ext>
            </a:extLst>
          </p:cNvPr>
          <p:cNvSpPr/>
          <p:nvPr/>
        </p:nvSpPr>
        <p:spPr>
          <a:xfrm>
            <a:off x="9560" y="296138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cxnSp>
        <p:nvCxnSpPr>
          <p:cNvPr id="21" name="Straight Connector 20">
            <a:extLst>
              <a:ext uri="{FF2B5EF4-FFF2-40B4-BE49-F238E27FC236}">
                <a16:creationId xmlns:a16="http://schemas.microsoft.com/office/drawing/2014/main" id="{C6A385FF-7FC4-FCA5-5A56-26646C624962}"/>
              </a:ext>
            </a:extLst>
          </p:cNvPr>
          <p:cNvCxnSpPr/>
          <p:nvPr/>
        </p:nvCxnSpPr>
        <p:spPr>
          <a:xfrm>
            <a:off x="-4482928" y="99168"/>
            <a:ext cx="0" cy="2683566"/>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916687F-AA8A-B056-0E63-BF6CC60D5443}"/>
              </a:ext>
            </a:extLst>
          </p:cNvPr>
          <p:cNvCxnSpPr/>
          <p:nvPr/>
        </p:nvCxnSpPr>
        <p:spPr>
          <a:xfrm>
            <a:off x="371928" y="4402268"/>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6EBFA3B-6EE8-6E70-FDA7-8A68F7CF53D7}"/>
              </a:ext>
            </a:extLst>
          </p:cNvPr>
          <p:cNvSpPr txBox="1"/>
          <p:nvPr/>
        </p:nvSpPr>
        <p:spPr>
          <a:xfrm>
            <a:off x="1561000" y="4370264"/>
            <a:ext cx="457176" cy="261610"/>
          </a:xfrm>
          <a:prstGeom prst="rect">
            <a:avLst/>
          </a:prstGeom>
          <a:noFill/>
        </p:spPr>
        <p:txBody>
          <a:bodyPr wrap="none" rtlCol="0">
            <a:spAutoFit/>
          </a:bodyPr>
          <a:lstStyle/>
          <a:p>
            <a:r>
              <a:rPr lang="en-US" sz="1100" dirty="0"/>
              <a:t>time</a:t>
            </a:r>
          </a:p>
        </p:txBody>
      </p:sp>
      <p:sp>
        <p:nvSpPr>
          <p:cNvPr id="26" name="TextBox 25">
            <a:extLst>
              <a:ext uri="{FF2B5EF4-FFF2-40B4-BE49-F238E27FC236}">
                <a16:creationId xmlns:a16="http://schemas.microsoft.com/office/drawing/2014/main" id="{17B70A26-CFE4-69D9-7C92-F51487F63A24}"/>
              </a:ext>
            </a:extLst>
          </p:cNvPr>
          <p:cNvSpPr txBox="1"/>
          <p:nvPr/>
        </p:nvSpPr>
        <p:spPr>
          <a:xfrm rot="16200000">
            <a:off x="-107052" y="3647364"/>
            <a:ext cx="679994" cy="261610"/>
          </a:xfrm>
          <a:prstGeom prst="rect">
            <a:avLst/>
          </a:prstGeom>
          <a:noFill/>
        </p:spPr>
        <p:txBody>
          <a:bodyPr wrap="none" rtlCol="0">
            <a:spAutoFit/>
          </a:bodyPr>
          <a:lstStyle/>
          <a:p>
            <a:r>
              <a:rPr lang="en-US" sz="1100" dirty="0"/>
              <a:t>position</a:t>
            </a:r>
          </a:p>
        </p:txBody>
      </p:sp>
      <p:sp>
        <p:nvSpPr>
          <p:cNvPr id="27" name="TextBox 26">
            <a:extLst>
              <a:ext uri="{FF2B5EF4-FFF2-40B4-BE49-F238E27FC236}">
                <a16:creationId xmlns:a16="http://schemas.microsoft.com/office/drawing/2014/main" id="{50596C3B-C916-B835-AFE8-BF3DF57FCCE4}"/>
              </a:ext>
            </a:extLst>
          </p:cNvPr>
          <p:cNvSpPr txBox="1"/>
          <p:nvPr/>
        </p:nvSpPr>
        <p:spPr>
          <a:xfrm>
            <a:off x="114668" y="4271463"/>
            <a:ext cx="260008" cy="261610"/>
          </a:xfrm>
          <a:prstGeom prst="rect">
            <a:avLst/>
          </a:prstGeom>
          <a:noFill/>
        </p:spPr>
        <p:txBody>
          <a:bodyPr wrap="none" rtlCol="0">
            <a:spAutoFit/>
          </a:bodyPr>
          <a:lstStyle/>
          <a:p>
            <a:r>
              <a:rPr lang="en-US" sz="1100" dirty="0"/>
              <a:t>0</a:t>
            </a:r>
          </a:p>
        </p:txBody>
      </p:sp>
      <p:cxnSp>
        <p:nvCxnSpPr>
          <p:cNvPr id="31" name="Straight Connector 30">
            <a:extLst>
              <a:ext uri="{FF2B5EF4-FFF2-40B4-BE49-F238E27FC236}">
                <a16:creationId xmlns:a16="http://schemas.microsoft.com/office/drawing/2014/main" id="{D8FBE128-1DA5-BE65-291E-3C007C121C03}"/>
              </a:ext>
            </a:extLst>
          </p:cNvPr>
          <p:cNvCxnSpPr>
            <a:cxnSpLocks/>
          </p:cNvCxnSpPr>
          <p:nvPr/>
        </p:nvCxnSpPr>
        <p:spPr>
          <a:xfrm>
            <a:off x="2423619" y="3521396"/>
            <a:ext cx="0" cy="1891417"/>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95E9733-1AA3-DBD4-153F-D4C3F2ED0302}"/>
              </a:ext>
            </a:extLst>
          </p:cNvPr>
          <p:cNvCxnSpPr/>
          <p:nvPr/>
        </p:nvCxnSpPr>
        <p:spPr>
          <a:xfrm>
            <a:off x="2426402" y="4403792"/>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85C4DD1-308A-6E8B-F5C9-1C08FAC627DB}"/>
              </a:ext>
            </a:extLst>
          </p:cNvPr>
          <p:cNvSpPr txBox="1"/>
          <p:nvPr/>
        </p:nvSpPr>
        <p:spPr>
          <a:xfrm>
            <a:off x="3642633" y="4371788"/>
            <a:ext cx="457176" cy="261610"/>
          </a:xfrm>
          <a:prstGeom prst="rect">
            <a:avLst/>
          </a:prstGeom>
          <a:noFill/>
        </p:spPr>
        <p:txBody>
          <a:bodyPr wrap="none" rtlCol="0">
            <a:spAutoFit/>
          </a:bodyPr>
          <a:lstStyle/>
          <a:p>
            <a:r>
              <a:rPr lang="en-US" sz="1100" dirty="0"/>
              <a:t>time</a:t>
            </a:r>
          </a:p>
        </p:txBody>
      </p:sp>
      <p:sp>
        <p:nvSpPr>
          <p:cNvPr id="34" name="TextBox 33">
            <a:extLst>
              <a:ext uri="{FF2B5EF4-FFF2-40B4-BE49-F238E27FC236}">
                <a16:creationId xmlns:a16="http://schemas.microsoft.com/office/drawing/2014/main" id="{04ACE74D-4DB5-EE80-62F2-EDE65D94A962}"/>
              </a:ext>
            </a:extLst>
          </p:cNvPr>
          <p:cNvSpPr txBox="1"/>
          <p:nvPr/>
        </p:nvSpPr>
        <p:spPr>
          <a:xfrm rot="16200000">
            <a:off x="1960246" y="3648888"/>
            <a:ext cx="654346" cy="261610"/>
          </a:xfrm>
          <a:prstGeom prst="rect">
            <a:avLst/>
          </a:prstGeom>
          <a:noFill/>
        </p:spPr>
        <p:txBody>
          <a:bodyPr wrap="none" rtlCol="0">
            <a:spAutoFit/>
          </a:bodyPr>
          <a:lstStyle/>
          <a:p>
            <a:r>
              <a:rPr lang="en-US" sz="1100" dirty="0"/>
              <a:t>velocity</a:t>
            </a:r>
          </a:p>
        </p:txBody>
      </p:sp>
      <p:sp>
        <p:nvSpPr>
          <p:cNvPr id="35" name="TextBox 34">
            <a:extLst>
              <a:ext uri="{FF2B5EF4-FFF2-40B4-BE49-F238E27FC236}">
                <a16:creationId xmlns:a16="http://schemas.microsoft.com/office/drawing/2014/main" id="{83F3D8DB-9723-2F04-01FA-69545BC2E3EF}"/>
              </a:ext>
            </a:extLst>
          </p:cNvPr>
          <p:cNvSpPr txBox="1"/>
          <p:nvPr/>
        </p:nvSpPr>
        <p:spPr>
          <a:xfrm>
            <a:off x="2169142" y="4272987"/>
            <a:ext cx="260008" cy="261610"/>
          </a:xfrm>
          <a:prstGeom prst="rect">
            <a:avLst/>
          </a:prstGeom>
          <a:noFill/>
        </p:spPr>
        <p:txBody>
          <a:bodyPr wrap="none" rtlCol="0">
            <a:spAutoFit/>
          </a:bodyPr>
          <a:lstStyle/>
          <a:p>
            <a:r>
              <a:rPr lang="en-US" sz="1100" dirty="0"/>
              <a:t>0</a:t>
            </a:r>
          </a:p>
        </p:txBody>
      </p:sp>
      <p:sp>
        <p:nvSpPr>
          <p:cNvPr id="80" name="TextBox 79">
            <a:extLst>
              <a:ext uri="{FF2B5EF4-FFF2-40B4-BE49-F238E27FC236}">
                <a16:creationId xmlns:a16="http://schemas.microsoft.com/office/drawing/2014/main" id="{96854FCD-F342-A127-223E-EEB99B35B763}"/>
              </a:ext>
            </a:extLst>
          </p:cNvPr>
          <p:cNvSpPr txBox="1"/>
          <p:nvPr/>
        </p:nvSpPr>
        <p:spPr>
          <a:xfrm>
            <a:off x="8379279" y="4367141"/>
            <a:ext cx="604653" cy="261610"/>
          </a:xfrm>
          <a:prstGeom prst="rect">
            <a:avLst/>
          </a:prstGeom>
          <a:noFill/>
        </p:spPr>
        <p:txBody>
          <a:bodyPr wrap="none" rtlCol="0">
            <a:spAutoFit/>
          </a:bodyPr>
          <a:lstStyle/>
          <a:p>
            <a:r>
              <a:rPr lang="en-US" sz="1100" dirty="0"/>
              <a:t>Case 2</a:t>
            </a:r>
          </a:p>
        </p:txBody>
      </p:sp>
      <p:sp>
        <p:nvSpPr>
          <p:cNvPr id="2" name="Rectangle 1">
            <a:extLst>
              <a:ext uri="{FF2B5EF4-FFF2-40B4-BE49-F238E27FC236}">
                <a16:creationId xmlns:a16="http://schemas.microsoft.com/office/drawing/2014/main" id="{06563960-C682-1CE8-B725-3707B2F2B7F6}"/>
              </a:ext>
            </a:extLst>
          </p:cNvPr>
          <p:cNvSpPr/>
          <p:nvPr/>
        </p:nvSpPr>
        <p:spPr>
          <a:xfrm>
            <a:off x="2079956" y="296138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 name="Rectangle 3">
            <a:extLst>
              <a:ext uri="{FF2B5EF4-FFF2-40B4-BE49-F238E27FC236}">
                <a16:creationId xmlns:a16="http://schemas.microsoft.com/office/drawing/2014/main" id="{DB3D0262-938B-0494-0471-A07EB688106E}"/>
              </a:ext>
            </a:extLst>
          </p:cNvPr>
          <p:cNvSpPr/>
          <p:nvPr/>
        </p:nvSpPr>
        <p:spPr>
          <a:xfrm>
            <a:off x="415887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3" name="Rectangle 12">
            <a:extLst>
              <a:ext uri="{FF2B5EF4-FFF2-40B4-BE49-F238E27FC236}">
                <a16:creationId xmlns:a16="http://schemas.microsoft.com/office/drawing/2014/main" id="{9D4E3BE2-8949-1353-518C-2A337E774BC8}"/>
              </a:ext>
            </a:extLst>
          </p:cNvPr>
          <p:cNvSpPr/>
          <p:nvPr/>
        </p:nvSpPr>
        <p:spPr>
          <a:xfrm>
            <a:off x="6226082" y="-7609"/>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0" name="Rectangle 29">
            <a:extLst>
              <a:ext uri="{FF2B5EF4-FFF2-40B4-BE49-F238E27FC236}">
                <a16:creationId xmlns:a16="http://schemas.microsoft.com/office/drawing/2014/main" id="{844F5F82-F9E9-D160-AE17-A7933408B28F}"/>
              </a:ext>
            </a:extLst>
          </p:cNvPr>
          <p:cNvSpPr/>
          <p:nvPr/>
        </p:nvSpPr>
        <p:spPr>
          <a:xfrm>
            <a:off x="9560"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3" name="Rectangle 42">
            <a:extLst>
              <a:ext uri="{FF2B5EF4-FFF2-40B4-BE49-F238E27FC236}">
                <a16:creationId xmlns:a16="http://schemas.microsoft.com/office/drawing/2014/main" id="{1AF6F243-B376-2EB4-7462-1B780F231FA0}"/>
              </a:ext>
            </a:extLst>
          </p:cNvPr>
          <p:cNvSpPr/>
          <p:nvPr/>
        </p:nvSpPr>
        <p:spPr>
          <a:xfrm>
            <a:off x="2079956"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4" name="Rectangle 43">
            <a:extLst>
              <a:ext uri="{FF2B5EF4-FFF2-40B4-BE49-F238E27FC236}">
                <a16:creationId xmlns:a16="http://schemas.microsoft.com/office/drawing/2014/main" id="{79FC8966-715C-8E4F-85F6-9FBD0E7CFFA1}"/>
              </a:ext>
            </a:extLst>
          </p:cNvPr>
          <p:cNvSpPr/>
          <p:nvPr/>
        </p:nvSpPr>
        <p:spPr>
          <a:xfrm>
            <a:off x="4158876"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5" name="Rectangle 44">
            <a:extLst>
              <a:ext uri="{FF2B5EF4-FFF2-40B4-BE49-F238E27FC236}">
                <a16:creationId xmlns:a16="http://schemas.microsoft.com/office/drawing/2014/main" id="{FC56AF3A-321D-45FB-9260-FF233555B291}"/>
              </a:ext>
            </a:extLst>
          </p:cNvPr>
          <p:cNvSpPr/>
          <p:nvPr/>
        </p:nvSpPr>
        <p:spPr>
          <a:xfrm>
            <a:off x="6226082" y="2955663"/>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1" name="Oval 10">
            <a:extLst>
              <a:ext uri="{FF2B5EF4-FFF2-40B4-BE49-F238E27FC236}">
                <a16:creationId xmlns:a16="http://schemas.microsoft.com/office/drawing/2014/main" id="{B8FDA390-DA8C-E0D6-B6A7-C3B0FCEE5FB2}"/>
              </a:ext>
            </a:extLst>
          </p:cNvPr>
          <p:cNvSpPr/>
          <p:nvPr/>
        </p:nvSpPr>
        <p:spPr>
          <a:xfrm>
            <a:off x="5218916" y="5066918"/>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4A0126B-C37E-B19A-7B30-174CC8146F0F}"/>
              </a:ext>
            </a:extLst>
          </p:cNvPr>
          <p:cNvSpPr/>
          <p:nvPr/>
        </p:nvSpPr>
        <p:spPr>
          <a:xfrm>
            <a:off x="5218916" y="4829777"/>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D3A0C3FE-08AE-AC7E-4A71-0EEDA5042BEF}"/>
              </a:ext>
            </a:extLst>
          </p:cNvPr>
          <p:cNvSpPr/>
          <p:nvPr/>
        </p:nvSpPr>
        <p:spPr>
          <a:xfrm>
            <a:off x="5218915" y="4456449"/>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0D46FA9-551B-B431-C701-852C13EF4A51}"/>
              </a:ext>
            </a:extLst>
          </p:cNvPr>
          <p:cNvSpPr/>
          <p:nvPr/>
        </p:nvSpPr>
        <p:spPr>
          <a:xfrm>
            <a:off x="5218915" y="3943703"/>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B43603E-289D-34D3-FAFD-EAA340831D7A}"/>
              </a:ext>
            </a:extLst>
          </p:cNvPr>
          <p:cNvSpPr txBox="1"/>
          <p:nvPr/>
        </p:nvSpPr>
        <p:spPr>
          <a:xfrm>
            <a:off x="4922058" y="4961864"/>
            <a:ext cx="260008" cy="261610"/>
          </a:xfrm>
          <a:prstGeom prst="rect">
            <a:avLst/>
          </a:prstGeom>
          <a:noFill/>
        </p:spPr>
        <p:txBody>
          <a:bodyPr wrap="none" rtlCol="0">
            <a:spAutoFit/>
          </a:bodyPr>
          <a:lstStyle/>
          <a:p>
            <a:r>
              <a:rPr lang="en-US" sz="1100" dirty="0"/>
              <a:t>1</a:t>
            </a:r>
          </a:p>
        </p:txBody>
      </p:sp>
      <p:sp>
        <p:nvSpPr>
          <p:cNvPr id="46" name="TextBox 45">
            <a:extLst>
              <a:ext uri="{FF2B5EF4-FFF2-40B4-BE49-F238E27FC236}">
                <a16:creationId xmlns:a16="http://schemas.microsoft.com/office/drawing/2014/main" id="{6689FE32-0E95-0DA4-CF64-8C49A788EE9E}"/>
              </a:ext>
            </a:extLst>
          </p:cNvPr>
          <p:cNvSpPr txBox="1"/>
          <p:nvPr/>
        </p:nvSpPr>
        <p:spPr>
          <a:xfrm>
            <a:off x="4921530" y="4698972"/>
            <a:ext cx="260008" cy="261610"/>
          </a:xfrm>
          <a:prstGeom prst="rect">
            <a:avLst/>
          </a:prstGeom>
          <a:noFill/>
        </p:spPr>
        <p:txBody>
          <a:bodyPr wrap="none" rtlCol="0">
            <a:spAutoFit/>
          </a:bodyPr>
          <a:lstStyle/>
          <a:p>
            <a:r>
              <a:rPr lang="en-US" sz="1100" dirty="0"/>
              <a:t>2</a:t>
            </a:r>
          </a:p>
        </p:txBody>
      </p:sp>
      <p:sp>
        <p:nvSpPr>
          <p:cNvPr id="47" name="TextBox 46">
            <a:extLst>
              <a:ext uri="{FF2B5EF4-FFF2-40B4-BE49-F238E27FC236}">
                <a16:creationId xmlns:a16="http://schemas.microsoft.com/office/drawing/2014/main" id="{8285C754-6492-CD28-10D3-CA2BF358DD9B}"/>
              </a:ext>
            </a:extLst>
          </p:cNvPr>
          <p:cNvSpPr txBox="1"/>
          <p:nvPr/>
        </p:nvSpPr>
        <p:spPr>
          <a:xfrm>
            <a:off x="4921530" y="4345525"/>
            <a:ext cx="260008" cy="261610"/>
          </a:xfrm>
          <a:prstGeom prst="rect">
            <a:avLst/>
          </a:prstGeom>
          <a:noFill/>
        </p:spPr>
        <p:txBody>
          <a:bodyPr wrap="none" rtlCol="0">
            <a:spAutoFit/>
          </a:bodyPr>
          <a:lstStyle/>
          <a:p>
            <a:r>
              <a:rPr lang="en-US" sz="1100" dirty="0"/>
              <a:t>3</a:t>
            </a:r>
          </a:p>
        </p:txBody>
      </p:sp>
      <p:sp>
        <p:nvSpPr>
          <p:cNvPr id="48" name="TextBox 47">
            <a:extLst>
              <a:ext uri="{FF2B5EF4-FFF2-40B4-BE49-F238E27FC236}">
                <a16:creationId xmlns:a16="http://schemas.microsoft.com/office/drawing/2014/main" id="{04A82892-80F4-21F9-52CA-4BBAE155D472}"/>
              </a:ext>
            </a:extLst>
          </p:cNvPr>
          <p:cNvSpPr txBox="1"/>
          <p:nvPr/>
        </p:nvSpPr>
        <p:spPr>
          <a:xfrm>
            <a:off x="4941728" y="3836010"/>
            <a:ext cx="260008" cy="261610"/>
          </a:xfrm>
          <a:prstGeom prst="rect">
            <a:avLst/>
          </a:prstGeom>
          <a:noFill/>
        </p:spPr>
        <p:txBody>
          <a:bodyPr wrap="none" rtlCol="0">
            <a:spAutoFit/>
          </a:bodyPr>
          <a:lstStyle/>
          <a:p>
            <a:r>
              <a:rPr lang="en-US" sz="1100" dirty="0"/>
              <a:t>4</a:t>
            </a:r>
          </a:p>
        </p:txBody>
      </p:sp>
      <p:sp>
        <p:nvSpPr>
          <p:cNvPr id="5" name="Oval 4">
            <a:extLst>
              <a:ext uri="{FF2B5EF4-FFF2-40B4-BE49-F238E27FC236}">
                <a16:creationId xmlns:a16="http://schemas.microsoft.com/office/drawing/2014/main" id="{C3476FDF-1DBA-CDD4-AF54-E28B20501284}"/>
              </a:ext>
            </a:extLst>
          </p:cNvPr>
          <p:cNvSpPr/>
          <p:nvPr/>
        </p:nvSpPr>
        <p:spPr>
          <a:xfrm>
            <a:off x="7122692" y="4470058"/>
            <a:ext cx="96963" cy="8883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078F4273-7539-C089-5F1C-13FA51DB6C59}"/>
              </a:ext>
            </a:extLst>
          </p:cNvPr>
          <p:cNvCxnSpPr>
            <a:cxnSpLocks/>
          </p:cNvCxnSpPr>
          <p:nvPr/>
        </p:nvCxnSpPr>
        <p:spPr>
          <a:xfrm flipV="1">
            <a:off x="7173728" y="3936896"/>
            <a:ext cx="0" cy="5331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E358117A-D4E7-5CE5-512C-728B392BF1FC}"/>
              </a:ext>
            </a:extLst>
          </p:cNvPr>
          <p:cNvCxnSpPr>
            <a:cxnSpLocks/>
          </p:cNvCxnSpPr>
          <p:nvPr/>
        </p:nvCxnSpPr>
        <p:spPr>
          <a:xfrm>
            <a:off x="7173747" y="4565745"/>
            <a:ext cx="0" cy="483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E16D1C70-79F0-2BB9-465C-DCDCEC157782}"/>
              </a:ext>
            </a:extLst>
          </p:cNvPr>
          <p:cNvSpPr txBox="1"/>
          <p:nvPr/>
        </p:nvSpPr>
        <p:spPr>
          <a:xfrm>
            <a:off x="7171173" y="3836010"/>
            <a:ext cx="726481" cy="261610"/>
          </a:xfrm>
          <a:prstGeom prst="rect">
            <a:avLst/>
          </a:prstGeom>
          <a:noFill/>
        </p:spPr>
        <p:txBody>
          <a:bodyPr wrap="none" rtlCol="0">
            <a:spAutoFit/>
          </a:bodyPr>
          <a:lstStyle/>
          <a:p>
            <a:r>
              <a:rPr lang="en-US" sz="1100" dirty="0"/>
              <a:t>F</a:t>
            </a:r>
            <a:r>
              <a:rPr lang="en-US" sz="1100" baseline="-25000" dirty="0"/>
              <a:t>N </a:t>
            </a:r>
            <a:r>
              <a:rPr lang="en-US" sz="1100" dirty="0"/>
              <a:t>= 15 N</a:t>
            </a:r>
          </a:p>
        </p:txBody>
      </p:sp>
      <p:sp>
        <p:nvSpPr>
          <p:cNvPr id="29" name="TextBox 28">
            <a:extLst>
              <a:ext uri="{FF2B5EF4-FFF2-40B4-BE49-F238E27FC236}">
                <a16:creationId xmlns:a16="http://schemas.microsoft.com/office/drawing/2014/main" id="{BE6E4C95-D52D-B488-23AC-703C620227E5}"/>
              </a:ext>
            </a:extLst>
          </p:cNvPr>
          <p:cNvSpPr txBox="1"/>
          <p:nvPr/>
        </p:nvSpPr>
        <p:spPr>
          <a:xfrm>
            <a:off x="7171172" y="4931059"/>
            <a:ext cx="697627" cy="261610"/>
          </a:xfrm>
          <a:prstGeom prst="rect">
            <a:avLst/>
          </a:prstGeom>
          <a:noFill/>
        </p:spPr>
        <p:txBody>
          <a:bodyPr wrap="none" rtlCol="0">
            <a:spAutoFit/>
          </a:bodyPr>
          <a:lstStyle/>
          <a:p>
            <a:r>
              <a:rPr lang="en-US" sz="1100" dirty="0"/>
              <a:t>w = 12 N</a:t>
            </a:r>
          </a:p>
        </p:txBody>
      </p:sp>
      <p:cxnSp>
        <p:nvCxnSpPr>
          <p:cNvPr id="36" name="Straight Connector 35">
            <a:extLst>
              <a:ext uri="{FF2B5EF4-FFF2-40B4-BE49-F238E27FC236}">
                <a16:creationId xmlns:a16="http://schemas.microsoft.com/office/drawing/2014/main" id="{F726083D-7A23-71A9-136A-1EE2A68DE4D7}"/>
              </a:ext>
            </a:extLst>
          </p:cNvPr>
          <p:cNvCxnSpPr>
            <a:cxnSpLocks/>
          </p:cNvCxnSpPr>
          <p:nvPr/>
        </p:nvCxnSpPr>
        <p:spPr>
          <a:xfrm flipV="1">
            <a:off x="2426396" y="3962047"/>
            <a:ext cx="1365572" cy="424528"/>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sp>
        <p:nvSpPr>
          <p:cNvPr id="37" name="Freeform: Shape 36">
            <a:extLst>
              <a:ext uri="{FF2B5EF4-FFF2-40B4-BE49-F238E27FC236}">
                <a16:creationId xmlns:a16="http://schemas.microsoft.com/office/drawing/2014/main" id="{EEA965F4-8E67-60FC-D8C2-B94F0EC8541B}"/>
              </a:ext>
            </a:extLst>
          </p:cNvPr>
          <p:cNvSpPr/>
          <p:nvPr/>
        </p:nvSpPr>
        <p:spPr>
          <a:xfrm>
            <a:off x="365391" y="4678087"/>
            <a:ext cx="1374064" cy="679994"/>
          </a:xfrm>
          <a:custGeom>
            <a:avLst/>
            <a:gdLst>
              <a:gd name="connsiteX0" fmla="*/ 0 w 3704253"/>
              <a:gd name="connsiteY0" fmla="*/ 1800808 h 1800808"/>
              <a:gd name="connsiteX1" fmla="*/ 737119 w 3704253"/>
              <a:gd name="connsiteY1" fmla="*/ 1716832 h 1800808"/>
              <a:gd name="connsiteX2" fmla="*/ 1492898 w 3704253"/>
              <a:gd name="connsiteY2" fmla="*/ 1492898 h 1800808"/>
              <a:gd name="connsiteX3" fmla="*/ 2239347 w 3704253"/>
              <a:gd name="connsiteY3" fmla="*/ 1147665 h 1800808"/>
              <a:gd name="connsiteX4" fmla="*/ 2976466 w 3704253"/>
              <a:gd name="connsiteY4" fmla="*/ 653142 h 1800808"/>
              <a:gd name="connsiteX5" fmla="*/ 3704253 w 3704253"/>
              <a:gd name="connsiteY5" fmla="*/ 0 h 1800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4253" h="1800808">
                <a:moveTo>
                  <a:pt x="0" y="1800808"/>
                </a:moveTo>
                <a:cubicBezTo>
                  <a:pt x="244151" y="1784479"/>
                  <a:pt x="488303" y="1768150"/>
                  <a:pt x="737119" y="1716832"/>
                </a:cubicBezTo>
                <a:cubicBezTo>
                  <a:pt x="985935" y="1665514"/>
                  <a:pt x="1242527" y="1587759"/>
                  <a:pt x="1492898" y="1492898"/>
                </a:cubicBezTo>
                <a:cubicBezTo>
                  <a:pt x="1743269" y="1398037"/>
                  <a:pt x="1992086" y="1287624"/>
                  <a:pt x="2239347" y="1147665"/>
                </a:cubicBezTo>
                <a:cubicBezTo>
                  <a:pt x="2486608" y="1007706"/>
                  <a:pt x="2732315" y="844419"/>
                  <a:pt x="2976466" y="653142"/>
                </a:cubicBezTo>
                <a:cubicBezTo>
                  <a:pt x="3220617" y="461865"/>
                  <a:pt x="3462435" y="230932"/>
                  <a:pt x="3704253" y="0"/>
                </a:cubicBezTo>
              </a:path>
            </a:pathLst>
          </a:cu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EB870221-65D5-1E24-C3ED-E0754A022F4D}"/>
              </a:ext>
            </a:extLst>
          </p:cNvPr>
          <p:cNvSpPr/>
          <p:nvPr/>
        </p:nvSpPr>
        <p:spPr>
          <a:xfrm>
            <a:off x="4158875" y="2959073"/>
            <a:ext cx="2073348" cy="25205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Motion diagram</a:t>
            </a:r>
          </a:p>
        </p:txBody>
      </p:sp>
      <p:sp>
        <p:nvSpPr>
          <p:cNvPr id="49" name="Rectangle 48">
            <a:extLst>
              <a:ext uri="{FF2B5EF4-FFF2-40B4-BE49-F238E27FC236}">
                <a16:creationId xmlns:a16="http://schemas.microsoft.com/office/drawing/2014/main" id="{F4186476-9E1A-EA00-C349-DD84CBA71B3E}"/>
              </a:ext>
            </a:extLst>
          </p:cNvPr>
          <p:cNvSpPr/>
          <p:nvPr/>
        </p:nvSpPr>
        <p:spPr>
          <a:xfrm>
            <a:off x="6235861" y="2959073"/>
            <a:ext cx="2069294" cy="252056"/>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Free Body Diagram</a:t>
            </a:r>
          </a:p>
        </p:txBody>
      </p:sp>
      <p:sp>
        <p:nvSpPr>
          <p:cNvPr id="50" name="Rectangle 49">
            <a:extLst>
              <a:ext uri="{FF2B5EF4-FFF2-40B4-BE49-F238E27FC236}">
                <a16:creationId xmlns:a16="http://schemas.microsoft.com/office/drawing/2014/main" id="{A2E91A48-9C4A-75D7-144D-E44AE6EA5004}"/>
              </a:ext>
            </a:extLst>
          </p:cNvPr>
          <p:cNvSpPr/>
          <p:nvPr/>
        </p:nvSpPr>
        <p:spPr>
          <a:xfrm>
            <a:off x="6105524" y="3211130"/>
            <a:ext cx="125271" cy="2714484"/>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51" name="Rectangle 50">
            <a:extLst>
              <a:ext uri="{FF2B5EF4-FFF2-40B4-BE49-F238E27FC236}">
                <a16:creationId xmlns:a16="http://schemas.microsoft.com/office/drawing/2014/main" id="{AE1D0FCF-F92B-3BB7-293A-E151AF8F7721}"/>
              </a:ext>
            </a:extLst>
          </p:cNvPr>
          <p:cNvSpPr/>
          <p:nvPr/>
        </p:nvSpPr>
        <p:spPr>
          <a:xfrm>
            <a:off x="4157885" y="3211129"/>
            <a:ext cx="125271" cy="2714484"/>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53" name="Rectangle 52">
            <a:extLst>
              <a:ext uri="{FF2B5EF4-FFF2-40B4-BE49-F238E27FC236}">
                <a16:creationId xmlns:a16="http://schemas.microsoft.com/office/drawing/2014/main" id="{A940AA87-F6F5-D851-D322-312FF93146CD}"/>
              </a:ext>
            </a:extLst>
          </p:cNvPr>
          <p:cNvSpPr/>
          <p:nvPr/>
        </p:nvSpPr>
        <p:spPr>
          <a:xfrm rot="5400000">
            <a:off x="5131229" y="4950011"/>
            <a:ext cx="125271" cy="182815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55" name="Rectangle 54">
            <a:extLst>
              <a:ext uri="{FF2B5EF4-FFF2-40B4-BE49-F238E27FC236}">
                <a16:creationId xmlns:a16="http://schemas.microsoft.com/office/drawing/2014/main" id="{8707D69D-231D-EE7F-DA3B-D0FFD234A0D1}"/>
              </a:ext>
            </a:extLst>
          </p:cNvPr>
          <p:cNvSpPr/>
          <p:nvPr/>
        </p:nvSpPr>
        <p:spPr>
          <a:xfrm>
            <a:off x="8179689" y="3209821"/>
            <a:ext cx="125271" cy="2715791"/>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57" name="Rectangle 56">
            <a:extLst>
              <a:ext uri="{FF2B5EF4-FFF2-40B4-BE49-F238E27FC236}">
                <a16:creationId xmlns:a16="http://schemas.microsoft.com/office/drawing/2014/main" id="{A07B7BD8-58D8-B6D3-BEAF-B1246C14417F}"/>
              </a:ext>
            </a:extLst>
          </p:cNvPr>
          <p:cNvSpPr/>
          <p:nvPr/>
        </p:nvSpPr>
        <p:spPr>
          <a:xfrm>
            <a:off x="6235857" y="3205543"/>
            <a:ext cx="125271" cy="2721182"/>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60" name="Rectangle 59">
            <a:extLst>
              <a:ext uri="{FF2B5EF4-FFF2-40B4-BE49-F238E27FC236}">
                <a16:creationId xmlns:a16="http://schemas.microsoft.com/office/drawing/2014/main" id="{D5994E39-56E3-96A2-54B5-956A19C82EC3}"/>
              </a:ext>
            </a:extLst>
          </p:cNvPr>
          <p:cNvSpPr/>
          <p:nvPr/>
        </p:nvSpPr>
        <p:spPr>
          <a:xfrm rot="5400000">
            <a:off x="7209697" y="4941254"/>
            <a:ext cx="125271" cy="1846799"/>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61" name="TextBox 60">
            <a:extLst>
              <a:ext uri="{FF2B5EF4-FFF2-40B4-BE49-F238E27FC236}">
                <a16:creationId xmlns:a16="http://schemas.microsoft.com/office/drawing/2014/main" id="{3197790F-0BC8-E9EF-A1C0-E65384F3E1F0}"/>
              </a:ext>
            </a:extLst>
          </p:cNvPr>
          <p:cNvSpPr txBox="1"/>
          <p:nvPr/>
        </p:nvSpPr>
        <p:spPr>
          <a:xfrm>
            <a:off x="4613621" y="3333846"/>
            <a:ext cx="1210588" cy="261610"/>
          </a:xfrm>
          <a:prstGeom prst="rect">
            <a:avLst/>
          </a:prstGeom>
          <a:noFill/>
        </p:spPr>
        <p:txBody>
          <a:bodyPr wrap="none" rtlCol="0">
            <a:spAutoFit/>
          </a:bodyPr>
          <a:lstStyle/>
          <a:p>
            <a:r>
              <a:rPr lang="en-US" sz="1100" dirty="0"/>
              <a:t>Vertical scenario</a:t>
            </a:r>
          </a:p>
        </p:txBody>
      </p:sp>
      <p:sp>
        <p:nvSpPr>
          <p:cNvPr id="62" name="TextBox 61">
            <a:extLst>
              <a:ext uri="{FF2B5EF4-FFF2-40B4-BE49-F238E27FC236}">
                <a16:creationId xmlns:a16="http://schemas.microsoft.com/office/drawing/2014/main" id="{A9F400FE-6E83-7035-78C2-D0DC15092D46}"/>
              </a:ext>
            </a:extLst>
          </p:cNvPr>
          <p:cNvSpPr txBox="1"/>
          <p:nvPr/>
        </p:nvSpPr>
        <p:spPr>
          <a:xfrm>
            <a:off x="6640652" y="3331322"/>
            <a:ext cx="1210588" cy="261610"/>
          </a:xfrm>
          <a:prstGeom prst="rect">
            <a:avLst/>
          </a:prstGeom>
          <a:noFill/>
        </p:spPr>
        <p:txBody>
          <a:bodyPr wrap="none" rtlCol="0">
            <a:spAutoFit/>
          </a:bodyPr>
          <a:lstStyle/>
          <a:p>
            <a:r>
              <a:rPr lang="en-US" sz="1100" dirty="0"/>
              <a:t>Vertical scenario</a:t>
            </a:r>
          </a:p>
        </p:txBody>
      </p:sp>
      <p:sp>
        <p:nvSpPr>
          <p:cNvPr id="63" name="Rectangle 62">
            <a:extLst>
              <a:ext uri="{FF2B5EF4-FFF2-40B4-BE49-F238E27FC236}">
                <a16:creationId xmlns:a16="http://schemas.microsoft.com/office/drawing/2014/main" id="{ADB837F6-F5F5-1B6D-1FFA-A35D14B19663}"/>
              </a:ext>
            </a:extLst>
          </p:cNvPr>
          <p:cNvSpPr/>
          <p:nvPr/>
        </p:nvSpPr>
        <p:spPr>
          <a:xfrm>
            <a:off x="-1950" y="2971232"/>
            <a:ext cx="2073955" cy="25205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 vs t graph</a:t>
            </a:r>
          </a:p>
        </p:txBody>
      </p:sp>
      <p:sp>
        <p:nvSpPr>
          <p:cNvPr id="64" name="Rectangle 63">
            <a:extLst>
              <a:ext uri="{FF2B5EF4-FFF2-40B4-BE49-F238E27FC236}">
                <a16:creationId xmlns:a16="http://schemas.microsoft.com/office/drawing/2014/main" id="{BEB7D195-0C5B-2C49-6D91-921B36C7F016}"/>
              </a:ext>
            </a:extLst>
          </p:cNvPr>
          <p:cNvSpPr/>
          <p:nvPr/>
        </p:nvSpPr>
        <p:spPr>
          <a:xfrm>
            <a:off x="2083515" y="2971606"/>
            <a:ext cx="2076530" cy="252056"/>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v vs t graph</a:t>
            </a:r>
          </a:p>
        </p:txBody>
      </p:sp>
      <p:sp>
        <p:nvSpPr>
          <p:cNvPr id="65" name="Rectangle 64">
            <a:extLst>
              <a:ext uri="{FF2B5EF4-FFF2-40B4-BE49-F238E27FC236}">
                <a16:creationId xmlns:a16="http://schemas.microsoft.com/office/drawing/2014/main" id="{B5456252-90C6-5FEB-7EA2-6B4BC6131E58}"/>
              </a:ext>
            </a:extLst>
          </p:cNvPr>
          <p:cNvSpPr/>
          <p:nvPr/>
        </p:nvSpPr>
        <p:spPr>
          <a:xfrm>
            <a:off x="-2624" y="3223193"/>
            <a:ext cx="125271" cy="271448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66" name="Rectangle 65">
            <a:extLst>
              <a:ext uri="{FF2B5EF4-FFF2-40B4-BE49-F238E27FC236}">
                <a16:creationId xmlns:a16="http://schemas.microsoft.com/office/drawing/2014/main" id="{A2DE483D-328A-36A9-1654-FE9867B639E3}"/>
              </a:ext>
            </a:extLst>
          </p:cNvPr>
          <p:cNvSpPr/>
          <p:nvPr/>
        </p:nvSpPr>
        <p:spPr>
          <a:xfrm rot="5400000">
            <a:off x="970720" y="4962075"/>
            <a:ext cx="125271" cy="182815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67" name="Rectangle 66">
            <a:extLst>
              <a:ext uri="{FF2B5EF4-FFF2-40B4-BE49-F238E27FC236}">
                <a16:creationId xmlns:a16="http://schemas.microsoft.com/office/drawing/2014/main" id="{0703E51B-0536-880F-6CC2-C27FD635F14C}"/>
              </a:ext>
            </a:extLst>
          </p:cNvPr>
          <p:cNvSpPr/>
          <p:nvPr/>
        </p:nvSpPr>
        <p:spPr>
          <a:xfrm>
            <a:off x="4030990" y="3220021"/>
            <a:ext cx="125271" cy="2715867"/>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68" name="Rectangle 67">
            <a:extLst>
              <a:ext uri="{FF2B5EF4-FFF2-40B4-BE49-F238E27FC236}">
                <a16:creationId xmlns:a16="http://schemas.microsoft.com/office/drawing/2014/main" id="{5B43D2B4-71E4-7CAC-E40D-DC0D76A8732D}"/>
              </a:ext>
            </a:extLst>
          </p:cNvPr>
          <p:cNvSpPr/>
          <p:nvPr/>
        </p:nvSpPr>
        <p:spPr>
          <a:xfrm>
            <a:off x="2075348" y="3217607"/>
            <a:ext cx="125271" cy="2721182"/>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69" name="Rectangle 68">
            <a:extLst>
              <a:ext uri="{FF2B5EF4-FFF2-40B4-BE49-F238E27FC236}">
                <a16:creationId xmlns:a16="http://schemas.microsoft.com/office/drawing/2014/main" id="{3695C651-3671-D0D3-B959-95711ADF3128}"/>
              </a:ext>
            </a:extLst>
          </p:cNvPr>
          <p:cNvSpPr/>
          <p:nvPr/>
        </p:nvSpPr>
        <p:spPr>
          <a:xfrm rot="5400000">
            <a:off x="3049188" y="4953318"/>
            <a:ext cx="125271" cy="1846799"/>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70" name="Rectangle 69">
            <a:extLst>
              <a:ext uri="{FF2B5EF4-FFF2-40B4-BE49-F238E27FC236}">
                <a16:creationId xmlns:a16="http://schemas.microsoft.com/office/drawing/2014/main" id="{B5FFF243-BE60-A564-21F5-46476BAE0B7C}"/>
              </a:ext>
            </a:extLst>
          </p:cNvPr>
          <p:cNvSpPr/>
          <p:nvPr/>
        </p:nvSpPr>
        <p:spPr>
          <a:xfrm>
            <a:off x="1945015" y="3223194"/>
            <a:ext cx="125271" cy="271448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71" name="TextBox 70">
            <a:extLst>
              <a:ext uri="{FF2B5EF4-FFF2-40B4-BE49-F238E27FC236}">
                <a16:creationId xmlns:a16="http://schemas.microsoft.com/office/drawing/2014/main" id="{012BC71F-4E2F-470C-1222-AC3D2A019B75}"/>
              </a:ext>
            </a:extLst>
          </p:cNvPr>
          <p:cNvSpPr txBox="1"/>
          <p:nvPr/>
        </p:nvSpPr>
        <p:spPr>
          <a:xfrm>
            <a:off x="1176182" y="5499526"/>
            <a:ext cx="679994" cy="230832"/>
          </a:xfrm>
          <a:prstGeom prst="rect">
            <a:avLst/>
          </a:prstGeom>
          <a:solidFill>
            <a:schemeClr val="bg1">
              <a:lumMod val="95000"/>
            </a:schemeClr>
          </a:solidFill>
        </p:spPr>
        <p:txBody>
          <a:bodyPr wrap="none" rtlCol="0">
            <a:spAutoFit/>
          </a:bodyPr>
          <a:lstStyle/>
          <a:p>
            <a:r>
              <a:rPr lang="en-US" sz="900" dirty="0">
                <a:solidFill>
                  <a:schemeClr val="tx1">
                    <a:lumMod val="50000"/>
                    <a:lumOff val="50000"/>
                  </a:schemeClr>
                </a:solidFill>
              </a:rPr>
              <a:t>Advanced</a:t>
            </a:r>
          </a:p>
        </p:txBody>
      </p:sp>
      <p:sp>
        <p:nvSpPr>
          <p:cNvPr id="72" name="TextBox 71">
            <a:extLst>
              <a:ext uri="{FF2B5EF4-FFF2-40B4-BE49-F238E27FC236}">
                <a16:creationId xmlns:a16="http://schemas.microsoft.com/office/drawing/2014/main" id="{D2B25641-981E-4CEA-4022-7E4DB19CFF91}"/>
              </a:ext>
            </a:extLst>
          </p:cNvPr>
          <p:cNvSpPr txBox="1"/>
          <p:nvPr/>
        </p:nvSpPr>
        <p:spPr>
          <a:xfrm>
            <a:off x="3269105" y="5499526"/>
            <a:ext cx="679994" cy="230832"/>
          </a:xfrm>
          <a:prstGeom prst="rect">
            <a:avLst/>
          </a:prstGeom>
          <a:solidFill>
            <a:schemeClr val="bg1">
              <a:lumMod val="95000"/>
            </a:schemeClr>
          </a:solidFill>
        </p:spPr>
        <p:txBody>
          <a:bodyPr wrap="none" rtlCol="0">
            <a:spAutoFit/>
          </a:bodyPr>
          <a:lstStyle/>
          <a:p>
            <a:r>
              <a:rPr lang="en-US" sz="900" dirty="0">
                <a:solidFill>
                  <a:schemeClr val="tx1">
                    <a:lumMod val="50000"/>
                    <a:lumOff val="50000"/>
                  </a:schemeClr>
                </a:solidFill>
              </a:rPr>
              <a:t>Advanced</a:t>
            </a:r>
          </a:p>
        </p:txBody>
      </p:sp>
      <p:sp>
        <p:nvSpPr>
          <p:cNvPr id="73" name="TextBox 72">
            <a:extLst>
              <a:ext uri="{FF2B5EF4-FFF2-40B4-BE49-F238E27FC236}">
                <a16:creationId xmlns:a16="http://schemas.microsoft.com/office/drawing/2014/main" id="{91D29EE3-867E-D01B-61A3-DDD38B1C6945}"/>
              </a:ext>
            </a:extLst>
          </p:cNvPr>
          <p:cNvSpPr txBox="1"/>
          <p:nvPr/>
        </p:nvSpPr>
        <p:spPr>
          <a:xfrm>
            <a:off x="5348293" y="5511575"/>
            <a:ext cx="679994" cy="230832"/>
          </a:xfrm>
          <a:prstGeom prst="rect">
            <a:avLst/>
          </a:prstGeom>
          <a:solidFill>
            <a:schemeClr val="bg1">
              <a:lumMod val="95000"/>
            </a:schemeClr>
          </a:solidFill>
        </p:spPr>
        <p:txBody>
          <a:bodyPr wrap="none" rtlCol="0">
            <a:spAutoFit/>
          </a:bodyPr>
          <a:lstStyle/>
          <a:p>
            <a:r>
              <a:rPr lang="en-US" sz="900" dirty="0">
                <a:solidFill>
                  <a:schemeClr val="tx1">
                    <a:lumMod val="50000"/>
                    <a:lumOff val="50000"/>
                  </a:schemeClr>
                </a:solidFill>
              </a:rPr>
              <a:t>Advanced</a:t>
            </a:r>
          </a:p>
        </p:txBody>
      </p:sp>
      <p:sp>
        <p:nvSpPr>
          <p:cNvPr id="74" name="TextBox 73">
            <a:extLst>
              <a:ext uri="{FF2B5EF4-FFF2-40B4-BE49-F238E27FC236}">
                <a16:creationId xmlns:a16="http://schemas.microsoft.com/office/drawing/2014/main" id="{BD7EF34D-8D97-E20E-4FDA-661B8C391C96}"/>
              </a:ext>
            </a:extLst>
          </p:cNvPr>
          <p:cNvSpPr txBox="1"/>
          <p:nvPr/>
        </p:nvSpPr>
        <p:spPr>
          <a:xfrm>
            <a:off x="7441216" y="5511575"/>
            <a:ext cx="679994" cy="230832"/>
          </a:xfrm>
          <a:prstGeom prst="rect">
            <a:avLst/>
          </a:prstGeom>
          <a:solidFill>
            <a:schemeClr val="bg1">
              <a:lumMod val="95000"/>
            </a:schemeClr>
          </a:solidFill>
        </p:spPr>
        <p:txBody>
          <a:bodyPr wrap="none" rtlCol="0">
            <a:spAutoFit/>
          </a:bodyPr>
          <a:lstStyle/>
          <a:p>
            <a:r>
              <a:rPr lang="en-US" sz="900" dirty="0">
                <a:solidFill>
                  <a:schemeClr val="tx1">
                    <a:lumMod val="50000"/>
                    <a:lumOff val="50000"/>
                  </a:schemeClr>
                </a:solidFill>
              </a:rPr>
              <a:t>Advanced</a:t>
            </a:r>
          </a:p>
        </p:txBody>
      </p:sp>
      <p:sp>
        <p:nvSpPr>
          <p:cNvPr id="75" name="TextBox 74">
            <a:extLst>
              <a:ext uri="{FF2B5EF4-FFF2-40B4-BE49-F238E27FC236}">
                <a16:creationId xmlns:a16="http://schemas.microsoft.com/office/drawing/2014/main" id="{C557432B-4CA9-DBE5-6E0C-85B489F51484}"/>
              </a:ext>
            </a:extLst>
          </p:cNvPr>
          <p:cNvSpPr txBox="1"/>
          <p:nvPr/>
        </p:nvSpPr>
        <p:spPr>
          <a:xfrm>
            <a:off x="8379279" y="1346561"/>
            <a:ext cx="604653" cy="261610"/>
          </a:xfrm>
          <a:prstGeom prst="rect">
            <a:avLst/>
          </a:prstGeom>
          <a:noFill/>
        </p:spPr>
        <p:txBody>
          <a:bodyPr wrap="none" rtlCol="0">
            <a:spAutoFit/>
          </a:bodyPr>
          <a:lstStyle/>
          <a:p>
            <a:r>
              <a:rPr lang="en-US" sz="1100" dirty="0"/>
              <a:t>Case 1</a:t>
            </a:r>
          </a:p>
        </p:txBody>
      </p:sp>
      <p:cxnSp>
        <p:nvCxnSpPr>
          <p:cNvPr id="76" name="Straight Connector 75">
            <a:extLst>
              <a:ext uri="{FF2B5EF4-FFF2-40B4-BE49-F238E27FC236}">
                <a16:creationId xmlns:a16="http://schemas.microsoft.com/office/drawing/2014/main" id="{94A42AAF-250D-A019-81EE-3D1299C9F981}"/>
              </a:ext>
            </a:extLst>
          </p:cNvPr>
          <p:cNvCxnSpPr>
            <a:cxnSpLocks/>
          </p:cNvCxnSpPr>
          <p:nvPr/>
        </p:nvCxnSpPr>
        <p:spPr>
          <a:xfrm>
            <a:off x="369145" y="548640"/>
            <a:ext cx="0" cy="1891417"/>
          </a:xfrm>
          <a:prstGeom prst="line">
            <a:avLst/>
          </a:prstGeom>
          <a:ln/>
        </p:spPr>
        <p:style>
          <a:lnRef idx="1">
            <a:schemeClr val="accent1"/>
          </a:lnRef>
          <a:fillRef idx="0">
            <a:schemeClr val="accent1"/>
          </a:fillRef>
          <a:effectRef idx="0">
            <a:schemeClr val="accent1"/>
          </a:effectRef>
          <a:fontRef idx="minor">
            <a:schemeClr val="tx1"/>
          </a:fontRef>
        </p:style>
      </p:cxnSp>
      <p:sp>
        <p:nvSpPr>
          <p:cNvPr id="77" name="Rectangle 76">
            <a:extLst>
              <a:ext uri="{FF2B5EF4-FFF2-40B4-BE49-F238E27FC236}">
                <a16:creationId xmlns:a16="http://schemas.microsoft.com/office/drawing/2014/main" id="{3BF0279F-3247-15C9-09DB-ED85FE319926}"/>
              </a:ext>
            </a:extLst>
          </p:cNvPr>
          <p:cNvSpPr/>
          <p:nvPr/>
        </p:nvSpPr>
        <p:spPr>
          <a:xfrm>
            <a:off x="9560"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cxnSp>
        <p:nvCxnSpPr>
          <p:cNvPr id="78" name="Straight Connector 77">
            <a:extLst>
              <a:ext uri="{FF2B5EF4-FFF2-40B4-BE49-F238E27FC236}">
                <a16:creationId xmlns:a16="http://schemas.microsoft.com/office/drawing/2014/main" id="{F34AE497-A404-CB79-7331-0E769BC4A1F4}"/>
              </a:ext>
            </a:extLst>
          </p:cNvPr>
          <p:cNvCxnSpPr/>
          <p:nvPr/>
        </p:nvCxnSpPr>
        <p:spPr>
          <a:xfrm>
            <a:off x="371928" y="1431036"/>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CC5D8725-6095-DACC-E816-4101F898885C}"/>
              </a:ext>
            </a:extLst>
          </p:cNvPr>
          <p:cNvSpPr txBox="1"/>
          <p:nvPr/>
        </p:nvSpPr>
        <p:spPr>
          <a:xfrm>
            <a:off x="1561000" y="1399032"/>
            <a:ext cx="457176" cy="261610"/>
          </a:xfrm>
          <a:prstGeom prst="rect">
            <a:avLst/>
          </a:prstGeom>
          <a:noFill/>
        </p:spPr>
        <p:txBody>
          <a:bodyPr wrap="none" rtlCol="0">
            <a:spAutoFit/>
          </a:bodyPr>
          <a:lstStyle/>
          <a:p>
            <a:r>
              <a:rPr lang="en-US" sz="1100" dirty="0"/>
              <a:t>time</a:t>
            </a:r>
          </a:p>
        </p:txBody>
      </p:sp>
      <p:sp>
        <p:nvSpPr>
          <p:cNvPr id="81" name="TextBox 80">
            <a:extLst>
              <a:ext uri="{FF2B5EF4-FFF2-40B4-BE49-F238E27FC236}">
                <a16:creationId xmlns:a16="http://schemas.microsoft.com/office/drawing/2014/main" id="{B4142111-EC27-4733-701F-FED4CF358965}"/>
              </a:ext>
            </a:extLst>
          </p:cNvPr>
          <p:cNvSpPr txBox="1"/>
          <p:nvPr/>
        </p:nvSpPr>
        <p:spPr>
          <a:xfrm rot="16200000">
            <a:off x="-107052" y="676132"/>
            <a:ext cx="679994" cy="261610"/>
          </a:xfrm>
          <a:prstGeom prst="rect">
            <a:avLst/>
          </a:prstGeom>
          <a:noFill/>
        </p:spPr>
        <p:txBody>
          <a:bodyPr wrap="none" rtlCol="0">
            <a:spAutoFit/>
          </a:bodyPr>
          <a:lstStyle/>
          <a:p>
            <a:r>
              <a:rPr lang="en-US" sz="1100" dirty="0"/>
              <a:t>position</a:t>
            </a:r>
          </a:p>
        </p:txBody>
      </p:sp>
      <p:sp>
        <p:nvSpPr>
          <p:cNvPr id="82" name="TextBox 81">
            <a:extLst>
              <a:ext uri="{FF2B5EF4-FFF2-40B4-BE49-F238E27FC236}">
                <a16:creationId xmlns:a16="http://schemas.microsoft.com/office/drawing/2014/main" id="{2123111E-6339-FAA0-730E-D06142EA172E}"/>
              </a:ext>
            </a:extLst>
          </p:cNvPr>
          <p:cNvSpPr txBox="1"/>
          <p:nvPr/>
        </p:nvSpPr>
        <p:spPr>
          <a:xfrm>
            <a:off x="114668" y="1300231"/>
            <a:ext cx="260008" cy="261610"/>
          </a:xfrm>
          <a:prstGeom prst="rect">
            <a:avLst/>
          </a:prstGeom>
          <a:noFill/>
        </p:spPr>
        <p:txBody>
          <a:bodyPr wrap="none" rtlCol="0">
            <a:spAutoFit/>
          </a:bodyPr>
          <a:lstStyle/>
          <a:p>
            <a:r>
              <a:rPr lang="en-US" sz="1100" dirty="0"/>
              <a:t>0</a:t>
            </a:r>
          </a:p>
        </p:txBody>
      </p:sp>
      <p:cxnSp>
        <p:nvCxnSpPr>
          <p:cNvPr id="83" name="Straight Connector 82">
            <a:extLst>
              <a:ext uri="{FF2B5EF4-FFF2-40B4-BE49-F238E27FC236}">
                <a16:creationId xmlns:a16="http://schemas.microsoft.com/office/drawing/2014/main" id="{E328DEBB-71B7-5BCF-92F9-974A1485F83B}"/>
              </a:ext>
            </a:extLst>
          </p:cNvPr>
          <p:cNvCxnSpPr>
            <a:cxnSpLocks/>
          </p:cNvCxnSpPr>
          <p:nvPr/>
        </p:nvCxnSpPr>
        <p:spPr>
          <a:xfrm>
            <a:off x="2423619" y="550164"/>
            <a:ext cx="0" cy="1891417"/>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FABD4326-EFF2-9E14-4E5D-B9251CEFEC1F}"/>
              </a:ext>
            </a:extLst>
          </p:cNvPr>
          <p:cNvCxnSpPr/>
          <p:nvPr/>
        </p:nvCxnSpPr>
        <p:spPr>
          <a:xfrm>
            <a:off x="2426402" y="1432560"/>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3E2A544F-160E-AC20-4919-58E3490606A8}"/>
              </a:ext>
            </a:extLst>
          </p:cNvPr>
          <p:cNvSpPr txBox="1"/>
          <p:nvPr/>
        </p:nvSpPr>
        <p:spPr>
          <a:xfrm>
            <a:off x="3642633" y="1400556"/>
            <a:ext cx="457176" cy="261610"/>
          </a:xfrm>
          <a:prstGeom prst="rect">
            <a:avLst/>
          </a:prstGeom>
          <a:noFill/>
        </p:spPr>
        <p:txBody>
          <a:bodyPr wrap="none" rtlCol="0">
            <a:spAutoFit/>
          </a:bodyPr>
          <a:lstStyle/>
          <a:p>
            <a:r>
              <a:rPr lang="en-US" sz="1100" dirty="0"/>
              <a:t>time</a:t>
            </a:r>
          </a:p>
        </p:txBody>
      </p:sp>
      <p:sp>
        <p:nvSpPr>
          <p:cNvPr id="86" name="TextBox 85">
            <a:extLst>
              <a:ext uri="{FF2B5EF4-FFF2-40B4-BE49-F238E27FC236}">
                <a16:creationId xmlns:a16="http://schemas.microsoft.com/office/drawing/2014/main" id="{75512EA5-4E3D-F7DE-3848-EF64125BC82D}"/>
              </a:ext>
            </a:extLst>
          </p:cNvPr>
          <p:cNvSpPr txBox="1"/>
          <p:nvPr/>
        </p:nvSpPr>
        <p:spPr>
          <a:xfrm rot="16200000">
            <a:off x="1960246" y="677656"/>
            <a:ext cx="654346" cy="261610"/>
          </a:xfrm>
          <a:prstGeom prst="rect">
            <a:avLst/>
          </a:prstGeom>
          <a:noFill/>
        </p:spPr>
        <p:txBody>
          <a:bodyPr wrap="none" rtlCol="0">
            <a:spAutoFit/>
          </a:bodyPr>
          <a:lstStyle/>
          <a:p>
            <a:r>
              <a:rPr lang="en-US" sz="1100" dirty="0"/>
              <a:t>velocity</a:t>
            </a:r>
          </a:p>
        </p:txBody>
      </p:sp>
      <p:sp>
        <p:nvSpPr>
          <p:cNvPr id="87" name="TextBox 86">
            <a:extLst>
              <a:ext uri="{FF2B5EF4-FFF2-40B4-BE49-F238E27FC236}">
                <a16:creationId xmlns:a16="http://schemas.microsoft.com/office/drawing/2014/main" id="{6A074AFA-1701-69E0-E84D-665F112C90D7}"/>
              </a:ext>
            </a:extLst>
          </p:cNvPr>
          <p:cNvSpPr txBox="1"/>
          <p:nvPr/>
        </p:nvSpPr>
        <p:spPr>
          <a:xfrm>
            <a:off x="2169142" y="1301755"/>
            <a:ext cx="260008" cy="261610"/>
          </a:xfrm>
          <a:prstGeom prst="rect">
            <a:avLst/>
          </a:prstGeom>
          <a:noFill/>
        </p:spPr>
        <p:txBody>
          <a:bodyPr wrap="none" rtlCol="0">
            <a:spAutoFit/>
          </a:bodyPr>
          <a:lstStyle/>
          <a:p>
            <a:r>
              <a:rPr lang="en-US" sz="1100" dirty="0"/>
              <a:t>0</a:t>
            </a:r>
          </a:p>
        </p:txBody>
      </p:sp>
      <p:sp>
        <p:nvSpPr>
          <p:cNvPr id="92" name="Rectangle 91">
            <a:extLst>
              <a:ext uri="{FF2B5EF4-FFF2-40B4-BE49-F238E27FC236}">
                <a16:creationId xmlns:a16="http://schemas.microsoft.com/office/drawing/2014/main" id="{8610B0B4-1309-DD21-CBE3-EFC02F219C31}"/>
              </a:ext>
            </a:extLst>
          </p:cNvPr>
          <p:cNvSpPr/>
          <p:nvPr/>
        </p:nvSpPr>
        <p:spPr>
          <a:xfrm>
            <a:off x="207995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93" name="Rectangle 92">
            <a:extLst>
              <a:ext uri="{FF2B5EF4-FFF2-40B4-BE49-F238E27FC236}">
                <a16:creationId xmlns:a16="http://schemas.microsoft.com/office/drawing/2014/main" id="{ECFF7A02-DEC9-C2CD-08E8-8514E490E4E8}"/>
              </a:ext>
            </a:extLst>
          </p:cNvPr>
          <p:cNvSpPr/>
          <p:nvPr/>
        </p:nvSpPr>
        <p:spPr>
          <a:xfrm>
            <a:off x="415887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94" name="Rectangle 93">
            <a:extLst>
              <a:ext uri="{FF2B5EF4-FFF2-40B4-BE49-F238E27FC236}">
                <a16:creationId xmlns:a16="http://schemas.microsoft.com/office/drawing/2014/main" id="{8A705E12-42BA-DA12-B381-B266060F770A}"/>
              </a:ext>
            </a:extLst>
          </p:cNvPr>
          <p:cNvSpPr/>
          <p:nvPr/>
        </p:nvSpPr>
        <p:spPr>
          <a:xfrm>
            <a:off x="6226082" y="-7609"/>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95" name="Rectangle 94">
            <a:extLst>
              <a:ext uri="{FF2B5EF4-FFF2-40B4-BE49-F238E27FC236}">
                <a16:creationId xmlns:a16="http://schemas.microsoft.com/office/drawing/2014/main" id="{539BE9D4-9321-1CE5-0A37-8DD5FC6EAE12}"/>
              </a:ext>
            </a:extLst>
          </p:cNvPr>
          <p:cNvSpPr/>
          <p:nvPr/>
        </p:nvSpPr>
        <p:spPr>
          <a:xfrm>
            <a:off x="4158876" y="-574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96" name="Rectangle 95">
            <a:extLst>
              <a:ext uri="{FF2B5EF4-FFF2-40B4-BE49-F238E27FC236}">
                <a16:creationId xmlns:a16="http://schemas.microsoft.com/office/drawing/2014/main" id="{E8D3E3D3-37FF-6050-3DAC-5A422E15F20D}"/>
              </a:ext>
            </a:extLst>
          </p:cNvPr>
          <p:cNvSpPr/>
          <p:nvPr/>
        </p:nvSpPr>
        <p:spPr>
          <a:xfrm>
            <a:off x="6226082" y="-3505"/>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cxnSp>
        <p:nvCxnSpPr>
          <p:cNvPr id="97" name="Straight Connector 96">
            <a:extLst>
              <a:ext uri="{FF2B5EF4-FFF2-40B4-BE49-F238E27FC236}">
                <a16:creationId xmlns:a16="http://schemas.microsoft.com/office/drawing/2014/main" id="{7282EC18-29B3-FB48-E278-F3D81950FDD7}"/>
              </a:ext>
            </a:extLst>
          </p:cNvPr>
          <p:cNvCxnSpPr>
            <a:cxnSpLocks/>
          </p:cNvCxnSpPr>
          <p:nvPr/>
        </p:nvCxnSpPr>
        <p:spPr>
          <a:xfrm flipV="1">
            <a:off x="363615" y="1692646"/>
            <a:ext cx="1335024" cy="635508"/>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98" name="Straight Connector 97">
            <a:extLst>
              <a:ext uri="{FF2B5EF4-FFF2-40B4-BE49-F238E27FC236}">
                <a16:creationId xmlns:a16="http://schemas.microsoft.com/office/drawing/2014/main" id="{DCA27E1C-A9AD-FA76-8B21-B59E2C0D2364}"/>
              </a:ext>
            </a:extLst>
          </p:cNvPr>
          <p:cNvCxnSpPr>
            <a:cxnSpLocks/>
          </p:cNvCxnSpPr>
          <p:nvPr/>
        </p:nvCxnSpPr>
        <p:spPr>
          <a:xfrm flipV="1">
            <a:off x="2427485" y="806937"/>
            <a:ext cx="1339842" cy="1524"/>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sp>
        <p:nvSpPr>
          <p:cNvPr id="99" name="Oval 98">
            <a:extLst>
              <a:ext uri="{FF2B5EF4-FFF2-40B4-BE49-F238E27FC236}">
                <a16:creationId xmlns:a16="http://schemas.microsoft.com/office/drawing/2014/main" id="{CE705799-0C9C-9361-0EAE-C1982B73D553}"/>
              </a:ext>
            </a:extLst>
          </p:cNvPr>
          <p:cNvSpPr/>
          <p:nvPr/>
        </p:nvSpPr>
        <p:spPr>
          <a:xfrm>
            <a:off x="5218916" y="2107750"/>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78C0EAE1-1259-C1E8-4F9E-05BAC66E760D}"/>
              </a:ext>
            </a:extLst>
          </p:cNvPr>
          <p:cNvSpPr/>
          <p:nvPr/>
        </p:nvSpPr>
        <p:spPr>
          <a:xfrm>
            <a:off x="5218916" y="1734422"/>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CF7C92E1-BA2D-E987-EEA3-C4C7EE1C3F95}"/>
              </a:ext>
            </a:extLst>
          </p:cNvPr>
          <p:cNvSpPr/>
          <p:nvPr/>
        </p:nvSpPr>
        <p:spPr>
          <a:xfrm>
            <a:off x="5218915" y="1361094"/>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024C0B00-D4B3-9B05-CC33-E90604594731}"/>
              </a:ext>
            </a:extLst>
          </p:cNvPr>
          <p:cNvSpPr/>
          <p:nvPr/>
        </p:nvSpPr>
        <p:spPr>
          <a:xfrm>
            <a:off x="5218915" y="984535"/>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TextBox 102">
            <a:extLst>
              <a:ext uri="{FF2B5EF4-FFF2-40B4-BE49-F238E27FC236}">
                <a16:creationId xmlns:a16="http://schemas.microsoft.com/office/drawing/2014/main" id="{F3DEB5DC-73A1-69B2-5288-CE0D8FE733E7}"/>
              </a:ext>
            </a:extLst>
          </p:cNvPr>
          <p:cNvSpPr txBox="1"/>
          <p:nvPr/>
        </p:nvSpPr>
        <p:spPr>
          <a:xfrm>
            <a:off x="4922058" y="2002696"/>
            <a:ext cx="260008" cy="261610"/>
          </a:xfrm>
          <a:prstGeom prst="rect">
            <a:avLst/>
          </a:prstGeom>
          <a:noFill/>
        </p:spPr>
        <p:txBody>
          <a:bodyPr wrap="none" rtlCol="0">
            <a:spAutoFit/>
          </a:bodyPr>
          <a:lstStyle/>
          <a:p>
            <a:r>
              <a:rPr lang="en-US" sz="1100" dirty="0"/>
              <a:t>1</a:t>
            </a:r>
          </a:p>
        </p:txBody>
      </p:sp>
      <p:sp>
        <p:nvSpPr>
          <p:cNvPr id="104" name="TextBox 103">
            <a:extLst>
              <a:ext uri="{FF2B5EF4-FFF2-40B4-BE49-F238E27FC236}">
                <a16:creationId xmlns:a16="http://schemas.microsoft.com/office/drawing/2014/main" id="{7A46F92C-1D73-A5A7-BE2B-DDD63554230A}"/>
              </a:ext>
            </a:extLst>
          </p:cNvPr>
          <p:cNvSpPr txBox="1"/>
          <p:nvPr/>
        </p:nvSpPr>
        <p:spPr>
          <a:xfrm>
            <a:off x="4921530" y="1603617"/>
            <a:ext cx="260008" cy="261610"/>
          </a:xfrm>
          <a:prstGeom prst="rect">
            <a:avLst/>
          </a:prstGeom>
          <a:noFill/>
        </p:spPr>
        <p:txBody>
          <a:bodyPr wrap="none" rtlCol="0">
            <a:spAutoFit/>
          </a:bodyPr>
          <a:lstStyle/>
          <a:p>
            <a:r>
              <a:rPr lang="en-US" sz="1100" dirty="0"/>
              <a:t>2</a:t>
            </a:r>
          </a:p>
        </p:txBody>
      </p:sp>
      <p:sp>
        <p:nvSpPr>
          <p:cNvPr id="105" name="TextBox 104">
            <a:extLst>
              <a:ext uri="{FF2B5EF4-FFF2-40B4-BE49-F238E27FC236}">
                <a16:creationId xmlns:a16="http://schemas.microsoft.com/office/drawing/2014/main" id="{30183C3B-B6CA-13C8-8D08-7284EB020FEC}"/>
              </a:ext>
            </a:extLst>
          </p:cNvPr>
          <p:cNvSpPr txBox="1"/>
          <p:nvPr/>
        </p:nvSpPr>
        <p:spPr>
          <a:xfrm>
            <a:off x="4921530" y="1250170"/>
            <a:ext cx="260008" cy="261610"/>
          </a:xfrm>
          <a:prstGeom prst="rect">
            <a:avLst/>
          </a:prstGeom>
          <a:noFill/>
        </p:spPr>
        <p:txBody>
          <a:bodyPr wrap="none" rtlCol="0">
            <a:spAutoFit/>
          </a:bodyPr>
          <a:lstStyle/>
          <a:p>
            <a:r>
              <a:rPr lang="en-US" sz="1100" dirty="0"/>
              <a:t>3</a:t>
            </a:r>
          </a:p>
        </p:txBody>
      </p:sp>
      <p:sp>
        <p:nvSpPr>
          <p:cNvPr id="106" name="TextBox 105">
            <a:extLst>
              <a:ext uri="{FF2B5EF4-FFF2-40B4-BE49-F238E27FC236}">
                <a16:creationId xmlns:a16="http://schemas.microsoft.com/office/drawing/2014/main" id="{DF5FF78F-33DD-2D7D-EA79-F1A02CFB0A3F}"/>
              </a:ext>
            </a:extLst>
          </p:cNvPr>
          <p:cNvSpPr txBox="1"/>
          <p:nvPr/>
        </p:nvSpPr>
        <p:spPr>
          <a:xfrm>
            <a:off x="4941728" y="876842"/>
            <a:ext cx="260008" cy="261610"/>
          </a:xfrm>
          <a:prstGeom prst="rect">
            <a:avLst/>
          </a:prstGeom>
          <a:noFill/>
        </p:spPr>
        <p:txBody>
          <a:bodyPr wrap="none" rtlCol="0">
            <a:spAutoFit/>
          </a:bodyPr>
          <a:lstStyle/>
          <a:p>
            <a:r>
              <a:rPr lang="en-US" sz="1100" dirty="0"/>
              <a:t>4</a:t>
            </a:r>
          </a:p>
        </p:txBody>
      </p:sp>
      <p:sp>
        <p:nvSpPr>
          <p:cNvPr id="107" name="Oval 106">
            <a:extLst>
              <a:ext uri="{FF2B5EF4-FFF2-40B4-BE49-F238E27FC236}">
                <a16:creationId xmlns:a16="http://schemas.microsoft.com/office/drawing/2014/main" id="{121B89DA-C7E7-1B3B-A9B6-9EEA55A9A428}"/>
              </a:ext>
            </a:extLst>
          </p:cNvPr>
          <p:cNvSpPr/>
          <p:nvPr/>
        </p:nvSpPr>
        <p:spPr>
          <a:xfrm>
            <a:off x="7105133" y="1436641"/>
            <a:ext cx="96963" cy="8883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 name="Straight Arrow Connector 107">
            <a:extLst>
              <a:ext uri="{FF2B5EF4-FFF2-40B4-BE49-F238E27FC236}">
                <a16:creationId xmlns:a16="http://schemas.microsoft.com/office/drawing/2014/main" id="{E40791A9-7B8B-0ED9-87A7-FD6677D3BBB6}"/>
              </a:ext>
            </a:extLst>
          </p:cNvPr>
          <p:cNvCxnSpPr>
            <a:cxnSpLocks/>
          </p:cNvCxnSpPr>
          <p:nvPr/>
        </p:nvCxnSpPr>
        <p:spPr>
          <a:xfrm flipV="1">
            <a:off x="7156169" y="953374"/>
            <a:ext cx="0" cy="483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9" name="Straight Arrow Connector 108">
            <a:extLst>
              <a:ext uri="{FF2B5EF4-FFF2-40B4-BE49-F238E27FC236}">
                <a16:creationId xmlns:a16="http://schemas.microsoft.com/office/drawing/2014/main" id="{F84A262B-BB85-09AD-9A58-355A6DCAB3A1}"/>
              </a:ext>
            </a:extLst>
          </p:cNvPr>
          <p:cNvCxnSpPr>
            <a:cxnSpLocks/>
          </p:cNvCxnSpPr>
          <p:nvPr/>
        </p:nvCxnSpPr>
        <p:spPr>
          <a:xfrm>
            <a:off x="7156188" y="1532328"/>
            <a:ext cx="0" cy="483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0" name="TextBox 109">
            <a:extLst>
              <a:ext uri="{FF2B5EF4-FFF2-40B4-BE49-F238E27FC236}">
                <a16:creationId xmlns:a16="http://schemas.microsoft.com/office/drawing/2014/main" id="{6D74C8C6-80F9-C1AB-B19A-F91D9527B6FA}"/>
              </a:ext>
            </a:extLst>
          </p:cNvPr>
          <p:cNvSpPr txBox="1"/>
          <p:nvPr/>
        </p:nvSpPr>
        <p:spPr>
          <a:xfrm>
            <a:off x="7153614" y="802593"/>
            <a:ext cx="726481" cy="261610"/>
          </a:xfrm>
          <a:prstGeom prst="rect">
            <a:avLst/>
          </a:prstGeom>
          <a:noFill/>
        </p:spPr>
        <p:txBody>
          <a:bodyPr wrap="none" rtlCol="0">
            <a:spAutoFit/>
          </a:bodyPr>
          <a:lstStyle/>
          <a:p>
            <a:r>
              <a:rPr lang="en-US" sz="1100" dirty="0"/>
              <a:t>F</a:t>
            </a:r>
            <a:r>
              <a:rPr lang="en-US" sz="1100" baseline="-25000" dirty="0"/>
              <a:t>N </a:t>
            </a:r>
            <a:r>
              <a:rPr lang="en-US" sz="1100" dirty="0"/>
              <a:t>= 12 N</a:t>
            </a:r>
          </a:p>
        </p:txBody>
      </p:sp>
      <p:sp>
        <p:nvSpPr>
          <p:cNvPr id="111" name="TextBox 110">
            <a:extLst>
              <a:ext uri="{FF2B5EF4-FFF2-40B4-BE49-F238E27FC236}">
                <a16:creationId xmlns:a16="http://schemas.microsoft.com/office/drawing/2014/main" id="{BFDB464F-4E6C-C167-0CCB-DDE17C3ABBC3}"/>
              </a:ext>
            </a:extLst>
          </p:cNvPr>
          <p:cNvSpPr txBox="1"/>
          <p:nvPr/>
        </p:nvSpPr>
        <p:spPr>
          <a:xfrm>
            <a:off x="7153613" y="1897642"/>
            <a:ext cx="697627" cy="261610"/>
          </a:xfrm>
          <a:prstGeom prst="rect">
            <a:avLst/>
          </a:prstGeom>
          <a:noFill/>
        </p:spPr>
        <p:txBody>
          <a:bodyPr wrap="none" rtlCol="0">
            <a:spAutoFit/>
          </a:bodyPr>
          <a:lstStyle/>
          <a:p>
            <a:r>
              <a:rPr lang="en-US" sz="1100" dirty="0"/>
              <a:t>w = 12 N</a:t>
            </a:r>
          </a:p>
        </p:txBody>
      </p:sp>
      <p:sp>
        <p:nvSpPr>
          <p:cNvPr id="112" name="Rectangle 111">
            <a:extLst>
              <a:ext uri="{FF2B5EF4-FFF2-40B4-BE49-F238E27FC236}">
                <a16:creationId xmlns:a16="http://schemas.microsoft.com/office/drawing/2014/main" id="{854E220F-2395-1B36-125F-9940F97173B3}"/>
              </a:ext>
            </a:extLst>
          </p:cNvPr>
          <p:cNvSpPr/>
          <p:nvPr/>
        </p:nvSpPr>
        <p:spPr>
          <a:xfrm>
            <a:off x="-1950" y="0"/>
            <a:ext cx="2073955" cy="25205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 vs t graph</a:t>
            </a:r>
          </a:p>
        </p:txBody>
      </p:sp>
      <p:sp>
        <p:nvSpPr>
          <p:cNvPr id="113" name="Rectangle 112">
            <a:extLst>
              <a:ext uri="{FF2B5EF4-FFF2-40B4-BE49-F238E27FC236}">
                <a16:creationId xmlns:a16="http://schemas.microsoft.com/office/drawing/2014/main" id="{1F97EF90-B747-B901-5973-A1E4214D616F}"/>
              </a:ext>
            </a:extLst>
          </p:cNvPr>
          <p:cNvSpPr/>
          <p:nvPr/>
        </p:nvSpPr>
        <p:spPr>
          <a:xfrm>
            <a:off x="2083515" y="374"/>
            <a:ext cx="2076530" cy="252056"/>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v vs t graph</a:t>
            </a:r>
          </a:p>
        </p:txBody>
      </p:sp>
      <p:sp>
        <p:nvSpPr>
          <p:cNvPr id="114" name="Rectangle 113">
            <a:extLst>
              <a:ext uri="{FF2B5EF4-FFF2-40B4-BE49-F238E27FC236}">
                <a16:creationId xmlns:a16="http://schemas.microsoft.com/office/drawing/2014/main" id="{52C8B3A7-A74A-A14A-865A-3B946B868F2F}"/>
              </a:ext>
            </a:extLst>
          </p:cNvPr>
          <p:cNvSpPr/>
          <p:nvPr/>
        </p:nvSpPr>
        <p:spPr>
          <a:xfrm>
            <a:off x="4158875" y="-95"/>
            <a:ext cx="2073348" cy="25205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Motion diagram</a:t>
            </a:r>
          </a:p>
        </p:txBody>
      </p:sp>
      <p:sp>
        <p:nvSpPr>
          <p:cNvPr id="115" name="Rectangle 114">
            <a:extLst>
              <a:ext uri="{FF2B5EF4-FFF2-40B4-BE49-F238E27FC236}">
                <a16:creationId xmlns:a16="http://schemas.microsoft.com/office/drawing/2014/main" id="{F4A971DE-3289-F967-9507-6E1D80BC8AC4}"/>
              </a:ext>
            </a:extLst>
          </p:cNvPr>
          <p:cNvSpPr/>
          <p:nvPr/>
        </p:nvSpPr>
        <p:spPr>
          <a:xfrm>
            <a:off x="6235861" y="-95"/>
            <a:ext cx="2069294" cy="252056"/>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Free Body Diagram</a:t>
            </a:r>
          </a:p>
        </p:txBody>
      </p:sp>
      <p:sp>
        <p:nvSpPr>
          <p:cNvPr id="116" name="Rectangle 115">
            <a:extLst>
              <a:ext uri="{FF2B5EF4-FFF2-40B4-BE49-F238E27FC236}">
                <a16:creationId xmlns:a16="http://schemas.microsoft.com/office/drawing/2014/main" id="{44DF8DFC-06EA-0EE1-0E3D-F5651902FDEF}"/>
              </a:ext>
            </a:extLst>
          </p:cNvPr>
          <p:cNvSpPr/>
          <p:nvPr/>
        </p:nvSpPr>
        <p:spPr>
          <a:xfrm>
            <a:off x="6105524" y="251962"/>
            <a:ext cx="125271" cy="2714484"/>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17" name="Rectangle 116">
            <a:extLst>
              <a:ext uri="{FF2B5EF4-FFF2-40B4-BE49-F238E27FC236}">
                <a16:creationId xmlns:a16="http://schemas.microsoft.com/office/drawing/2014/main" id="{9291F9FB-C07C-3586-A7A4-168366EB3E5C}"/>
              </a:ext>
            </a:extLst>
          </p:cNvPr>
          <p:cNvSpPr/>
          <p:nvPr/>
        </p:nvSpPr>
        <p:spPr>
          <a:xfrm>
            <a:off x="4157885" y="251961"/>
            <a:ext cx="125271" cy="2714484"/>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18" name="Rectangle 117">
            <a:extLst>
              <a:ext uri="{FF2B5EF4-FFF2-40B4-BE49-F238E27FC236}">
                <a16:creationId xmlns:a16="http://schemas.microsoft.com/office/drawing/2014/main" id="{2C9D29A9-AF7D-BF2C-DB4D-7E2D13C76AA0}"/>
              </a:ext>
            </a:extLst>
          </p:cNvPr>
          <p:cNvSpPr/>
          <p:nvPr/>
        </p:nvSpPr>
        <p:spPr>
          <a:xfrm rot="5400000">
            <a:off x="5131229" y="1990843"/>
            <a:ext cx="125271" cy="182815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19" name="Rectangle 118">
            <a:extLst>
              <a:ext uri="{FF2B5EF4-FFF2-40B4-BE49-F238E27FC236}">
                <a16:creationId xmlns:a16="http://schemas.microsoft.com/office/drawing/2014/main" id="{939036BE-296D-9069-956E-8F176296C1F7}"/>
              </a:ext>
            </a:extLst>
          </p:cNvPr>
          <p:cNvSpPr/>
          <p:nvPr/>
        </p:nvSpPr>
        <p:spPr>
          <a:xfrm>
            <a:off x="8179689" y="250653"/>
            <a:ext cx="125271" cy="2715791"/>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20" name="Rectangle 119">
            <a:extLst>
              <a:ext uri="{FF2B5EF4-FFF2-40B4-BE49-F238E27FC236}">
                <a16:creationId xmlns:a16="http://schemas.microsoft.com/office/drawing/2014/main" id="{719E8BE4-C399-4441-2490-B371E6B42DA0}"/>
              </a:ext>
            </a:extLst>
          </p:cNvPr>
          <p:cNvSpPr/>
          <p:nvPr/>
        </p:nvSpPr>
        <p:spPr>
          <a:xfrm>
            <a:off x="6235857" y="246375"/>
            <a:ext cx="125271" cy="2721182"/>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21" name="Rectangle 120">
            <a:extLst>
              <a:ext uri="{FF2B5EF4-FFF2-40B4-BE49-F238E27FC236}">
                <a16:creationId xmlns:a16="http://schemas.microsoft.com/office/drawing/2014/main" id="{28B68770-CF12-4F55-2BF1-559AA53BF8D2}"/>
              </a:ext>
            </a:extLst>
          </p:cNvPr>
          <p:cNvSpPr/>
          <p:nvPr/>
        </p:nvSpPr>
        <p:spPr>
          <a:xfrm rot="5400000">
            <a:off x="7209697" y="1982086"/>
            <a:ext cx="125271" cy="1846799"/>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22" name="TextBox 121">
            <a:extLst>
              <a:ext uri="{FF2B5EF4-FFF2-40B4-BE49-F238E27FC236}">
                <a16:creationId xmlns:a16="http://schemas.microsoft.com/office/drawing/2014/main" id="{A5028A42-1AF2-BEC5-C588-0E7F4BBD4125}"/>
              </a:ext>
            </a:extLst>
          </p:cNvPr>
          <p:cNvSpPr txBox="1"/>
          <p:nvPr/>
        </p:nvSpPr>
        <p:spPr>
          <a:xfrm>
            <a:off x="4613621" y="374678"/>
            <a:ext cx="1210588" cy="261610"/>
          </a:xfrm>
          <a:prstGeom prst="rect">
            <a:avLst/>
          </a:prstGeom>
          <a:noFill/>
        </p:spPr>
        <p:txBody>
          <a:bodyPr wrap="none" rtlCol="0">
            <a:spAutoFit/>
          </a:bodyPr>
          <a:lstStyle/>
          <a:p>
            <a:r>
              <a:rPr lang="en-US" sz="1100" dirty="0"/>
              <a:t>Vertical scenario</a:t>
            </a:r>
          </a:p>
        </p:txBody>
      </p:sp>
      <p:sp>
        <p:nvSpPr>
          <p:cNvPr id="123" name="TextBox 122">
            <a:extLst>
              <a:ext uri="{FF2B5EF4-FFF2-40B4-BE49-F238E27FC236}">
                <a16:creationId xmlns:a16="http://schemas.microsoft.com/office/drawing/2014/main" id="{84F53546-C847-8CAA-49CE-5A3C247C2D8B}"/>
              </a:ext>
            </a:extLst>
          </p:cNvPr>
          <p:cNvSpPr txBox="1"/>
          <p:nvPr/>
        </p:nvSpPr>
        <p:spPr>
          <a:xfrm>
            <a:off x="6640652" y="372154"/>
            <a:ext cx="1210588" cy="261610"/>
          </a:xfrm>
          <a:prstGeom prst="rect">
            <a:avLst/>
          </a:prstGeom>
          <a:noFill/>
        </p:spPr>
        <p:txBody>
          <a:bodyPr wrap="none" rtlCol="0">
            <a:spAutoFit/>
          </a:bodyPr>
          <a:lstStyle/>
          <a:p>
            <a:r>
              <a:rPr lang="en-US" sz="1100" dirty="0"/>
              <a:t>Vertical scenario</a:t>
            </a:r>
          </a:p>
        </p:txBody>
      </p:sp>
      <p:sp>
        <p:nvSpPr>
          <p:cNvPr id="124" name="Rectangle 123">
            <a:extLst>
              <a:ext uri="{FF2B5EF4-FFF2-40B4-BE49-F238E27FC236}">
                <a16:creationId xmlns:a16="http://schemas.microsoft.com/office/drawing/2014/main" id="{15FE2A19-9FFB-7E57-5C50-263A89450E77}"/>
              </a:ext>
            </a:extLst>
          </p:cNvPr>
          <p:cNvSpPr/>
          <p:nvPr/>
        </p:nvSpPr>
        <p:spPr>
          <a:xfrm>
            <a:off x="1945015" y="251962"/>
            <a:ext cx="125271" cy="271448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25" name="Rectangle 124">
            <a:extLst>
              <a:ext uri="{FF2B5EF4-FFF2-40B4-BE49-F238E27FC236}">
                <a16:creationId xmlns:a16="http://schemas.microsoft.com/office/drawing/2014/main" id="{2D7E8602-11F0-8A5A-B0FD-FC02CE2BA409}"/>
              </a:ext>
            </a:extLst>
          </p:cNvPr>
          <p:cNvSpPr/>
          <p:nvPr/>
        </p:nvSpPr>
        <p:spPr>
          <a:xfrm>
            <a:off x="-2624" y="251961"/>
            <a:ext cx="125271" cy="271448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26" name="Rectangle 125">
            <a:extLst>
              <a:ext uri="{FF2B5EF4-FFF2-40B4-BE49-F238E27FC236}">
                <a16:creationId xmlns:a16="http://schemas.microsoft.com/office/drawing/2014/main" id="{FB76FB20-2334-3ABA-6D67-177C255E6988}"/>
              </a:ext>
            </a:extLst>
          </p:cNvPr>
          <p:cNvSpPr/>
          <p:nvPr/>
        </p:nvSpPr>
        <p:spPr>
          <a:xfrm rot="5400000">
            <a:off x="970720" y="1990843"/>
            <a:ext cx="125271" cy="182815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27" name="Rectangle 126">
            <a:extLst>
              <a:ext uri="{FF2B5EF4-FFF2-40B4-BE49-F238E27FC236}">
                <a16:creationId xmlns:a16="http://schemas.microsoft.com/office/drawing/2014/main" id="{9C678C43-CD17-F765-8E43-E65A37CAE5CE}"/>
              </a:ext>
            </a:extLst>
          </p:cNvPr>
          <p:cNvSpPr/>
          <p:nvPr/>
        </p:nvSpPr>
        <p:spPr>
          <a:xfrm>
            <a:off x="4030990" y="248789"/>
            <a:ext cx="125271" cy="2715867"/>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28" name="Rectangle 127">
            <a:extLst>
              <a:ext uri="{FF2B5EF4-FFF2-40B4-BE49-F238E27FC236}">
                <a16:creationId xmlns:a16="http://schemas.microsoft.com/office/drawing/2014/main" id="{28BD7CDF-DE3C-F4D2-7197-5898AB7A7A58}"/>
              </a:ext>
            </a:extLst>
          </p:cNvPr>
          <p:cNvSpPr/>
          <p:nvPr/>
        </p:nvSpPr>
        <p:spPr>
          <a:xfrm>
            <a:off x="2075348" y="246375"/>
            <a:ext cx="125271" cy="2721182"/>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29" name="Rectangle 128">
            <a:extLst>
              <a:ext uri="{FF2B5EF4-FFF2-40B4-BE49-F238E27FC236}">
                <a16:creationId xmlns:a16="http://schemas.microsoft.com/office/drawing/2014/main" id="{22DB74C1-571A-F9F2-E20A-94AE002A7455}"/>
              </a:ext>
            </a:extLst>
          </p:cNvPr>
          <p:cNvSpPr/>
          <p:nvPr/>
        </p:nvSpPr>
        <p:spPr>
          <a:xfrm rot="5400000">
            <a:off x="3049188" y="1982086"/>
            <a:ext cx="125271" cy="1846799"/>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30" name="TextBox 129">
            <a:extLst>
              <a:ext uri="{FF2B5EF4-FFF2-40B4-BE49-F238E27FC236}">
                <a16:creationId xmlns:a16="http://schemas.microsoft.com/office/drawing/2014/main" id="{A3919CD2-DF40-144D-3B06-C11777D009BB}"/>
              </a:ext>
            </a:extLst>
          </p:cNvPr>
          <p:cNvSpPr txBox="1"/>
          <p:nvPr/>
        </p:nvSpPr>
        <p:spPr>
          <a:xfrm>
            <a:off x="1176182" y="2528294"/>
            <a:ext cx="679994" cy="230832"/>
          </a:xfrm>
          <a:prstGeom prst="rect">
            <a:avLst/>
          </a:prstGeom>
          <a:solidFill>
            <a:schemeClr val="bg1">
              <a:lumMod val="95000"/>
            </a:schemeClr>
          </a:solidFill>
        </p:spPr>
        <p:txBody>
          <a:bodyPr wrap="none" rtlCol="0">
            <a:spAutoFit/>
          </a:bodyPr>
          <a:lstStyle/>
          <a:p>
            <a:r>
              <a:rPr lang="en-US" sz="900" dirty="0">
                <a:solidFill>
                  <a:schemeClr val="tx1">
                    <a:lumMod val="50000"/>
                    <a:lumOff val="50000"/>
                  </a:schemeClr>
                </a:solidFill>
              </a:rPr>
              <a:t>Advanced</a:t>
            </a:r>
          </a:p>
        </p:txBody>
      </p:sp>
      <p:sp>
        <p:nvSpPr>
          <p:cNvPr id="131" name="TextBox 130">
            <a:extLst>
              <a:ext uri="{FF2B5EF4-FFF2-40B4-BE49-F238E27FC236}">
                <a16:creationId xmlns:a16="http://schemas.microsoft.com/office/drawing/2014/main" id="{43F81325-DF58-FE49-9E4D-F89F12ADDB86}"/>
              </a:ext>
            </a:extLst>
          </p:cNvPr>
          <p:cNvSpPr txBox="1"/>
          <p:nvPr/>
        </p:nvSpPr>
        <p:spPr>
          <a:xfrm>
            <a:off x="3269105" y="2528294"/>
            <a:ext cx="679994" cy="230832"/>
          </a:xfrm>
          <a:prstGeom prst="rect">
            <a:avLst/>
          </a:prstGeom>
          <a:solidFill>
            <a:schemeClr val="bg1">
              <a:lumMod val="95000"/>
            </a:schemeClr>
          </a:solidFill>
        </p:spPr>
        <p:txBody>
          <a:bodyPr wrap="none" rtlCol="0">
            <a:spAutoFit/>
          </a:bodyPr>
          <a:lstStyle/>
          <a:p>
            <a:r>
              <a:rPr lang="en-US" sz="900" dirty="0">
                <a:solidFill>
                  <a:schemeClr val="tx1">
                    <a:lumMod val="50000"/>
                    <a:lumOff val="50000"/>
                  </a:schemeClr>
                </a:solidFill>
              </a:rPr>
              <a:t>Advanced</a:t>
            </a:r>
          </a:p>
        </p:txBody>
      </p:sp>
      <p:sp>
        <p:nvSpPr>
          <p:cNvPr id="132" name="TextBox 131">
            <a:extLst>
              <a:ext uri="{FF2B5EF4-FFF2-40B4-BE49-F238E27FC236}">
                <a16:creationId xmlns:a16="http://schemas.microsoft.com/office/drawing/2014/main" id="{47D6520E-C8DA-3566-97CE-46306E3EB142}"/>
              </a:ext>
            </a:extLst>
          </p:cNvPr>
          <p:cNvSpPr txBox="1"/>
          <p:nvPr/>
        </p:nvSpPr>
        <p:spPr>
          <a:xfrm>
            <a:off x="5348293" y="2552407"/>
            <a:ext cx="679994" cy="230832"/>
          </a:xfrm>
          <a:prstGeom prst="rect">
            <a:avLst/>
          </a:prstGeom>
          <a:solidFill>
            <a:schemeClr val="bg1">
              <a:lumMod val="95000"/>
            </a:schemeClr>
          </a:solidFill>
        </p:spPr>
        <p:txBody>
          <a:bodyPr wrap="none" rtlCol="0">
            <a:spAutoFit/>
          </a:bodyPr>
          <a:lstStyle/>
          <a:p>
            <a:r>
              <a:rPr lang="en-US" sz="900" dirty="0">
                <a:solidFill>
                  <a:schemeClr val="tx1">
                    <a:lumMod val="50000"/>
                    <a:lumOff val="50000"/>
                  </a:schemeClr>
                </a:solidFill>
              </a:rPr>
              <a:t>Advanced</a:t>
            </a:r>
          </a:p>
        </p:txBody>
      </p:sp>
      <p:sp>
        <p:nvSpPr>
          <p:cNvPr id="133" name="TextBox 132">
            <a:extLst>
              <a:ext uri="{FF2B5EF4-FFF2-40B4-BE49-F238E27FC236}">
                <a16:creationId xmlns:a16="http://schemas.microsoft.com/office/drawing/2014/main" id="{2803CEFC-CE44-7AA9-5C2B-A9051F1C67A8}"/>
              </a:ext>
            </a:extLst>
          </p:cNvPr>
          <p:cNvSpPr txBox="1"/>
          <p:nvPr/>
        </p:nvSpPr>
        <p:spPr>
          <a:xfrm>
            <a:off x="7441216" y="2552407"/>
            <a:ext cx="679994" cy="230832"/>
          </a:xfrm>
          <a:prstGeom prst="rect">
            <a:avLst/>
          </a:prstGeom>
          <a:solidFill>
            <a:schemeClr val="bg1">
              <a:lumMod val="95000"/>
            </a:schemeClr>
          </a:solidFill>
        </p:spPr>
        <p:txBody>
          <a:bodyPr wrap="none" rtlCol="0">
            <a:spAutoFit/>
          </a:bodyPr>
          <a:lstStyle/>
          <a:p>
            <a:r>
              <a:rPr lang="en-US" sz="900" dirty="0">
                <a:solidFill>
                  <a:schemeClr val="tx1">
                    <a:lumMod val="50000"/>
                    <a:lumOff val="50000"/>
                  </a:schemeClr>
                </a:solidFill>
              </a:rPr>
              <a:t>Advanced</a:t>
            </a:r>
          </a:p>
        </p:txBody>
      </p:sp>
      <p:sp>
        <p:nvSpPr>
          <p:cNvPr id="23" name="TextBox 22">
            <a:extLst>
              <a:ext uri="{FF2B5EF4-FFF2-40B4-BE49-F238E27FC236}">
                <a16:creationId xmlns:a16="http://schemas.microsoft.com/office/drawing/2014/main" id="{7D4A8C50-9556-00AB-6DE1-0EF70E847185}"/>
              </a:ext>
            </a:extLst>
          </p:cNvPr>
          <p:cNvSpPr txBox="1"/>
          <p:nvPr/>
        </p:nvSpPr>
        <p:spPr>
          <a:xfrm>
            <a:off x="120648" y="2575731"/>
            <a:ext cx="574196" cy="261610"/>
          </a:xfrm>
          <a:prstGeom prst="rect">
            <a:avLst/>
          </a:prstGeom>
          <a:noFill/>
        </p:spPr>
        <p:txBody>
          <a:bodyPr wrap="none" rtlCol="0">
            <a:spAutoFit/>
          </a:bodyPr>
          <a:lstStyle/>
          <a:p>
            <a:r>
              <a:rPr lang="en-US" sz="1100" dirty="0"/>
              <a:t>Card x</a:t>
            </a:r>
          </a:p>
        </p:txBody>
      </p:sp>
      <p:sp>
        <p:nvSpPr>
          <p:cNvPr id="28" name="TextBox 27">
            <a:extLst>
              <a:ext uri="{FF2B5EF4-FFF2-40B4-BE49-F238E27FC236}">
                <a16:creationId xmlns:a16="http://schemas.microsoft.com/office/drawing/2014/main" id="{0B2E3951-0586-6DB6-6B41-AC2DE54149AF}"/>
              </a:ext>
            </a:extLst>
          </p:cNvPr>
          <p:cNvSpPr txBox="1"/>
          <p:nvPr/>
        </p:nvSpPr>
        <p:spPr>
          <a:xfrm>
            <a:off x="125324" y="5548933"/>
            <a:ext cx="574196" cy="261610"/>
          </a:xfrm>
          <a:prstGeom prst="rect">
            <a:avLst/>
          </a:prstGeom>
          <a:noFill/>
        </p:spPr>
        <p:txBody>
          <a:bodyPr wrap="none" rtlCol="0">
            <a:spAutoFit/>
          </a:bodyPr>
          <a:lstStyle/>
          <a:p>
            <a:r>
              <a:rPr lang="en-US" sz="1100" dirty="0"/>
              <a:t>Card x</a:t>
            </a:r>
          </a:p>
        </p:txBody>
      </p:sp>
      <p:sp>
        <p:nvSpPr>
          <p:cNvPr id="38" name="TextBox 37">
            <a:extLst>
              <a:ext uri="{FF2B5EF4-FFF2-40B4-BE49-F238E27FC236}">
                <a16:creationId xmlns:a16="http://schemas.microsoft.com/office/drawing/2014/main" id="{391D21D1-48FB-EA9F-43E3-93BE79E8D6F8}"/>
              </a:ext>
            </a:extLst>
          </p:cNvPr>
          <p:cNvSpPr txBox="1"/>
          <p:nvPr/>
        </p:nvSpPr>
        <p:spPr>
          <a:xfrm>
            <a:off x="2204356" y="5553177"/>
            <a:ext cx="574196" cy="261610"/>
          </a:xfrm>
          <a:prstGeom prst="rect">
            <a:avLst/>
          </a:prstGeom>
          <a:noFill/>
        </p:spPr>
        <p:txBody>
          <a:bodyPr wrap="none" rtlCol="0">
            <a:spAutoFit/>
          </a:bodyPr>
          <a:lstStyle/>
          <a:p>
            <a:r>
              <a:rPr lang="en-US" sz="1100" dirty="0"/>
              <a:t>Card x</a:t>
            </a:r>
          </a:p>
        </p:txBody>
      </p:sp>
      <p:sp>
        <p:nvSpPr>
          <p:cNvPr id="39" name="TextBox 38">
            <a:extLst>
              <a:ext uri="{FF2B5EF4-FFF2-40B4-BE49-F238E27FC236}">
                <a16:creationId xmlns:a16="http://schemas.microsoft.com/office/drawing/2014/main" id="{B0E136AB-01CA-665B-ADE6-BADBB39AF507}"/>
              </a:ext>
            </a:extLst>
          </p:cNvPr>
          <p:cNvSpPr txBox="1"/>
          <p:nvPr/>
        </p:nvSpPr>
        <p:spPr>
          <a:xfrm>
            <a:off x="2202818" y="2575271"/>
            <a:ext cx="574196" cy="261610"/>
          </a:xfrm>
          <a:prstGeom prst="rect">
            <a:avLst/>
          </a:prstGeom>
          <a:noFill/>
        </p:spPr>
        <p:txBody>
          <a:bodyPr wrap="none" rtlCol="0">
            <a:spAutoFit/>
          </a:bodyPr>
          <a:lstStyle/>
          <a:p>
            <a:r>
              <a:rPr lang="en-US" sz="1100" dirty="0"/>
              <a:t>Card x</a:t>
            </a:r>
          </a:p>
        </p:txBody>
      </p:sp>
      <p:sp>
        <p:nvSpPr>
          <p:cNvPr id="40" name="TextBox 39">
            <a:extLst>
              <a:ext uri="{FF2B5EF4-FFF2-40B4-BE49-F238E27FC236}">
                <a16:creationId xmlns:a16="http://schemas.microsoft.com/office/drawing/2014/main" id="{D471D6A1-0FA9-3F2F-C50A-6305C10F7456}"/>
              </a:ext>
            </a:extLst>
          </p:cNvPr>
          <p:cNvSpPr txBox="1"/>
          <p:nvPr/>
        </p:nvSpPr>
        <p:spPr>
          <a:xfrm>
            <a:off x="4281406" y="2589569"/>
            <a:ext cx="574196" cy="261610"/>
          </a:xfrm>
          <a:prstGeom prst="rect">
            <a:avLst/>
          </a:prstGeom>
          <a:noFill/>
        </p:spPr>
        <p:txBody>
          <a:bodyPr wrap="none" rtlCol="0">
            <a:spAutoFit/>
          </a:bodyPr>
          <a:lstStyle/>
          <a:p>
            <a:r>
              <a:rPr lang="en-US" sz="1100" dirty="0"/>
              <a:t>Card x</a:t>
            </a:r>
          </a:p>
        </p:txBody>
      </p:sp>
      <p:sp>
        <p:nvSpPr>
          <p:cNvPr id="41" name="TextBox 40">
            <a:extLst>
              <a:ext uri="{FF2B5EF4-FFF2-40B4-BE49-F238E27FC236}">
                <a16:creationId xmlns:a16="http://schemas.microsoft.com/office/drawing/2014/main" id="{939C0CC2-D22D-9889-CA3F-6B48E764454A}"/>
              </a:ext>
            </a:extLst>
          </p:cNvPr>
          <p:cNvSpPr txBox="1"/>
          <p:nvPr/>
        </p:nvSpPr>
        <p:spPr>
          <a:xfrm>
            <a:off x="4285661" y="5543973"/>
            <a:ext cx="590226" cy="261610"/>
          </a:xfrm>
          <a:prstGeom prst="rect">
            <a:avLst/>
          </a:prstGeom>
          <a:noFill/>
        </p:spPr>
        <p:txBody>
          <a:bodyPr wrap="none" rtlCol="0">
            <a:spAutoFit/>
          </a:bodyPr>
          <a:lstStyle/>
          <a:p>
            <a:r>
              <a:rPr lang="en-US" sz="1100" dirty="0"/>
              <a:t>Card X</a:t>
            </a:r>
          </a:p>
        </p:txBody>
      </p:sp>
      <p:sp>
        <p:nvSpPr>
          <p:cNvPr id="52" name="TextBox 51">
            <a:extLst>
              <a:ext uri="{FF2B5EF4-FFF2-40B4-BE49-F238E27FC236}">
                <a16:creationId xmlns:a16="http://schemas.microsoft.com/office/drawing/2014/main" id="{FC7FCF63-CADA-01A7-5A1B-D93463067260}"/>
              </a:ext>
            </a:extLst>
          </p:cNvPr>
          <p:cNvSpPr txBox="1"/>
          <p:nvPr/>
        </p:nvSpPr>
        <p:spPr>
          <a:xfrm>
            <a:off x="6357850" y="5542832"/>
            <a:ext cx="574196" cy="261610"/>
          </a:xfrm>
          <a:prstGeom prst="rect">
            <a:avLst/>
          </a:prstGeom>
          <a:noFill/>
        </p:spPr>
        <p:txBody>
          <a:bodyPr wrap="none" rtlCol="0">
            <a:spAutoFit/>
          </a:bodyPr>
          <a:lstStyle/>
          <a:p>
            <a:r>
              <a:rPr lang="en-US" sz="1100" dirty="0"/>
              <a:t>Card x</a:t>
            </a:r>
          </a:p>
        </p:txBody>
      </p:sp>
      <p:sp>
        <p:nvSpPr>
          <p:cNvPr id="54" name="TextBox 53">
            <a:extLst>
              <a:ext uri="{FF2B5EF4-FFF2-40B4-BE49-F238E27FC236}">
                <a16:creationId xmlns:a16="http://schemas.microsoft.com/office/drawing/2014/main" id="{052CFE08-8EFB-24DF-0AB0-50A916ADA7B4}"/>
              </a:ext>
            </a:extLst>
          </p:cNvPr>
          <p:cNvSpPr txBox="1"/>
          <p:nvPr/>
        </p:nvSpPr>
        <p:spPr>
          <a:xfrm>
            <a:off x="6365277" y="2583478"/>
            <a:ext cx="574196" cy="261610"/>
          </a:xfrm>
          <a:prstGeom prst="rect">
            <a:avLst/>
          </a:prstGeom>
          <a:noFill/>
        </p:spPr>
        <p:txBody>
          <a:bodyPr wrap="none" rtlCol="0">
            <a:spAutoFit/>
          </a:bodyPr>
          <a:lstStyle/>
          <a:p>
            <a:r>
              <a:rPr lang="en-US" sz="1100" dirty="0"/>
              <a:t>Card x</a:t>
            </a:r>
          </a:p>
        </p:txBody>
      </p:sp>
    </p:spTree>
    <p:extLst>
      <p:ext uri="{BB962C8B-B14F-4D97-AF65-F5344CB8AC3E}">
        <p14:creationId xmlns:p14="http://schemas.microsoft.com/office/powerpoint/2010/main" val="4039466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DBD82-E3FD-1A26-E8AB-30EBE7470B37}"/>
            </a:ext>
          </a:extLst>
        </p:cNvPr>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B814D98D-C285-0128-AD13-EDC51DCDC7C0}"/>
              </a:ext>
            </a:extLst>
          </p:cNvPr>
          <p:cNvCxnSpPr>
            <a:cxnSpLocks/>
          </p:cNvCxnSpPr>
          <p:nvPr/>
        </p:nvCxnSpPr>
        <p:spPr>
          <a:xfrm>
            <a:off x="369145" y="3517561"/>
            <a:ext cx="0" cy="1891417"/>
          </a:xfrm>
          <a:prstGeom prst="line">
            <a:avLst/>
          </a:prstGeom>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54425272-736A-8AE7-15E4-E9D8185888C3}"/>
              </a:ext>
            </a:extLst>
          </p:cNvPr>
          <p:cNvSpPr/>
          <p:nvPr/>
        </p:nvSpPr>
        <p:spPr>
          <a:xfrm>
            <a:off x="9560" y="2959073"/>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cxnSp>
        <p:nvCxnSpPr>
          <p:cNvPr id="21" name="Straight Connector 20">
            <a:extLst>
              <a:ext uri="{FF2B5EF4-FFF2-40B4-BE49-F238E27FC236}">
                <a16:creationId xmlns:a16="http://schemas.microsoft.com/office/drawing/2014/main" id="{1762B13A-4DF2-0C8B-2893-C8677BFF6508}"/>
              </a:ext>
            </a:extLst>
          </p:cNvPr>
          <p:cNvCxnSpPr/>
          <p:nvPr/>
        </p:nvCxnSpPr>
        <p:spPr>
          <a:xfrm>
            <a:off x="-4482928" y="99168"/>
            <a:ext cx="0" cy="2683566"/>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4DFDFA84-62D3-E4D2-70B2-F91D0324639C}"/>
              </a:ext>
            </a:extLst>
          </p:cNvPr>
          <p:cNvCxnSpPr/>
          <p:nvPr/>
        </p:nvCxnSpPr>
        <p:spPr>
          <a:xfrm>
            <a:off x="371928" y="4399957"/>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557693C0-AB7D-47EA-36AB-0CFC3EA6526E}"/>
              </a:ext>
            </a:extLst>
          </p:cNvPr>
          <p:cNvSpPr txBox="1"/>
          <p:nvPr/>
        </p:nvSpPr>
        <p:spPr>
          <a:xfrm>
            <a:off x="1561000" y="4367953"/>
            <a:ext cx="457176" cy="261610"/>
          </a:xfrm>
          <a:prstGeom prst="rect">
            <a:avLst/>
          </a:prstGeom>
          <a:noFill/>
        </p:spPr>
        <p:txBody>
          <a:bodyPr wrap="none" rtlCol="0">
            <a:spAutoFit/>
          </a:bodyPr>
          <a:lstStyle/>
          <a:p>
            <a:r>
              <a:rPr lang="en-US" sz="1100" dirty="0"/>
              <a:t>time</a:t>
            </a:r>
          </a:p>
        </p:txBody>
      </p:sp>
      <p:sp>
        <p:nvSpPr>
          <p:cNvPr id="26" name="TextBox 25">
            <a:extLst>
              <a:ext uri="{FF2B5EF4-FFF2-40B4-BE49-F238E27FC236}">
                <a16:creationId xmlns:a16="http://schemas.microsoft.com/office/drawing/2014/main" id="{DA4C6790-919E-2DB7-E1C6-2A79A2A61A97}"/>
              </a:ext>
            </a:extLst>
          </p:cNvPr>
          <p:cNvSpPr txBox="1"/>
          <p:nvPr/>
        </p:nvSpPr>
        <p:spPr>
          <a:xfrm rot="16200000">
            <a:off x="-107052" y="3645053"/>
            <a:ext cx="679994" cy="261610"/>
          </a:xfrm>
          <a:prstGeom prst="rect">
            <a:avLst/>
          </a:prstGeom>
          <a:noFill/>
        </p:spPr>
        <p:txBody>
          <a:bodyPr wrap="none" rtlCol="0">
            <a:spAutoFit/>
          </a:bodyPr>
          <a:lstStyle/>
          <a:p>
            <a:r>
              <a:rPr lang="en-US" sz="1100" dirty="0"/>
              <a:t>position</a:t>
            </a:r>
          </a:p>
        </p:txBody>
      </p:sp>
      <p:sp>
        <p:nvSpPr>
          <p:cNvPr id="27" name="TextBox 26">
            <a:extLst>
              <a:ext uri="{FF2B5EF4-FFF2-40B4-BE49-F238E27FC236}">
                <a16:creationId xmlns:a16="http://schemas.microsoft.com/office/drawing/2014/main" id="{519A5C45-0A65-C6F6-AF26-F4AEEEFAB75C}"/>
              </a:ext>
            </a:extLst>
          </p:cNvPr>
          <p:cNvSpPr txBox="1"/>
          <p:nvPr/>
        </p:nvSpPr>
        <p:spPr>
          <a:xfrm>
            <a:off x="114668" y="4269152"/>
            <a:ext cx="260008" cy="261610"/>
          </a:xfrm>
          <a:prstGeom prst="rect">
            <a:avLst/>
          </a:prstGeom>
          <a:noFill/>
        </p:spPr>
        <p:txBody>
          <a:bodyPr wrap="none" rtlCol="0">
            <a:spAutoFit/>
          </a:bodyPr>
          <a:lstStyle/>
          <a:p>
            <a:r>
              <a:rPr lang="en-US" sz="1100" dirty="0"/>
              <a:t>0</a:t>
            </a:r>
          </a:p>
        </p:txBody>
      </p:sp>
      <p:cxnSp>
        <p:nvCxnSpPr>
          <p:cNvPr id="31" name="Straight Connector 30">
            <a:extLst>
              <a:ext uri="{FF2B5EF4-FFF2-40B4-BE49-F238E27FC236}">
                <a16:creationId xmlns:a16="http://schemas.microsoft.com/office/drawing/2014/main" id="{4DFC3EDA-80C9-BA72-86F9-58CAD75E1503}"/>
              </a:ext>
            </a:extLst>
          </p:cNvPr>
          <p:cNvCxnSpPr>
            <a:cxnSpLocks/>
          </p:cNvCxnSpPr>
          <p:nvPr/>
        </p:nvCxnSpPr>
        <p:spPr>
          <a:xfrm>
            <a:off x="2423619" y="3519085"/>
            <a:ext cx="0" cy="1891417"/>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832D298-C74F-95BD-C750-0B7607CA1A10}"/>
              </a:ext>
            </a:extLst>
          </p:cNvPr>
          <p:cNvCxnSpPr/>
          <p:nvPr/>
        </p:nvCxnSpPr>
        <p:spPr>
          <a:xfrm>
            <a:off x="2426402" y="4401481"/>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581BF038-0120-AE02-E641-6024716A250F}"/>
              </a:ext>
            </a:extLst>
          </p:cNvPr>
          <p:cNvSpPr txBox="1"/>
          <p:nvPr/>
        </p:nvSpPr>
        <p:spPr>
          <a:xfrm>
            <a:off x="3642633" y="4369477"/>
            <a:ext cx="457176" cy="261610"/>
          </a:xfrm>
          <a:prstGeom prst="rect">
            <a:avLst/>
          </a:prstGeom>
          <a:noFill/>
        </p:spPr>
        <p:txBody>
          <a:bodyPr wrap="none" rtlCol="0">
            <a:spAutoFit/>
          </a:bodyPr>
          <a:lstStyle/>
          <a:p>
            <a:r>
              <a:rPr lang="en-US" sz="1100" dirty="0"/>
              <a:t>time</a:t>
            </a:r>
          </a:p>
        </p:txBody>
      </p:sp>
      <p:sp>
        <p:nvSpPr>
          <p:cNvPr id="34" name="TextBox 33">
            <a:extLst>
              <a:ext uri="{FF2B5EF4-FFF2-40B4-BE49-F238E27FC236}">
                <a16:creationId xmlns:a16="http://schemas.microsoft.com/office/drawing/2014/main" id="{AAEDB977-15EA-6FF7-5881-9BA9A4892F24}"/>
              </a:ext>
            </a:extLst>
          </p:cNvPr>
          <p:cNvSpPr txBox="1"/>
          <p:nvPr/>
        </p:nvSpPr>
        <p:spPr>
          <a:xfrm rot="16200000">
            <a:off x="1960246" y="3646577"/>
            <a:ext cx="654346" cy="261610"/>
          </a:xfrm>
          <a:prstGeom prst="rect">
            <a:avLst/>
          </a:prstGeom>
          <a:noFill/>
        </p:spPr>
        <p:txBody>
          <a:bodyPr wrap="none" rtlCol="0">
            <a:spAutoFit/>
          </a:bodyPr>
          <a:lstStyle/>
          <a:p>
            <a:r>
              <a:rPr lang="en-US" sz="1100" dirty="0"/>
              <a:t>velocity</a:t>
            </a:r>
          </a:p>
        </p:txBody>
      </p:sp>
      <p:sp>
        <p:nvSpPr>
          <p:cNvPr id="35" name="TextBox 34">
            <a:extLst>
              <a:ext uri="{FF2B5EF4-FFF2-40B4-BE49-F238E27FC236}">
                <a16:creationId xmlns:a16="http://schemas.microsoft.com/office/drawing/2014/main" id="{BED50D83-47D6-DC89-8AB7-99E45F8C4BE0}"/>
              </a:ext>
            </a:extLst>
          </p:cNvPr>
          <p:cNvSpPr txBox="1"/>
          <p:nvPr/>
        </p:nvSpPr>
        <p:spPr>
          <a:xfrm>
            <a:off x="2169142" y="4270676"/>
            <a:ext cx="260008" cy="261610"/>
          </a:xfrm>
          <a:prstGeom prst="rect">
            <a:avLst/>
          </a:prstGeom>
          <a:noFill/>
        </p:spPr>
        <p:txBody>
          <a:bodyPr wrap="none" rtlCol="0">
            <a:spAutoFit/>
          </a:bodyPr>
          <a:lstStyle/>
          <a:p>
            <a:r>
              <a:rPr lang="en-US" sz="1100" dirty="0"/>
              <a:t>0</a:t>
            </a:r>
          </a:p>
        </p:txBody>
      </p:sp>
      <p:sp>
        <p:nvSpPr>
          <p:cNvPr id="80" name="TextBox 79">
            <a:extLst>
              <a:ext uri="{FF2B5EF4-FFF2-40B4-BE49-F238E27FC236}">
                <a16:creationId xmlns:a16="http://schemas.microsoft.com/office/drawing/2014/main" id="{98E491C1-A682-9655-1190-E414A36D3591}"/>
              </a:ext>
            </a:extLst>
          </p:cNvPr>
          <p:cNvSpPr txBox="1"/>
          <p:nvPr/>
        </p:nvSpPr>
        <p:spPr>
          <a:xfrm>
            <a:off x="8416004" y="4265004"/>
            <a:ext cx="604653" cy="261610"/>
          </a:xfrm>
          <a:prstGeom prst="rect">
            <a:avLst/>
          </a:prstGeom>
          <a:noFill/>
        </p:spPr>
        <p:txBody>
          <a:bodyPr wrap="none" rtlCol="0">
            <a:spAutoFit/>
          </a:bodyPr>
          <a:lstStyle/>
          <a:p>
            <a:r>
              <a:rPr lang="en-US" sz="1100" dirty="0"/>
              <a:t>Case 4</a:t>
            </a:r>
          </a:p>
        </p:txBody>
      </p:sp>
      <p:sp>
        <p:nvSpPr>
          <p:cNvPr id="2" name="Rectangle 1">
            <a:extLst>
              <a:ext uri="{FF2B5EF4-FFF2-40B4-BE49-F238E27FC236}">
                <a16:creationId xmlns:a16="http://schemas.microsoft.com/office/drawing/2014/main" id="{354B81CB-DC52-DB16-6E2B-99165CCA4108}"/>
              </a:ext>
            </a:extLst>
          </p:cNvPr>
          <p:cNvSpPr/>
          <p:nvPr/>
        </p:nvSpPr>
        <p:spPr>
          <a:xfrm>
            <a:off x="2079956" y="2959073"/>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 name="Rectangle 3">
            <a:extLst>
              <a:ext uri="{FF2B5EF4-FFF2-40B4-BE49-F238E27FC236}">
                <a16:creationId xmlns:a16="http://schemas.microsoft.com/office/drawing/2014/main" id="{BB948D5C-0691-CC7D-D1C8-A2083D2EAFD4}"/>
              </a:ext>
            </a:extLst>
          </p:cNvPr>
          <p:cNvSpPr/>
          <p:nvPr/>
        </p:nvSpPr>
        <p:spPr>
          <a:xfrm>
            <a:off x="415887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3" name="Rectangle 12">
            <a:extLst>
              <a:ext uri="{FF2B5EF4-FFF2-40B4-BE49-F238E27FC236}">
                <a16:creationId xmlns:a16="http://schemas.microsoft.com/office/drawing/2014/main" id="{83AA7943-CC89-8CF6-B33D-1A2887773727}"/>
              </a:ext>
            </a:extLst>
          </p:cNvPr>
          <p:cNvSpPr/>
          <p:nvPr/>
        </p:nvSpPr>
        <p:spPr>
          <a:xfrm>
            <a:off x="6226082" y="-7609"/>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0" name="Rectangle 29">
            <a:extLst>
              <a:ext uri="{FF2B5EF4-FFF2-40B4-BE49-F238E27FC236}">
                <a16:creationId xmlns:a16="http://schemas.microsoft.com/office/drawing/2014/main" id="{CBEA706D-143E-8120-3A79-74720925863B}"/>
              </a:ext>
            </a:extLst>
          </p:cNvPr>
          <p:cNvSpPr/>
          <p:nvPr/>
        </p:nvSpPr>
        <p:spPr>
          <a:xfrm>
            <a:off x="9560"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3" name="Rectangle 42">
            <a:extLst>
              <a:ext uri="{FF2B5EF4-FFF2-40B4-BE49-F238E27FC236}">
                <a16:creationId xmlns:a16="http://schemas.microsoft.com/office/drawing/2014/main" id="{EE2B6916-CB83-0B23-2F7D-E49288300755}"/>
              </a:ext>
            </a:extLst>
          </p:cNvPr>
          <p:cNvSpPr/>
          <p:nvPr/>
        </p:nvSpPr>
        <p:spPr>
          <a:xfrm>
            <a:off x="2079956"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4" name="Rectangle 43">
            <a:extLst>
              <a:ext uri="{FF2B5EF4-FFF2-40B4-BE49-F238E27FC236}">
                <a16:creationId xmlns:a16="http://schemas.microsoft.com/office/drawing/2014/main" id="{65DB4850-9310-4C94-4D55-6D28F522F6CE}"/>
              </a:ext>
            </a:extLst>
          </p:cNvPr>
          <p:cNvSpPr/>
          <p:nvPr/>
        </p:nvSpPr>
        <p:spPr>
          <a:xfrm>
            <a:off x="4158876"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5" name="Rectangle 44">
            <a:extLst>
              <a:ext uri="{FF2B5EF4-FFF2-40B4-BE49-F238E27FC236}">
                <a16:creationId xmlns:a16="http://schemas.microsoft.com/office/drawing/2014/main" id="{576E04C9-5356-7FC8-B61F-70E95AB870D2}"/>
              </a:ext>
            </a:extLst>
          </p:cNvPr>
          <p:cNvSpPr/>
          <p:nvPr/>
        </p:nvSpPr>
        <p:spPr>
          <a:xfrm>
            <a:off x="6226082" y="2955663"/>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1" name="Oval 10">
            <a:extLst>
              <a:ext uri="{FF2B5EF4-FFF2-40B4-BE49-F238E27FC236}">
                <a16:creationId xmlns:a16="http://schemas.microsoft.com/office/drawing/2014/main" id="{9C876C2A-0F4A-99F2-3FD2-C9590A02DD9E}"/>
              </a:ext>
            </a:extLst>
          </p:cNvPr>
          <p:cNvSpPr/>
          <p:nvPr/>
        </p:nvSpPr>
        <p:spPr>
          <a:xfrm>
            <a:off x="5218916" y="5066918"/>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946A80A-6FDA-67BF-8B1F-EFEAFFECEA60}"/>
              </a:ext>
            </a:extLst>
          </p:cNvPr>
          <p:cNvSpPr/>
          <p:nvPr/>
        </p:nvSpPr>
        <p:spPr>
          <a:xfrm>
            <a:off x="5218916" y="4693590"/>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5DC614A-35DA-6C48-1158-5292FAF11DB7}"/>
              </a:ext>
            </a:extLst>
          </p:cNvPr>
          <p:cNvSpPr/>
          <p:nvPr/>
        </p:nvSpPr>
        <p:spPr>
          <a:xfrm>
            <a:off x="5218915" y="4320262"/>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918A80F-237C-DD55-8DAF-A8E0CDC1225F}"/>
              </a:ext>
            </a:extLst>
          </p:cNvPr>
          <p:cNvSpPr/>
          <p:nvPr/>
        </p:nvSpPr>
        <p:spPr>
          <a:xfrm>
            <a:off x="5218915" y="3943703"/>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C197C71-750C-EDD9-0C56-2DA91CFA5416}"/>
              </a:ext>
            </a:extLst>
          </p:cNvPr>
          <p:cNvSpPr txBox="1"/>
          <p:nvPr/>
        </p:nvSpPr>
        <p:spPr>
          <a:xfrm>
            <a:off x="4922058" y="4961864"/>
            <a:ext cx="260008" cy="261610"/>
          </a:xfrm>
          <a:prstGeom prst="rect">
            <a:avLst/>
          </a:prstGeom>
          <a:noFill/>
        </p:spPr>
        <p:txBody>
          <a:bodyPr wrap="none" rtlCol="0">
            <a:spAutoFit/>
          </a:bodyPr>
          <a:lstStyle/>
          <a:p>
            <a:r>
              <a:rPr lang="en-US" sz="1100" dirty="0"/>
              <a:t>4</a:t>
            </a:r>
          </a:p>
        </p:txBody>
      </p:sp>
      <p:sp>
        <p:nvSpPr>
          <p:cNvPr id="46" name="TextBox 45">
            <a:extLst>
              <a:ext uri="{FF2B5EF4-FFF2-40B4-BE49-F238E27FC236}">
                <a16:creationId xmlns:a16="http://schemas.microsoft.com/office/drawing/2014/main" id="{8E402DEF-08D2-3011-FAF8-FED1ED545866}"/>
              </a:ext>
            </a:extLst>
          </p:cNvPr>
          <p:cNvSpPr txBox="1"/>
          <p:nvPr/>
        </p:nvSpPr>
        <p:spPr>
          <a:xfrm>
            <a:off x="4921530" y="4562785"/>
            <a:ext cx="260008" cy="261610"/>
          </a:xfrm>
          <a:prstGeom prst="rect">
            <a:avLst/>
          </a:prstGeom>
          <a:noFill/>
        </p:spPr>
        <p:txBody>
          <a:bodyPr wrap="none" rtlCol="0">
            <a:spAutoFit/>
          </a:bodyPr>
          <a:lstStyle/>
          <a:p>
            <a:r>
              <a:rPr lang="en-US" sz="1100" dirty="0"/>
              <a:t>3</a:t>
            </a:r>
          </a:p>
        </p:txBody>
      </p:sp>
      <p:sp>
        <p:nvSpPr>
          <p:cNvPr id="47" name="TextBox 46">
            <a:extLst>
              <a:ext uri="{FF2B5EF4-FFF2-40B4-BE49-F238E27FC236}">
                <a16:creationId xmlns:a16="http://schemas.microsoft.com/office/drawing/2014/main" id="{AE724142-6F71-C93C-5C65-0022F4BDDE1F}"/>
              </a:ext>
            </a:extLst>
          </p:cNvPr>
          <p:cNvSpPr txBox="1"/>
          <p:nvPr/>
        </p:nvSpPr>
        <p:spPr>
          <a:xfrm>
            <a:off x="4921530" y="4209338"/>
            <a:ext cx="260008" cy="261610"/>
          </a:xfrm>
          <a:prstGeom prst="rect">
            <a:avLst/>
          </a:prstGeom>
          <a:noFill/>
        </p:spPr>
        <p:txBody>
          <a:bodyPr wrap="none" rtlCol="0">
            <a:spAutoFit/>
          </a:bodyPr>
          <a:lstStyle/>
          <a:p>
            <a:r>
              <a:rPr lang="en-US" sz="1100" dirty="0"/>
              <a:t>2</a:t>
            </a:r>
          </a:p>
        </p:txBody>
      </p:sp>
      <p:sp>
        <p:nvSpPr>
          <p:cNvPr id="48" name="TextBox 47">
            <a:extLst>
              <a:ext uri="{FF2B5EF4-FFF2-40B4-BE49-F238E27FC236}">
                <a16:creationId xmlns:a16="http://schemas.microsoft.com/office/drawing/2014/main" id="{B0FDE114-8B9E-1D6C-15EB-33B3A1D1465B}"/>
              </a:ext>
            </a:extLst>
          </p:cNvPr>
          <p:cNvSpPr txBox="1"/>
          <p:nvPr/>
        </p:nvSpPr>
        <p:spPr>
          <a:xfrm>
            <a:off x="4941728" y="3836010"/>
            <a:ext cx="260008" cy="261610"/>
          </a:xfrm>
          <a:prstGeom prst="rect">
            <a:avLst/>
          </a:prstGeom>
          <a:noFill/>
        </p:spPr>
        <p:txBody>
          <a:bodyPr wrap="none" rtlCol="0">
            <a:spAutoFit/>
          </a:bodyPr>
          <a:lstStyle/>
          <a:p>
            <a:r>
              <a:rPr lang="en-US" sz="1100" dirty="0"/>
              <a:t>1</a:t>
            </a:r>
          </a:p>
        </p:txBody>
      </p:sp>
      <p:sp>
        <p:nvSpPr>
          <p:cNvPr id="52" name="Oval 51">
            <a:extLst>
              <a:ext uri="{FF2B5EF4-FFF2-40B4-BE49-F238E27FC236}">
                <a16:creationId xmlns:a16="http://schemas.microsoft.com/office/drawing/2014/main" id="{D86C6300-4A67-DD41-BD89-CD3E54C8F108}"/>
              </a:ext>
            </a:extLst>
          </p:cNvPr>
          <p:cNvSpPr/>
          <p:nvPr/>
        </p:nvSpPr>
        <p:spPr>
          <a:xfrm>
            <a:off x="7105133" y="4395809"/>
            <a:ext cx="96963" cy="8883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Arrow Connector 53">
            <a:extLst>
              <a:ext uri="{FF2B5EF4-FFF2-40B4-BE49-F238E27FC236}">
                <a16:creationId xmlns:a16="http://schemas.microsoft.com/office/drawing/2014/main" id="{52792512-E3F5-07AA-64E6-67BB7556F800}"/>
              </a:ext>
            </a:extLst>
          </p:cNvPr>
          <p:cNvCxnSpPr>
            <a:cxnSpLocks/>
          </p:cNvCxnSpPr>
          <p:nvPr/>
        </p:nvCxnSpPr>
        <p:spPr>
          <a:xfrm flipV="1">
            <a:off x="7156169" y="3912542"/>
            <a:ext cx="0" cy="483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DB8AB250-50FB-7072-6E2D-D21200ABAE2D}"/>
              </a:ext>
            </a:extLst>
          </p:cNvPr>
          <p:cNvCxnSpPr>
            <a:cxnSpLocks/>
          </p:cNvCxnSpPr>
          <p:nvPr/>
        </p:nvCxnSpPr>
        <p:spPr>
          <a:xfrm>
            <a:off x="7156188" y="4491496"/>
            <a:ext cx="0" cy="483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81DB47E2-502E-75ED-73FD-B9E006AF6A09}"/>
              </a:ext>
            </a:extLst>
          </p:cNvPr>
          <p:cNvSpPr txBox="1"/>
          <p:nvPr/>
        </p:nvSpPr>
        <p:spPr>
          <a:xfrm>
            <a:off x="7153614" y="3761761"/>
            <a:ext cx="726481" cy="261610"/>
          </a:xfrm>
          <a:prstGeom prst="rect">
            <a:avLst/>
          </a:prstGeom>
          <a:noFill/>
        </p:spPr>
        <p:txBody>
          <a:bodyPr wrap="none" rtlCol="0">
            <a:spAutoFit/>
          </a:bodyPr>
          <a:lstStyle/>
          <a:p>
            <a:r>
              <a:rPr lang="en-US" sz="1100" dirty="0"/>
              <a:t>F</a:t>
            </a:r>
            <a:r>
              <a:rPr lang="en-US" sz="1100" baseline="-25000" dirty="0"/>
              <a:t>N </a:t>
            </a:r>
            <a:r>
              <a:rPr lang="en-US" sz="1100" dirty="0"/>
              <a:t>= 12 N</a:t>
            </a:r>
          </a:p>
        </p:txBody>
      </p:sp>
      <p:sp>
        <p:nvSpPr>
          <p:cNvPr id="59" name="TextBox 58">
            <a:extLst>
              <a:ext uri="{FF2B5EF4-FFF2-40B4-BE49-F238E27FC236}">
                <a16:creationId xmlns:a16="http://schemas.microsoft.com/office/drawing/2014/main" id="{DD7844D5-D78F-CD65-5E0F-3D1CC08F8DCF}"/>
              </a:ext>
            </a:extLst>
          </p:cNvPr>
          <p:cNvSpPr txBox="1"/>
          <p:nvPr/>
        </p:nvSpPr>
        <p:spPr>
          <a:xfrm>
            <a:off x="7153613" y="4856810"/>
            <a:ext cx="697627" cy="261610"/>
          </a:xfrm>
          <a:prstGeom prst="rect">
            <a:avLst/>
          </a:prstGeom>
          <a:noFill/>
        </p:spPr>
        <p:txBody>
          <a:bodyPr wrap="none" rtlCol="0">
            <a:spAutoFit/>
          </a:bodyPr>
          <a:lstStyle/>
          <a:p>
            <a:r>
              <a:rPr lang="en-US" sz="1100" dirty="0"/>
              <a:t>w = 12 N</a:t>
            </a:r>
          </a:p>
        </p:txBody>
      </p:sp>
      <p:sp>
        <p:nvSpPr>
          <p:cNvPr id="60" name="Rectangle 59">
            <a:extLst>
              <a:ext uri="{FF2B5EF4-FFF2-40B4-BE49-F238E27FC236}">
                <a16:creationId xmlns:a16="http://schemas.microsoft.com/office/drawing/2014/main" id="{895FCC0E-E470-91DE-49FD-6C8D3A5BC944}"/>
              </a:ext>
            </a:extLst>
          </p:cNvPr>
          <p:cNvSpPr/>
          <p:nvPr/>
        </p:nvSpPr>
        <p:spPr>
          <a:xfrm>
            <a:off x="-1950" y="2968921"/>
            <a:ext cx="2073955" cy="25205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 vs t graph</a:t>
            </a:r>
          </a:p>
        </p:txBody>
      </p:sp>
      <p:sp>
        <p:nvSpPr>
          <p:cNvPr id="61" name="Rectangle 60">
            <a:extLst>
              <a:ext uri="{FF2B5EF4-FFF2-40B4-BE49-F238E27FC236}">
                <a16:creationId xmlns:a16="http://schemas.microsoft.com/office/drawing/2014/main" id="{0318E93F-3BAE-B7C9-BB6B-BDF17163A188}"/>
              </a:ext>
            </a:extLst>
          </p:cNvPr>
          <p:cNvSpPr/>
          <p:nvPr/>
        </p:nvSpPr>
        <p:spPr>
          <a:xfrm>
            <a:off x="2083515" y="2969295"/>
            <a:ext cx="2076530" cy="252056"/>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v vs t graph</a:t>
            </a:r>
          </a:p>
        </p:txBody>
      </p:sp>
      <p:sp>
        <p:nvSpPr>
          <p:cNvPr id="79" name="Rectangle 78">
            <a:extLst>
              <a:ext uri="{FF2B5EF4-FFF2-40B4-BE49-F238E27FC236}">
                <a16:creationId xmlns:a16="http://schemas.microsoft.com/office/drawing/2014/main" id="{67EC0F6F-60AF-3C54-9EA1-01FE80FBA178}"/>
              </a:ext>
            </a:extLst>
          </p:cNvPr>
          <p:cNvSpPr/>
          <p:nvPr/>
        </p:nvSpPr>
        <p:spPr>
          <a:xfrm>
            <a:off x="4158875" y="2959073"/>
            <a:ext cx="2073348" cy="25205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Motion diagram</a:t>
            </a:r>
          </a:p>
        </p:txBody>
      </p:sp>
      <p:sp>
        <p:nvSpPr>
          <p:cNvPr id="82" name="Rectangle 81">
            <a:extLst>
              <a:ext uri="{FF2B5EF4-FFF2-40B4-BE49-F238E27FC236}">
                <a16:creationId xmlns:a16="http://schemas.microsoft.com/office/drawing/2014/main" id="{626E369A-AC06-F133-7683-F4A684B96A3F}"/>
              </a:ext>
            </a:extLst>
          </p:cNvPr>
          <p:cNvSpPr/>
          <p:nvPr/>
        </p:nvSpPr>
        <p:spPr>
          <a:xfrm>
            <a:off x="6235861" y="2959073"/>
            <a:ext cx="2069294" cy="252056"/>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Free Body Diagram</a:t>
            </a:r>
          </a:p>
        </p:txBody>
      </p:sp>
      <p:sp>
        <p:nvSpPr>
          <p:cNvPr id="83" name="Rectangle 82">
            <a:extLst>
              <a:ext uri="{FF2B5EF4-FFF2-40B4-BE49-F238E27FC236}">
                <a16:creationId xmlns:a16="http://schemas.microsoft.com/office/drawing/2014/main" id="{4C7B2144-664A-99D9-2DDF-614323C09F35}"/>
              </a:ext>
            </a:extLst>
          </p:cNvPr>
          <p:cNvSpPr/>
          <p:nvPr/>
        </p:nvSpPr>
        <p:spPr>
          <a:xfrm>
            <a:off x="6105524" y="3211130"/>
            <a:ext cx="125271" cy="2714484"/>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84" name="Rectangle 83">
            <a:extLst>
              <a:ext uri="{FF2B5EF4-FFF2-40B4-BE49-F238E27FC236}">
                <a16:creationId xmlns:a16="http://schemas.microsoft.com/office/drawing/2014/main" id="{F2C856A0-7EC5-8032-3854-CE8A7494F36E}"/>
              </a:ext>
            </a:extLst>
          </p:cNvPr>
          <p:cNvSpPr/>
          <p:nvPr/>
        </p:nvSpPr>
        <p:spPr>
          <a:xfrm>
            <a:off x="4157885" y="3211129"/>
            <a:ext cx="125271" cy="2714484"/>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85" name="Rectangle 84">
            <a:extLst>
              <a:ext uri="{FF2B5EF4-FFF2-40B4-BE49-F238E27FC236}">
                <a16:creationId xmlns:a16="http://schemas.microsoft.com/office/drawing/2014/main" id="{DE75126E-3EC9-C125-5967-2E6329A5BE57}"/>
              </a:ext>
            </a:extLst>
          </p:cNvPr>
          <p:cNvSpPr/>
          <p:nvPr/>
        </p:nvSpPr>
        <p:spPr>
          <a:xfrm rot="5400000">
            <a:off x="5131229" y="4950011"/>
            <a:ext cx="125271" cy="182815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86" name="Rectangle 85">
            <a:extLst>
              <a:ext uri="{FF2B5EF4-FFF2-40B4-BE49-F238E27FC236}">
                <a16:creationId xmlns:a16="http://schemas.microsoft.com/office/drawing/2014/main" id="{E288A160-51EB-10AC-5B9F-6814870D1AC4}"/>
              </a:ext>
            </a:extLst>
          </p:cNvPr>
          <p:cNvSpPr/>
          <p:nvPr/>
        </p:nvSpPr>
        <p:spPr>
          <a:xfrm>
            <a:off x="8179689" y="3209821"/>
            <a:ext cx="125271" cy="2715791"/>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87" name="Rectangle 86">
            <a:extLst>
              <a:ext uri="{FF2B5EF4-FFF2-40B4-BE49-F238E27FC236}">
                <a16:creationId xmlns:a16="http://schemas.microsoft.com/office/drawing/2014/main" id="{5F2F865C-B1D9-0742-5677-D2E58145D8F2}"/>
              </a:ext>
            </a:extLst>
          </p:cNvPr>
          <p:cNvSpPr/>
          <p:nvPr/>
        </p:nvSpPr>
        <p:spPr>
          <a:xfrm>
            <a:off x="6235857" y="3205543"/>
            <a:ext cx="125271" cy="2721182"/>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88" name="Rectangle 87">
            <a:extLst>
              <a:ext uri="{FF2B5EF4-FFF2-40B4-BE49-F238E27FC236}">
                <a16:creationId xmlns:a16="http://schemas.microsoft.com/office/drawing/2014/main" id="{6E676C9A-A4BC-9544-A96B-FD9E11515D7E}"/>
              </a:ext>
            </a:extLst>
          </p:cNvPr>
          <p:cNvSpPr/>
          <p:nvPr/>
        </p:nvSpPr>
        <p:spPr>
          <a:xfrm rot="5400000">
            <a:off x="7209697" y="4941254"/>
            <a:ext cx="125271" cy="1846799"/>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89" name="TextBox 88">
            <a:extLst>
              <a:ext uri="{FF2B5EF4-FFF2-40B4-BE49-F238E27FC236}">
                <a16:creationId xmlns:a16="http://schemas.microsoft.com/office/drawing/2014/main" id="{79EFCDC4-33FB-48CE-B112-3546915CD38D}"/>
              </a:ext>
            </a:extLst>
          </p:cNvPr>
          <p:cNvSpPr txBox="1"/>
          <p:nvPr/>
        </p:nvSpPr>
        <p:spPr>
          <a:xfrm>
            <a:off x="4613621" y="3333846"/>
            <a:ext cx="1210588" cy="261610"/>
          </a:xfrm>
          <a:prstGeom prst="rect">
            <a:avLst/>
          </a:prstGeom>
          <a:noFill/>
        </p:spPr>
        <p:txBody>
          <a:bodyPr wrap="none" rtlCol="0">
            <a:spAutoFit/>
          </a:bodyPr>
          <a:lstStyle/>
          <a:p>
            <a:r>
              <a:rPr lang="en-US" sz="1100" dirty="0"/>
              <a:t>Vertical scenario</a:t>
            </a:r>
          </a:p>
        </p:txBody>
      </p:sp>
      <p:sp>
        <p:nvSpPr>
          <p:cNvPr id="90" name="TextBox 89">
            <a:extLst>
              <a:ext uri="{FF2B5EF4-FFF2-40B4-BE49-F238E27FC236}">
                <a16:creationId xmlns:a16="http://schemas.microsoft.com/office/drawing/2014/main" id="{20C1B2BB-F132-9119-E205-E5DE4DA1E428}"/>
              </a:ext>
            </a:extLst>
          </p:cNvPr>
          <p:cNvSpPr txBox="1"/>
          <p:nvPr/>
        </p:nvSpPr>
        <p:spPr>
          <a:xfrm>
            <a:off x="6640652" y="3331322"/>
            <a:ext cx="1210588" cy="261610"/>
          </a:xfrm>
          <a:prstGeom prst="rect">
            <a:avLst/>
          </a:prstGeom>
          <a:noFill/>
        </p:spPr>
        <p:txBody>
          <a:bodyPr wrap="none" rtlCol="0">
            <a:spAutoFit/>
          </a:bodyPr>
          <a:lstStyle/>
          <a:p>
            <a:r>
              <a:rPr lang="en-US" sz="1100" dirty="0"/>
              <a:t>Vertical scenario</a:t>
            </a:r>
          </a:p>
        </p:txBody>
      </p:sp>
      <p:sp>
        <p:nvSpPr>
          <p:cNvPr id="91" name="Rectangle 90">
            <a:extLst>
              <a:ext uri="{FF2B5EF4-FFF2-40B4-BE49-F238E27FC236}">
                <a16:creationId xmlns:a16="http://schemas.microsoft.com/office/drawing/2014/main" id="{8D0FFCCF-0677-CC46-9DEC-6EB5E05ED91A}"/>
              </a:ext>
            </a:extLst>
          </p:cNvPr>
          <p:cNvSpPr/>
          <p:nvPr/>
        </p:nvSpPr>
        <p:spPr>
          <a:xfrm>
            <a:off x="1945015" y="3220883"/>
            <a:ext cx="125271" cy="271448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2" name="Rectangle 91">
            <a:extLst>
              <a:ext uri="{FF2B5EF4-FFF2-40B4-BE49-F238E27FC236}">
                <a16:creationId xmlns:a16="http://schemas.microsoft.com/office/drawing/2014/main" id="{F993DA3B-2B88-25C0-7E1A-8FC48D930D06}"/>
              </a:ext>
            </a:extLst>
          </p:cNvPr>
          <p:cNvSpPr/>
          <p:nvPr/>
        </p:nvSpPr>
        <p:spPr>
          <a:xfrm>
            <a:off x="-2624" y="3220882"/>
            <a:ext cx="125271" cy="271448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3" name="Rectangle 92">
            <a:extLst>
              <a:ext uri="{FF2B5EF4-FFF2-40B4-BE49-F238E27FC236}">
                <a16:creationId xmlns:a16="http://schemas.microsoft.com/office/drawing/2014/main" id="{645B6A28-3E4D-98EF-714F-372EB146C9D0}"/>
              </a:ext>
            </a:extLst>
          </p:cNvPr>
          <p:cNvSpPr/>
          <p:nvPr/>
        </p:nvSpPr>
        <p:spPr>
          <a:xfrm rot="5400000">
            <a:off x="970720" y="4959764"/>
            <a:ext cx="125271" cy="182815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4" name="Rectangle 93">
            <a:extLst>
              <a:ext uri="{FF2B5EF4-FFF2-40B4-BE49-F238E27FC236}">
                <a16:creationId xmlns:a16="http://schemas.microsoft.com/office/drawing/2014/main" id="{E2D43BB9-954B-E4B4-E0FD-4299602DCC64}"/>
              </a:ext>
            </a:extLst>
          </p:cNvPr>
          <p:cNvSpPr/>
          <p:nvPr/>
        </p:nvSpPr>
        <p:spPr>
          <a:xfrm>
            <a:off x="4030990" y="3217710"/>
            <a:ext cx="125271" cy="2715867"/>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5" name="Rectangle 94">
            <a:extLst>
              <a:ext uri="{FF2B5EF4-FFF2-40B4-BE49-F238E27FC236}">
                <a16:creationId xmlns:a16="http://schemas.microsoft.com/office/drawing/2014/main" id="{EFB29F4C-5A9B-BBAE-9CE5-DC7606E28647}"/>
              </a:ext>
            </a:extLst>
          </p:cNvPr>
          <p:cNvSpPr/>
          <p:nvPr/>
        </p:nvSpPr>
        <p:spPr>
          <a:xfrm>
            <a:off x="2075348" y="3215296"/>
            <a:ext cx="125271" cy="2721182"/>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6" name="Rectangle 95">
            <a:extLst>
              <a:ext uri="{FF2B5EF4-FFF2-40B4-BE49-F238E27FC236}">
                <a16:creationId xmlns:a16="http://schemas.microsoft.com/office/drawing/2014/main" id="{300F60BD-E91E-AF5D-DD83-68AB0DD00F48}"/>
              </a:ext>
            </a:extLst>
          </p:cNvPr>
          <p:cNvSpPr/>
          <p:nvPr/>
        </p:nvSpPr>
        <p:spPr>
          <a:xfrm rot="5400000">
            <a:off x="3049188" y="4951007"/>
            <a:ext cx="125271" cy="1846799"/>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cxnSp>
        <p:nvCxnSpPr>
          <p:cNvPr id="5" name="Straight Connector 4">
            <a:extLst>
              <a:ext uri="{FF2B5EF4-FFF2-40B4-BE49-F238E27FC236}">
                <a16:creationId xmlns:a16="http://schemas.microsoft.com/office/drawing/2014/main" id="{3020F877-AD9E-395B-2237-BA68D1466EDC}"/>
              </a:ext>
            </a:extLst>
          </p:cNvPr>
          <p:cNvCxnSpPr>
            <a:cxnSpLocks/>
          </p:cNvCxnSpPr>
          <p:nvPr/>
        </p:nvCxnSpPr>
        <p:spPr>
          <a:xfrm>
            <a:off x="378235" y="3557016"/>
            <a:ext cx="1328190" cy="472615"/>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6" name="Straight Connector 5">
            <a:extLst>
              <a:ext uri="{FF2B5EF4-FFF2-40B4-BE49-F238E27FC236}">
                <a16:creationId xmlns:a16="http://schemas.microsoft.com/office/drawing/2014/main" id="{7D98B7D4-F4BD-A9D1-FB6A-5EFCE734B42A}"/>
              </a:ext>
            </a:extLst>
          </p:cNvPr>
          <p:cNvCxnSpPr>
            <a:cxnSpLocks/>
          </p:cNvCxnSpPr>
          <p:nvPr/>
        </p:nvCxnSpPr>
        <p:spPr>
          <a:xfrm flipV="1">
            <a:off x="2420408" y="4578124"/>
            <a:ext cx="1339842" cy="1524"/>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sp>
        <p:nvSpPr>
          <p:cNvPr id="10" name="TextBox 9">
            <a:extLst>
              <a:ext uri="{FF2B5EF4-FFF2-40B4-BE49-F238E27FC236}">
                <a16:creationId xmlns:a16="http://schemas.microsoft.com/office/drawing/2014/main" id="{E647063E-B229-A4A7-45DA-653F0DBF0120}"/>
              </a:ext>
            </a:extLst>
          </p:cNvPr>
          <p:cNvSpPr txBox="1"/>
          <p:nvPr/>
        </p:nvSpPr>
        <p:spPr>
          <a:xfrm>
            <a:off x="1176182" y="5497215"/>
            <a:ext cx="679994" cy="230832"/>
          </a:xfrm>
          <a:prstGeom prst="rect">
            <a:avLst/>
          </a:prstGeom>
          <a:solidFill>
            <a:schemeClr val="bg1">
              <a:lumMod val="95000"/>
            </a:schemeClr>
          </a:solidFill>
        </p:spPr>
        <p:txBody>
          <a:bodyPr wrap="none" rtlCol="0">
            <a:spAutoFit/>
          </a:bodyPr>
          <a:lstStyle/>
          <a:p>
            <a:r>
              <a:rPr lang="en-US" sz="900" dirty="0">
                <a:solidFill>
                  <a:schemeClr val="tx1">
                    <a:lumMod val="50000"/>
                    <a:lumOff val="50000"/>
                  </a:schemeClr>
                </a:solidFill>
              </a:rPr>
              <a:t>Advanced</a:t>
            </a:r>
          </a:p>
        </p:txBody>
      </p:sp>
      <p:sp>
        <p:nvSpPr>
          <p:cNvPr id="14" name="TextBox 13">
            <a:extLst>
              <a:ext uri="{FF2B5EF4-FFF2-40B4-BE49-F238E27FC236}">
                <a16:creationId xmlns:a16="http://schemas.microsoft.com/office/drawing/2014/main" id="{9C339822-64DA-00E6-DBF5-5D50E2F40A6E}"/>
              </a:ext>
            </a:extLst>
          </p:cNvPr>
          <p:cNvSpPr txBox="1"/>
          <p:nvPr/>
        </p:nvSpPr>
        <p:spPr>
          <a:xfrm>
            <a:off x="3269105" y="5497215"/>
            <a:ext cx="679994" cy="230832"/>
          </a:xfrm>
          <a:prstGeom prst="rect">
            <a:avLst/>
          </a:prstGeom>
          <a:solidFill>
            <a:schemeClr val="bg1">
              <a:lumMod val="95000"/>
            </a:schemeClr>
          </a:solidFill>
        </p:spPr>
        <p:txBody>
          <a:bodyPr wrap="none" rtlCol="0">
            <a:spAutoFit/>
          </a:bodyPr>
          <a:lstStyle/>
          <a:p>
            <a:r>
              <a:rPr lang="en-US" sz="900" dirty="0">
                <a:solidFill>
                  <a:schemeClr val="tx1">
                    <a:lumMod val="50000"/>
                    <a:lumOff val="50000"/>
                  </a:schemeClr>
                </a:solidFill>
              </a:rPr>
              <a:t>Advanced</a:t>
            </a:r>
          </a:p>
        </p:txBody>
      </p:sp>
      <p:sp>
        <p:nvSpPr>
          <p:cNvPr id="23" name="TextBox 22">
            <a:extLst>
              <a:ext uri="{FF2B5EF4-FFF2-40B4-BE49-F238E27FC236}">
                <a16:creationId xmlns:a16="http://schemas.microsoft.com/office/drawing/2014/main" id="{D2F8E288-3AC8-9A83-DC2E-10037F9C6AC8}"/>
              </a:ext>
            </a:extLst>
          </p:cNvPr>
          <p:cNvSpPr txBox="1"/>
          <p:nvPr/>
        </p:nvSpPr>
        <p:spPr>
          <a:xfrm>
            <a:off x="5348293" y="5511575"/>
            <a:ext cx="679994" cy="230832"/>
          </a:xfrm>
          <a:prstGeom prst="rect">
            <a:avLst/>
          </a:prstGeom>
          <a:solidFill>
            <a:schemeClr val="bg1">
              <a:lumMod val="95000"/>
            </a:schemeClr>
          </a:solidFill>
        </p:spPr>
        <p:txBody>
          <a:bodyPr wrap="none" rtlCol="0">
            <a:spAutoFit/>
          </a:bodyPr>
          <a:lstStyle/>
          <a:p>
            <a:r>
              <a:rPr lang="en-US" sz="900" dirty="0">
                <a:solidFill>
                  <a:schemeClr val="tx1">
                    <a:lumMod val="50000"/>
                    <a:lumOff val="50000"/>
                  </a:schemeClr>
                </a:solidFill>
              </a:rPr>
              <a:t>Advanced</a:t>
            </a:r>
          </a:p>
        </p:txBody>
      </p:sp>
      <p:sp>
        <p:nvSpPr>
          <p:cNvPr id="28" name="TextBox 27">
            <a:extLst>
              <a:ext uri="{FF2B5EF4-FFF2-40B4-BE49-F238E27FC236}">
                <a16:creationId xmlns:a16="http://schemas.microsoft.com/office/drawing/2014/main" id="{D009B626-7A5A-3832-3941-1E6561E59412}"/>
              </a:ext>
            </a:extLst>
          </p:cNvPr>
          <p:cNvSpPr txBox="1"/>
          <p:nvPr/>
        </p:nvSpPr>
        <p:spPr>
          <a:xfrm>
            <a:off x="7441216" y="5511575"/>
            <a:ext cx="679994" cy="230832"/>
          </a:xfrm>
          <a:prstGeom prst="rect">
            <a:avLst/>
          </a:prstGeom>
          <a:solidFill>
            <a:schemeClr val="bg1">
              <a:lumMod val="95000"/>
            </a:schemeClr>
          </a:solidFill>
        </p:spPr>
        <p:txBody>
          <a:bodyPr wrap="none" rtlCol="0">
            <a:spAutoFit/>
          </a:bodyPr>
          <a:lstStyle/>
          <a:p>
            <a:r>
              <a:rPr lang="en-US" sz="900" dirty="0">
                <a:solidFill>
                  <a:schemeClr val="tx1">
                    <a:lumMod val="50000"/>
                    <a:lumOff val="50000"/>
                  </a:schemeClr>
                </a:solidFill>
              </a:rPr>
              <a:t>Advanced</a:t>
            </a:r>
          </a:p>
        </p:txBody>
      </p:sp>
      <p:cxnSp>
        <p:nvCxnSpPr>
          <p:cNvPr id="29" name="Straight Connector 28">
            <a:extLst>
              <a:ext uri="{FF2B5EF4-FFF2-40B4-BE49-F238E27FC236}">
                <a16:creationId xmlns:a16="http://schemas.microsoft.com/office/drawing/2014/main" id="{D5AE090B-8BAF-71FA-C6D0-B2D4A4A95460}"/>
              </a:ext>
            </a:extLst>
          </p:cNvPr>
          <p:cNvCxnSpPr>
            <a:cxnSpLocks/>
          </p:cNvCxnSpPr>
          <p:nvPr/>
        </p:nvCxnSpPr>
        <p:spPr>
          <a:xfrm>
            <a:off x="369145" y="548640"/>
            <a:ext cx="0" cy="1891417"/>
          </a:xfrm>
          <a:prstGeom prst="line">
            <a:avLst/>
          </a:prstGeom>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2773EDB2-39F8-5C2F-E19D-36A81619B42F}"/>
              </a:ext>
            </a:extLst>
          </p:cNvPr>
          <p:cNvSpPr/>
          <p:nvPr/>
        </p:nvSpPr>
        <p:spPr>
          <a:xfrm>
            <a:off x="9560"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cxnSp>
        <p:nvCxnSpPr>
          <p:cNvPr id="37" name="Straight Connector 36">
            <a:extLst>
              <a:ext uri="{FF2B5EF4-FFF2-40B4-BE49-F238E27FC236}">
                <a16:creationId xmlns:a16="http://schemas.microsoft.com/office/drawing/2014/main" id="{8A7B01C7-5B56-E7FB-BECC-9E13AD00C7FC}"/>
              </a:ext>
            </a:extLst>
          </p:cNvPr>
          <p:cNvCxnSpPr/>
          <p:nvPr/>
        </p:nvCxnSpPr>
        <p:spPr>
          <a:xfrm>
            <a:off x="371928" y="1431036"/>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F641777A-FE44-6F3A-88FB-FD92795D5296}"/>
              </a:ext>
            </a:extLst>
          </p:cNvPr>
          <p:cNvSpPr txBox="1"/>
          <p:nvPr/>
        </p:nvSpPr>
        <p:spPr>
          <a:xfrm>
            <a:off x="1561000" y="1399032"/>
            <a:ext cx="457176" cy="261610"/>
          </a:xfrm>
          <a:prstGeom prst="rect">
            <a:avLst/>
          </a:prstGeom>
          <a:noFill/>
        </p:spPr>
        <p:txBody>
          <a:bodyPr wrap="none" rtlCol="0">
            <a:spAutoFit/>
          </a:bodyPr>
          <a:lstStyle/>
          <a:p>
            <a:r>
              <a:rPr lang="en-US" sz="1100" dirty="0"/>
              <a:t>time</a:t>
            </a:r>
          </a:p>
        </p:txBody>
      </p:sp>
      <p:sp>
        <p:nvSpPr>
          <p:cNvPr id="39" name="TextBox 38">
            <a:extLst>
              <a:ext uri="{FF2B5EF4-FFF2-40B4-BE49-F238E27FC236}">
                <a16:creationId xmlns:a16="http://schemas.microsoft.com/office/drawing/2014/main" id="{998768BA-8BE3-6B83-41E0-8F5A244CF133}"/>
              </a:ext>
            </a:extLst>
          </p:cNvPr>
          <p:cNvSpPr txBox="1"/>
          <p:nvPr/>
        </p:nvSpPr>
        <p:spPr>
          <a:xfrm rot="16200000">
            <a:off x="-107052" y="676132"/>
            <a:ext cx="679994" cy="261610"/>
          </a:xfrm>
          <a:prstGeom prst="rect">
            <a:avLst/>
          </a:prstGeom>
          <a:noFill/>
        </p:spPr>
        <p:txBody>
          <a:bodyPr wrap="none" rtlCol="0">
            <a:spAutoFit/>
          </a:bodyPr>
          <a:lstStyle/>
          <a:p>
            <a:r>
              <a:rPr lang="en-US" sz="1100" dirty="0"/>
              <a:t>position</a:t>
            </a:r>
          </a:p>
        </p:txBody>
      </p:sp>
      <p:sp>
        <p:nvSpPr>
          <p:cNvPr id="40" name="TextBox 39">
            <a:extLst>
              <a:ext uri="{FF2B5EF4-FFF2-40B4-BE49-F238E27FC236}">
                <a16:creationId xmlns:a16="http://schemas.microsoft.com/office/drawing/2014/main" id="{0732F4F7-E599-FD9D-752C-BFC4EE4D1D85}"/>
              </a:ext>
            </a:extLst>
          </p:cNvPr>
          <p:cNvSpPr txBox="1"/>
          <p:nvPr/>
        </p:nvSpPr>
        <p:spPr>
          <a:xfrm>
            <a:off x="114668" y="1300231"/>
            <a:ext cx="260008" cy="261610"/>
          </a:xfrm>
          <a:prstGeom prst="rect">
            <a:avLst/>
          </a:prstGeom>
          <a:noFill/>
        </p:spPr>
        <p:txBody>
          <a:bodyPr wrap="none" rtlCol="0">
            <a:spAutoFit/>
          </a:bodyPr>
          <a:lstStyle/>
          <a:p>
            <a:r>
              <a:rPr lang="en-US" sz="1100" dirty="0"/>
              <a:t>0</a:t>
            </a:r>
          </a:p>
        </p:txBody>
      </p:sp>
      <p:cxnSp>
        <p:nvCxnSpPr>
          <p:cNvPr id="41" name="Straight Connector 40">
            <a:extLst>
              <a:ext uri="{FF2B5EF4-FFF2-40B4-BE49-F238E27FC236}">
                <a16:creationId xmlns:a16="http://schemas.microsoft.com/office/drawing/2014/main" id="{C07B6449-4259-E281-88A6-06B679068992}"/>
              </a:ext>
            </a:extLst>
          </p:cNvPr>
          <p:cNvCxnSpPr>
            <a:cxnSpLocks/>
          </p:cNvCxnSpPr>
          <p:nvPr/>
        </p:nvCxnSpPr>
        <p:spPr>
          <a:xfrm>
            <a:off x="2423619" y="550164"/>
            <a:ext cx="0" cy="1891417"/>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BFEA47D-8683-CB97-9BB8-73F55C16B137}"/>
              </a:ext>
            </a:extLst>
          </p:cNvPr>
          <p:cNvCxnSpPr/>
          <p:nvPr/>
        </p:nvCxnSpPr>
        <p:spPr>
          <a:xfrm>
            <a:off x="2426402" y="1432560"/>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6662FCEF-5AF3-45A6-F47F-63BF29618C7F}"/>
              </a:ext>
            </a:extLst>
          </p:cNvPr>
          <p:cNvSpPr txBox="1"/>
          <p:nvPr/>
        </p:nvSpPr>
        <p:spPr>
          <a:xfrm>
            <a:off x="3642633" y="1400556"/>
            <a:ext cx="457176" cy="261610"/>
          </a:xfrm>
          <a:prstGeom prst="rect">
            <a:avLst/>
          </a:prstGeom>
          <a:noFill/>
        </p:spPr>
        <p:txBody>
          <a:bodyPr wrap="none" rtlCol="0">
            <a:spAutoFit/>
          </a:bodyPr>
          <a:lstStyle/>
          <a:p>
            <a:r>
              <a:rPr lang="en-US" sz="1100" dirty="0"/>
              <a:t>time</a:t>
            </a:r>
          </a:p>
        </p:txBody>
      </p:sp>
      <p:sp>
        <p:nvSpPr>
          <p:cNvPr id="50" name="TextBox 49">
            <a:extLst>
              <a:ext uri="{FF2B5EF4-FFF2-40B4-BE49-F238E27FC236}">
                <a16:creationId xmlns:a16="http://schemas.microsoft.com/office/drawing/2014/main" id="{A1C0B312-9942-9F7F-42C0-5B1FEDA92653}"/>
              </a:ext>
            </a:extLst>
          </p:cNvPr>
          <p:cNvSpPr txBox="1"/>
          <p:nvPr/>
        </p:nvSpPr>
        <p:spPr>
          <a:xfrm rot="16200000">
            <a:off x="1960246" y="677656"/>
            <a:ext cx="654346" cy="261610"/>
          </a:xfrm>
          <a:prstGeom prst="rect">
            <a:avLst/>
          </a:prstGeom>
          <a:noFill/>
        </p:spPr>
        <p:txBody>
          <a:bodyPr wrap="none" rtlCol="0">
            <a:spAutoFit/>
          </a:bodyPr>
          <a:lstStyle/>
          <a:p>
            <a:r>
              <a:rPr lang="en-US" sz="1100" dirty="0"/>
              <a:t>velocity</a:t>
            </a:r>
          </a:p>
        </p:txBody>
      </p:sp>
      <p:sp>
        <p:nvSpPr>
          <p:cNvPr id="51" name="TextBox 50">
            <a:extLst>
              <a:ext uri="{FF2B5EF4-FFF2-40B4-BE49-F238E27FC236}">
                <a16:creationId xmlns:a16="http://schemas.microsoft.com/office/drawing/2014/main" id="{ADF50D4A-0D35-234F-46A3-3BCABAA933FC}"/>
              </a:ext>
            </a:extLst>
          </p:cNvPr>
          <p:cNvSpPr txBox="1"/>
          <p:nvPr/>
        </p:nvSpPr>
        <p:spPr>
          <a:xfrm>
            <a:off x="2169142" y="1301755"/>
            <a:ext cx="260008" cy="261610"/>
          </a:xfrm>
          <a:prstGeom prst="rect">
            <a:avLst/>
          </a:prstGeom>
          <a:noFill/>
        </p:spPr>
        <p:txBody>
          <a:bodyPr wrap="none" rtlCol="0">
            <a:spAutoFit/>
          </a:bodyPr>
          <a:lstStyle/>
          <a:p>
            <a:r>
              <a:rPr lang="en-US" sz="1100" dirty="0"/>
              <a:t>0</a:t>
            </a:r>
          </a:p>
        </p:txBody>
      </p:sp>
      <p:sp>
        <p:nvSpPr>
          <p:cNvPr id="63" name="Rectangle 62">
            <a:extLst>
              <a:ext uri="{FF2B5EF4-FFF2-40B4-BE49-F238E27FC236}">
                <a16:creationId xmlns:a16="http://schemas.microsoft.com/office/drawing/2014/main" id="{E2E360F1-3703-9C06-B68A-2C8692FA74AA}"/>
              </a:ext>
            </a:extLst>
          </p:cNvPr>
          <p:cNvSpPr/>
          <p:nvPr/>
        </p:nvSpPr>
        <p:spPr>
          <a:xfrm>
            <a:off x="207995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64" name="Rectangle 63">
            <a:extLst>
              <a:ext uri="{FF2B5EF4-FFF2-40B4-BE49-F238E27FC236}">
                <a16:creationId xmlns:a16="http://schemas.microsoft.com/office/drawing/2014/main" id="{0DFB535E-6F6E-A3FF-816D-5F01B2A5FFE9}"/>
              </a:ext>
            </a:extLst>
          </p:cNvPr>
          <p:cNvSpPr/>
          <p:nvPr/>
        </p:nvSpPr>
        <p:spPr>
          <a:xfrm>
            <a:off x="415887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65" name="Rectangle 64">
            <a:extLst>
              <a:ext uri="{FF2B5EF4-FFF2-40B4-BE49-F238E27FC236}">
                <a16:creationId xmlns:a16="http://schemas.microsoft.com/office/drawing/2014/main" id="{04579337-9585-AA64-4FC2-A2B90BCFEE34}"/>
              </a:ext>
            </a:extLst>
          </p:cNvPr>
          <p:cNvSpPr/>
          <p:nvPr/>
        </p:nvSpPr>
        <p:spPr>
          <a:xfrm>
            <a:off x="6226082" y="-7609"/>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66" name="Rectangle 65">
            <a:extLst>
              <a:ext uri="{FF2B5EF4-FFF2-40B4-BE49-F238E27FC236}">
                <a16:creationId xmlns:a16="http://schemas.microsoft.com/office/drawing/2014/main" id="{68E5F8B3-92E5-5E23-9106-C4AE5EA58320}"/>
              </a:ext>
            </a:extLst>
          </p:cNvPr>
          <p:cNvSpPr/>
          <p:nvPr/>
        </p:nvSpPr>
        <p:spPr>
          <a:xfrm>
            <a:off x="4158876" y="0"/>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67" name="Rectangle 66">
            <a:extLst>
              <a:ext uri="{FF2B5EF4-FFF2-40B4-BE49-F238E27FC236}">
                <a16:creationId xmlns:a16="http://schemas.microsoft.com/office/drawing/2014/main" id="{BBB4E53E-C6EB-7D6E-82E8-54F436DF2E61}"/>
              </a:ext>
            </a:extLst>
          </p:cNvPr>
          <p:cNvSpPr/>
          <p:nvPr/>
        </p:nvSpPr>
        <p:spPr>
          <a:xfrm>
            <a:off x="6226082" y="2239"/>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68" name="Oval 67">
            <a:extLst>
              <a:ext uri="{FF2B5EF4-FFF2-40B4-BE49-F238E27FC236}">
                <a16:creationId xmlns:a16="http://schemas.microsoft.com/office/drawing/2014/main" id="{A073A03C-9BD3-71BB-BE16-22A2614CA8D0}"/>
              </a:ext>
            </a:extLst>
          </p:cNvPr>
          <p:cNvSpPr/>
          <p:nvPr/>
        </p:nvSpPr>
        <p:spPr>
          <a:xfrm>
            <a:off x="5218916" y="2113494"/>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A2AEB2CA-3B24-F4A2-5625-AB05E8C49CAA}"/>
              </a:ext>
            </a:extLst>
          </p:cNvPr>
          <p:cNvSpPr/>
          <p:nvPr/>
        </p:nvSpPr>
        <p:spPr>
          <a:xfrm>
            <a:off x="5218916" y="1595710"/>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8B148C51-62C5-899A-461B-0E31369EE91E}"/>
              </a:ext>
            </a:extLst>
          </p:cNvPr>
          <p:cNvSpPr/>
          <p:nvPr/>
        </p:nvSpPr>
        <p:spPr>
          <a:xfrm>
            <a:off x="5218915" y="1222382"/>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C901C231-D6FC-19E2-42A2-88270D80621D}"/>
              </a:ext>
            </a:extLst>
          </p:cNvPr>
          <p:cNvSpPr/>
          <p:nvPr/>
        </p:nvSpPr>
        <p:spPr>
          <a:xfrm>
            <a:off x="5218915" y="990279"/>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25859917-CBBD-3135-A00B-FC8637636AC9}"/>
              </a:ext>
            </a:extLst>
          </p:cNvPr>
          <p:cNvSpPr txBox="1"/>
          <p:nvPr/>
        </p:nvSpPr>
        <p:spPr>
          <a:xfrm>
            <a:off x="4922058" y="2008440"/>
            <a:ext cx="260008" cy="261610"/>
          </a:xfrm>
          <a:prstGeom prst="rect">
            <a:avLst/>
          </a:prstGeom>
          <a:noFill/>
        </p:spPr>
        <p:txBody>
          <a:bodyPr wrap="none" rtlCol="0">
            <a:spAutoFit/>
          </a:bodyPr>
          <a:lstStyle/>
          <a:p>
            <a:r>
              <a:rPr lang="en-US" sz="1100" dirty="0"/>
              <a:t>1</a:t>
            </a:r>
          </a:p>
        </p:txBody>
      </p:sp>
      <p:sp>
        <p:nvSpPr>
          <p:cNvPr id="73" name="TextBox 72">
            <a:extLst>
              <a:ext uri="{FF2B5EF4-FFF2-40B4-BE49-F238E27FC236}">
                <a16:creationId xmlns:a16="http://schemas.microsoft.com/office/drawing/2014/main" id="{EF5AC61F-E615-98EF-BAC6-052FEA0C37D6}"/>
              </a:ext>
            </a:extLst>
          </p:cNvPr>
          <p:cNvSpPr txBox="1"/>
          <p:nvPr/>
        </p:nvSpPr>
        <p:spPr>
          <a:xfrm>
            <a:off x="4921530" y="1464905"/>
            <a:ext cx="260008" cy="261610"/>
          </a:xfrm>
          <a:prstGeom prst="rect">
            <a:avLst/>
          </a:prstGeom>
          <a:noFill/>
        </p:spPr>
        <p:txBody>
          <a:bodyPr wrap="none" rtlCol="0">
            <a:spAutoFit/>
          </a:bodyPr>
          <a:lstStyle/>
          <a:p>
            <a:r>
              <a:rPr lang="en-US" sz="1100" dirty="0"/>
              <a:t>2</a:t>
            </a:r>
          </a:p>
        </p:txBody>
      </p:sp>
      <p:sp>
        <p:nvSpPr>
          <p:cNvPr id="74" name="TextBox 73">
            <a:extLst>
              <a:ext uri="{FF2B5EF4-FFF2-40B4-BE49-F238E27FC236}">
                <a16:creationId xmlns:a16="http://schemas.microsoft.com/office/drawing/2014/main" id="{7E74A671-A000-DF5D-7086-55DB764F2DBB}"/>
              </a:ext>
            </a:extLst>
          </p:cNvPr>
          <p:cNvSpPr txBox="1"/>
          <p:nvPr/>
        </p:nvSpPr>
        <p:spPr>
          <a:xfrm>
            <a:off x="4921530" y="1111458"/>
            <a:ext cx="260008" cy="261610"/>
          </a:xfrm>
          <a:prstGeom prst="rect">
            <a:avLst/>
          </a:prstGeom>
          <a:noFill/>
        </p:spPr>
        <p:txBody>
          <a:bodyPr wrap="none" rtlCol="0">
            <a:spAutoFit/>
          </a:bodyPr>
          <a:lstStyle/>
          <a:p>
            <a:r>
              <a:rPr lang="en-US" sz="1100" dirty="0"/>
              <a:t>3</a:t>
            </a:r>
          </a:p>
        </p:txBody>
      </p:sp>
      <p:sp>
        <p:nvSpPr>
          <p:cNvPr id="75" name="TextBox 74">
            <a:extLst>
              <a:ext uri="{FF2B5EF4-FFF2-40B4-BE49-F238E27FC236}">
                <a16:creationId xmlns:a16="http://schemas.microsoft.com/office/drawing/2014/main" id="{5AC06227-7F7A-DB5C-59A6-7AB91AE3FDC4}"/>
              </a:ext>
            </a:extLst>
          </p:cNvPr>
          <p:cNvSpPr txBox="1"/>
          <p:nvPr/>
        </p:nvSpPr>
        <p:spPr>
          <a:xfrm>
            <a:off x="4941728" y="882586"/>
            <a:ext cx="260008" cy="261610"/>
          </a:xfrm>
          <a:prstGeom prst="rect">
            <a:avLst/>
          </a:prstGeom>
          <a:noFill/>
        </p:spPr>
        <p:txBody>
          <a:bodyPr wrap="none" rtlCol="0">
            <a:spAutoFit/>
          </a:bodyPr>
          <a:lstStyle/>
          <a:p>
            <a:r>
              <a:rPr lang="en-US" sz="1100" dirty="0"/>
              <a:t>4</a:t>
            </a:r>
          </a:p>
        </p:txBody>
      </p:sp>
      <p:sp>
        <p:nvSpPr>
          <p:cNvPr id="76" name="Oval 75">
            <a:extLst>
              <a:ext uri="{FF2B5EF4-FFF2-40B4-BE49-F238E27FC236}">
                <a16:creationId xmlns:a16="http://schemas.microsoft.com/office/drawing/2014/main" id="{E8463A11-6072-EA9E-9AA9-9094C9FE13EC}"/>
              </a:ext>
            </a:extLst>
          </p:cNvPr>
          <p:cNvSpPr/>
          <p:nvPr/>
        </p:nvSpPr>
        <p:spPr>
          <a:xfrm>
            <a:off x="7122692" y="1516634"/>
            <a:ext cx="96963" cy="8883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7" name="Straight Arrow Connector 76">
            <a:extLst>
              <a:ext uri="{FF2B5EF4-FFF2-40B4-BE49-F238E27FC236}">
                <a16:creationId xmlns:a16="http://schemas.microsoft.com/office/drawing/2014/main" id="{6E92676F-1292-D273-9DAF-44272E825AC7}"/>
              </a:ext>
            </a:extLst>
          </p:cNvPr>
          <p:cNvCxnSpPr>
            <a:cxnSpLocks/>
          </p:cNvCxnSpPr>
          <p:nvPr/>
        </p:nvCxnSpPr>
        <p:spPr>
          <a:xfrm flipV="1">
            <a:off x="7173728" y="1242263"/>
            <a:ext cx="0" cy="2743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1AFCB746-D5FF-410A-E8FC-3902D5E68F6B}"/>
              </a:ext>
            </a:extLst>
          </p:cNvPr>
          <p:cNvCxnSpPr>
            <a:cxnSpLocks/>
          </p:cNvCxnSpPr>
          <p:nvPr/>
        </p:nvCxnSpPr>
        <p:spPr>
          <a:xfrm>
            <a:off x="7173747" y="1612321"/>
            <a:ext cx="0" cy="483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1" name="TextBox 80">
            <a:extLst>
              <a:ext uri="{FF2B5EF4-FFF2-40B4-BE49-F238E27FC236}">
                <a16:creationId xmlns:a16="http://schemas.microsoft.com/office/drawing/2014/main" id="{EAF80C81-D819-C2E9-67AF-4993AF983835}"/>
              </a:ext>
            </a:extLst>
          </p:cNvPr>
          <p:cNvSpPr txBox="1"/>
          <p:nvPr/>
        </p:nvSpPr>
        <p:spPr>
          <a:xfrm>
            <a:off x="7171172" y="1068941"/>
            <a:ext cx="651140" cy="261610"/>
          </a:xfrm>
          <a:prstGeom prst="rect">
            <a:avLst/>
          </a:prstGeom>
          <a:noFill/>
        </p:spPr>
        <p:txBody>
          <a:bodyPr wrap="none" rtlCol="0">
            <a:spAutoFit/>
          </a:bodyPr>
          <a:lstStyle/>
          <a:p>
            <a:r>
              <a:rPr lang="en-US" sz="1100" dirty="0"/>
              <a:t>F</a:t>
            </a:r>
            <a:r>
              <a:rPr lang="en-US" sz="1100" baseline="-25000" dirty="0"/>
              <a:t>N </a:t>
            </a:r>
            <a:r>
              <a:rPr lang="en-US" sz="1100" dirty="0"/>
              <a:t>= 5 N</a:t>
            </a:r>
          </a:p>
        </p:txBody>
      </p:sp>
      <p:sp>
        <p:nvSpPr>
          <p:cNvPr id="97" name="TextBox 96">
            <a:extLst>
              <a:ext uri="{FF2B5EF4-FFF2-40B4-BE49-F238E27FC236}">
                <a16:creationId xmlns:a16="http://schemas.microsoft.com/office/drawing/2014/main" id="{C175504B-7A57-8E15-CCDB-1B499E140ACC}"/>
              </a:ext>
            </a:extLst>
          </p:cNvPr>
          <p:cNvSpPr txBox="1"/>
          <p:nvPr/>
        </p:nvSpPr>
        <p:spPr>
          <a:xfrm>
            <a:off x="7171172" y="1977635"/>
            <a:ext cx="697627" cy="261610"/>
          </a:xfrm>
          <a:prstGeom prst="rect">
            <a:avLst/>
          </a:prstGeom>
          <a:noFill/>
        </p:spPr>
        <p:txBody>
          <a:bodyPr wrap="none" rtlCol="0">
            <a:spAutoFit/>
          </a:bodyPr>
          <a:lstStyle/>
          <a:p>
            <a:r>
              <a:rPr lang="en-US" sz="1100" dirty="0"/>
              <a:t>w = 12 N</a:t>
            </a:r>
          </a:p>
        </p:txBody>
      </p:sp>
      <p:sp>
        <p:nvSpPr>
          <p:cNvPr id="98" name="Rectangle 97">
            <a:extLst>
              <a:ext uri="{FF2B5EF4-FFF2-40B4-BE49-F238E27FC236}">
                <a16:creationId xmlns:a16="http://schemas.microsoft.com/office/drawing/2014/main" id="{A08E1E8F-EB22-B665-0C43-0C217DB10DFA}"/>
              </a:ext>
            </a:extLst>
          </p:cNvPr>
          <p:cNvSpPr/>
          <p:nvPr/>
        </p:nvSpPr>
        <p:spPr>
          <a:xfrm>
            <a:off x="4158875" y="5649"/>
            <a:ext cx="2073348" cy="25205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Motion diagram</a:t>
            </a:r>
          </a:p>
        </p:txBody>
      </p:sp>
      <p:sp>
        <p:nvSpPr>
          <p:cNvPr id="99" name="Rectangle 98">
            <a:extLst>
              <a:ext uri="{FF2B5EF4-FFF2-40B4-BE49-F238E27FC236}">
                <a16:creationId xmlns:a16="http://schemas.microsoft.com/office/drawing/2014/main" id="{0B972F0D-EA66-5C96-E2FF-62F23773ADEF}"/>
              </a:ext>
            </a:extLst>
          </p:cNvPr>
          <p:cNvSpPr/>
          <p:nvPr/>
        </p:nvSpPr>
        <p:spPr>
          <a:xfrm>
            <a:off x="6235861" y="5649"/>
            <a:ext cx="2069294" cy="252056"/>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Free Body Diagram</a:t>
            </a:r>
          </a:p>
        </p:txBody>
      </p:sp>
      <p:sp>
        <p:nvSpPr>
          <p:cNvPr id="100" name="Rectangle 99">
            <a:extLst>
              <a:ext uri="{FF2B5EF4-FFF2-40B4-BE49-F238E27FC236}">
                <a16:creationId xmlns:a16="http://schemas.microsoft.com/office/drawing/2014/main" id="{E997F107-5D77-563A-B6C0-7088B86A8177}"/>
              </a:ext>
            </a:extLst>
          </p:cNvPr>
          <p:cNvSpPr/>
          <p:nvPr/>
        </p:nvSpPr>
        <p:spPr>
          <a:xfrm>
            <a:off x="6105524" y="257706"/>
            <a:ext cx="125271" cy="2714484"/>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01" name="Rectangle 100">
            <a:extLst>
              <a:ext uri="{FF2B5EF4-FFF2-40B4-BE49-F238E27FC236}">
                <a16:creationId xmlns:a16="http://schemas.microsoft.com/office/drawing/2014/main" id="{D38C68CD-ADF7-380F-E818-A08E1FF4A8F9}"/>
              </a:ext>
            </a:extLst>
          </p:cNvPr>
          <p:cNvSpPr/>
          <p:nvPr/>
        </p:nvSpPr>
        <p:spPr>
          <a:xfrm>
            <a:off x="4157885" y="257705"/>
            <a:ext cx="125271" cy="2714484"/>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02" name="Rectangle 101">
            <a:extLst>
              <a:ext uri="{FF2B5EF4-FFF2-40B4-BE49-F238E27FC236}">
                <a16:creationId xmlns:a16="http://schemas.microsoft.com/office/drawing/2014/main" id="{1D53732A-CACA-D7CA-9ECB-D0E9EADCD436}"/>
              </a:ext>
            </a:extLst>
          </p:cNvPr>
          <p:cNvSpPr/>
          <p:nvPr/>
        </p:nvSpPr>
        <p:spPr>
          <a:xfrm rot="5400000">
            <a:off x="5131229" y="1996587"/>
            <a:ext cx="125271" cy="182815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03" name="Rectangle 102">
            <a:extLst>
              <a:ext uri="{FF2B5EF4-FFF2-40B4-BE49-F238E27FC236}">
                <a16:creationId xmlns:a16="http://schemas.microsoft.com/office/drawing/2014/main" id="{94F2380D-B236-577F-65D4-E9C67420DED5}"/>
              </a:ext>
            </a:extLst>
          </p:cNvPr>
          <p:cNvSpPr/>
          <p:nvPr/>
        </p:nvSpPr>
        <p:spPr>
          <a:xfrm>
            <a:off x="8179689" y="256397"/>
            <a:ext cx="125271" cy="2715791"/>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04" name="Rectangle 103">
            <a:extLst>
              <a:ext uri="{FF2B5EF4-FFF2-40B4-BE49-F238E27FC236}">
                <a16:creationId xmlns:a16="http://schemas.microsoft.com/office/drawing/2014/main" id="{DC7BDBD6-DA2E-D783-655B-6D313F810A58}"/>
              </a:ext>
            </a:extLst>
          </p:cNvPr>
          <p:cNvSpPr/>
          <p:nvPr/>
        </p:nvSpPr>
        <p:spPr>
          <a:xfrm>
            <a:off x="6235857" y="252119"/>
            <a:ext cx="125271" cy="2721182"/>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05" name="Rectangle 104">
            <a:extLst>
              <a:ext uri="{FF2B5EF4-FFF2-40B4-BE49-F238E27FC236}">
                <a16:creationId xmlns:a16="http://schemas.microsoft.com/office/drawing/2014/main" id="{DE50283D-0B10-EC72-9A62-33BBB76ED94B}"/>
              </a:ext>
            </a:extLst>
          </p:cNvPr>
          <p:cNvSpPr/>
          <p:nvPr/>
        </p:nvSpPr>
        <p:spPr>
          <a:xfrm rot="5400000">
            <a:off x="7209697" y="1987830"/>
            <a:ext cx="125271" cy="1846799"/>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06" name="TextBox 105">
            <a:extLst>
              <a:ext uri="{FF2B5EF4-FFF2-40B4-BE49-F238E27FC236}">
                <a16:creationId xmlns:a16="http://schemas.microsoft.com/office/drawing/2014/main" id="{EC6D25AA-A974-6671-E172-CD7E5E02E21A}"/>
              </a:ext>
            </a:extLst>
          </p:cNvPr>
          <p:cNvSpPr txBox="1"/>
          <p:nvPr/>
        </p:nvSpPr>
        <p:spPr>
          <a:xfrm>
            <a:off x="4613621" y="380422"/>
            <a:ext cx="1210588" cy="261610"/>
          </a:xfrm>
          <a:prstGeom prst="rect">
            <a:avLst/>
          </a:prstGeom>
          <a:noFill/>
        </p:spPr>
        <p:txBody>
          <a:bodyPr wrap="none" rtlCol="0">
            <a:spAutoFit/>
          </a:bodyPr>
          <a:lstStyle/>
          <a:p>
            <a:r>
              <a:rPr lang="en-US" sz="1100" dirty="0"/>
              <a:t>Vertical scenario</a:t>
            </a:r>
          </a:p>
        </p:txBody>
      </p:sp>
      <p:sp>
        <p:nvSpPr>
          <p:cNvPr id="107" name="TextBox 106">
            <a:extLst>
              <a:ext uri="{FF2B5EF4-FFF2-40B4-BE49-F238E27FC236}">
                <a16:creationId xmlns:a16="http://schemas.microsoft.com/office/drawing/2014/main" id="{926A627D-3CF7-8BA4-0B50-AB65BF2454D3}"/>
              </a:ext>
            </a:extLst>
          </p:cNvPr>
          <p:cNvSpPr txBox="1"/>
          <p:nvPr/>
        </p:nvSpPr>
        <p:spPr>
          <a:xfrm>
            <a:off x="6640652" y="377898"/>
            <a:ext cx="1210588" cy="261610"/>
          </a:xfrm>
          <a:prstGeom prst="rect">
            <a:avLst/>
          </a:prstGeom>
          <a:noFill/>
        </p:spPr>
        <p:txBody>
          <a:bodyPr wrap="none" rtlCol="0">
            <a:spAutoFit/>
          </a:bodyPr>
          <a:lstStyle/>
          <a:p>
            <a:r>
              <a:rPr lang="en-US" sz="1100" dirty="0"/>
              <a:t>Vertical scenario</a:t>
            </a:r>
          </a:p>
        </p:txBody>
      </p:sp>
      <p:sp>
        <p:nvSpPr>
          <p:cNvPr id="108" name="Rectangle 107">
            <a:extLst>
              <a:ext uri="{FF2B5EF4-FFF2-40B4-BE49-F238E27FC236}">
                <a16:creationId xmlns:a16="http://schemas.microsoft.com/office/drawing/2014/main" id="{81C327AD-6348-6795-B2DF-DE6F0E376BC1}"/>
              </a:ext>
            </a:extLst>
          </p:cNvPr>
          <p:cNvSpPr/>
          <p:nvPr/>
        </p:nvSpPr>
        <p:spPr>
          <a:xfrm>
            <a:off x="-1950" y="0"/>
            <a:ext cx="2073955" cy="25205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 vs t graph</a:t>
            </a:r>
          </a:p>
        </p:txBody>
      </p:sp>
      <p:sp>
        <p:nvSpPr>
          <p:cNvPr id="109" name="Rectangle 108">
            <a:extLst>
              <a:ext uri="{FF2B5EF4-FFF2-40B4-BE49-F238E27FC236}">
                <a16:creationId xmlns:a16="http://schemas.microsoft.com/office/drawing/2014/main" id="{AE2C0021-5DC1-D832-6887-97052056CF7F}"/>
              </a:ext>
            </a:extLst>
          </p:cNvPr>
          <p:cNvSpPr/>
          <p:nvPr/>
        </p:nvSpPr>
        <p:spPr>
          <a:xfrm>
            <a:off x="2083515" y="374"/>
            <a:ext cx="2076530" cy="252056"/>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v vs t graph</a:t>
            </a:r>
          </a:p>
        </p:txBody>
      </p:sp>
      <p:sp>
        <p:nvSpPr>
          <p:cNvPr id="110" name="Rectangle 109">
            <a:extLst>
              <a:ext uri="{FF2B5EF4-FFF2-40B4-BE49-F238E27FC236}">
                <a16:creationId xmlns:a16="http://schemas.microsoft.com/office/drawing/2014/main" id="{671EAFF1-B6D8-4AD2-39A7-8F1DA1E8D56D}"/>
              </a:ext>
            </a:extLst>
          </p:cNvPr>
          <p:cNvSpPr/>
          <p:nvPr/>
        </p:nvSpPr>
        <p:spPr>
          <a:xfrm>
            <a:off x="-2624" y="251961"/>
            <a:ext cx="125271" cy="271448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11" name="Rectangle 110">
            <a:extLst>
              <a:ext uri="{FF2B5EF4-FFF2-40B4-BE49-F238E27FC236}">
                <a16:creationId xmlns:a16="http://schemas.microsoft.com/office/drawing/2014/main" id="{248DE7AA-D5E0-1B77-60FE-5826828BEEB9}"/>
              </a:ext>
            </a:extLst>
          </p:cNvPr>
          <p:cNvSpPr/>
          <p:nvPr/>
        </p:nvSpPr>
        <p:spPr>
          <a:xfrm rot="5400000">
            <a:off x="970720" y="1990843"/>
            <a:ext cx="125271" cy="182815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12" name="Rectangle 111">
            <a:extLst>
              <a:ext uri="{FF2B5EF4-FFF2-40B4-BE49-F238E27FC236}">
                <a16:creationId xmlns:a16="http://schemas.microsoft.com/office/drawing/2014/main" id="{891F08AA-BBDD-F126-1433-1E290986527C}"/>
              </a:ext>
            </a:extLst>
          </p:cNvPr>
          <p:cNvSpPr/>
          <p:nvPr/>
        </p:nvSpPr>
        <p:spPr>
          <a:xfrm>
            <a:off x="4030990" y="248789"/>
            <a:ext cx="125271" cy="2715867"/>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13" name="Rectangle 112">
            <a:extLst>
              <a:ext uri="{FF2B5EF4-FFF2-40B4-BE49-F238E27FC236}">
                <a16:creationId xmlns:a16="http://schemas.microsoft.com/office/drawing/2014/main" id="{04EDCA7C-E1FB-F0AB-DD0A-924C19391148}"/>
              </a:ext>
            </a:extLst>
          </p:cNvPr>
          <p:cNvSpPr/>
          <p:nvPr/>
        </p:nvSpPr>
        <p:spPr>
          <a:xfrm>
            <a:off x="2075348" y="246375"/>
            <a:ext cx="125271" cy="2721182"/>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14" name="Rectangle 113">
            <a:extLst>
              <a:ext uri="{FF2B5EF4-FFF2-40B4-BE49-F238E27FC236}">
                <a16:creationId xmlns:a16="http://schemas.microsoft.com/office/drawing/2014/main" id="{DA68469E-C22B-BDB8-591E-955D7B84B81E}"/>
              </a:ext>
            </a:extLst>
          </p:cNvPr>
          <p:cNvSpPr/>
          <p:nvPr/>
        </p:nvSpPr>
        <p:spPr>
          <a:xfrm rot="5400000">
            <a:off x="3049188" y="1982086"/>
            <a:ext cx="125271" cy="1846799"/>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15" name="Rectangle 114">
            <a:extLst>
              <a:ext uri="{FF2B5EF4-FFF2-40B4-BE49-F238E27FC236}">
                <a16:creationId xmlns:a16="http://schemas.microsoft.com/office/drawing/2014/main" id="{115DF598-DD9C-5AFB-68FF-67468A683A10}"/>
              </a:ext>
            </a:extLst>
          </p:cNvPr>
          <p:cNvSpPr/>
          <p:nvPr/>
        </p:nvSpPr>
        <p:spPr>
          <a:xfrm>
            <a:off x="1945015" y="251962"/>
            <a:ext cx="125271" cy="271448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cxnSp>
        <p:nvCxnSpPr>
          <p:cNvPr id="116" name="Straight Connector 115">
            <a:extLst>
              <a:ext uri="{FF2B5EF4-FFF2-40B4-BE49-F238E27FC236}">
                <a16:creationId xmlns:a16="http://schemas.microsoft.com/office/drawing/2014/main" id="{4F31460A-4467-9BAB-AF98-DD689BD3B5E6}"/>
              </a:ext>
            </a:extLst>
          </p:cNvPr>
          <p:cNvCxnSpPr>
            <a:cxnSpLocks/>
          </p:cNvCxnSpPr>
          <p:nvPr/>
        </p:nvCxnSpPr>
        <p:spPr>
          <a:xfrm>
            <a:off x="2433758" y="930148"/>
            <a:ext cx="1320703" cy="49177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sp>
        <p:nvSpPr>
          <p:cNvPr id="117" name="Freeform: Shape 116">
            <a:extLst>
              <a:ext uri="{FF2B5EF4-FFF2-40B4-BE49-F238E27FC236}">
                <a16:creationId xmlns:a16="http://schemas.microsoft.com/office/drawing/2014/main" id="{FF666FE3-43A0-16EB-B022-BE35B772FE1B}"/>
              </a:ext>
            </a:extLst>
          </p:cNvPr>
          <p:cNvSpPr/>
          <p:nvPr/>
        </p:nvSpPr>
        <p:spPr>
          <a:xfrm flipH="1" flipV="1">
            <a:off x="379284" y="1660642"/>
            <a:ext cx="1481666" cy="607926"/>
          </a:xfrm>
          <a:custGeom>
            <a:avLst/>
            <a:gdLst>
              <a:gd name="connsiteX0" fmla="*/ 0 w 3704253"/>
              <a:gd name="connsiteY0" fmla="*/ 1800808 h 1800808"/>
              <a:gd name="connsiteX1" fmla="*/ 737119 w 3704253"/>
              <a:gd name="connsiteY1" fmla="*/ 1716832 h 1800808"/>
              <a:gd name="connsiteX2" fmla="*/ 1492898 w 3704253"/>
              <a:gd name="connsiteY2" fmla="*/ 1492898 h 1800808"/>
              <a:gd name="connsiteX3" fmla="*/ 2239347 w 3704253"/>
              <a:gd name="connsiteY3" fmla="*/ 1147665 h 1800808"/>
              <a:gd name="connsiteX4" fmla="*/ 2976466 w 3704253"/>
              <a:gd name="connsiteY4" fmla="*/ 653142 h 1800808"/>
              <a:gd name="connsiteX5" fmla="*/ 3704253 w 3704253"/>
              <a:gd name="connsiteY5" fmla="*/ 0 h 1800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4253" h="1800808">
                <a:moveTo>
                  <a:pt x="0" y="1800808"/>
                </a:moveTo>
                <a:cubicBezTo>
                  <a:pt x="244151" y="1784479"/>
                  <a:pt x="488303" y="1768150"/>
                  <a:pt x="737119" y="1716832"/>
                </a:cubicBezTo>
                <a:cubicBezTo>
                  <a:pt x="985935" y="1665514"/>
                  <a:pt x="1242527" y="1587759"/>
                  <a:pt x="1492898" y="1492898"/>
                </a:cubicBezTo>
                <a:cubicBezTo>
                  <a:pt x="1743269" y="1398037"/>
                  <a:pt x="1992086" y="1287624"/>
                  <a:pt x="2239347" y="1147665"/>
                </a:cubicBezTo>
                <a:cubicBezTo>
                  <a:pt x="2486608" y="1007706"/>
                  <a:pt x="2732315" y="844419"/>
                  <a:pt x="2976466" y="653142"/>
                </a:cubicBezTo>
                <a:cubicBezTo>
                  <a:pt x="3220617" y="461865"/>
                  <a:pt x="3462435" y="230932"/>
                  <a:pt x="3704253" y="0"/>
                </a:cubicBezTo>
              </a:path>
            </a:pathLst>
          </a:cu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TextBox 117">
            <a:extLst>
              <a:ext uri="{FF2B5EF4-FFF2-40B4-BE49-F238E27FC236}">
                <a16:creationId xmlns:a16="http://schemas.microsoft.com/office/drawing/2014/main" id="{DF1D962E-2024-011A-7431-67C98C8E8B5B}"/>
              </a:ext>
            </a:extLst>
          </p:cNvPr>
          <p:cNvSpPr txBox="1"/>
          <p:nvPr/>
        </p:nvSpPr>
        <p:spPr>
          <a:xfrm>
            <a:off x="1176182" y="2528294"/>
            <a:ext cx="679994" cy="230832"/>
          </a:xfrm>
          <a:prstGeom prst="rect">
            <a:avLst/>
          </a:prstGeom>
          <a:solidFill>
            <a:schemeClr val="bg1">
              <a:lumMod val="95000"/>
            </a:schemeClr>
          </a:solidFill>
        </p:spPr>
        <p:txBody>
          <a:bodyPr wrap="none" rtlCol="0">
            <a:spAutoFit/>
          </a:bodyPr>
          <a:lstStyle/>
          <a:p>
            <a:r>
              <a:rPr lang="en-US" sz="900" dirty="0">
                <a:solidFill>
                  <a:schemeClr val="tx1">
                    <a:lumMod val="50000"/>
                    <a:lumOff val="50000"/>
                  </a:schemeClr>
                </a:solidFill>
              </a:rPr>
              <a:t>Advanced</a:t>
            </a:r>
          </a:p>
        </p:txBody>
      </p:sp>
      <p:sp>
        <p:nvSpPr>
          <p:cNvPr id="119" name="TextBox 118">
            <a:extLst>
              <a:ext uri="{FF2B5EF4-FFF2-40B4-BE49-F238E27FC236}">
                <a16:creationId xmlns:a16="http://schemas.microsoft.com/office/drawing/2014/main" id="{7811DA51-22DB-3BEC-D48D-33296848DBBE}"/>
              </a:ext>
            </a:extLst>
          </p:cNvPr>
          <p:cNvSpPr txBox="1"/>
          <p:nvPr/>
        </p:nvSpPr>
        <p:spPr>
          <a:xfrm>
            <a:off x="3269105" y="2528294"/>
            <a:ext cx="679994" cy="230832"/>
          </a:xfrm>
          <a:prstGeom prst="rect">
            <a:avLst/>
          </a:prstGeom>
          <a:solidFill>
            <a:schemeClr val="bg1">
              <a:lumMod val="95000"/>
            </a:schemeClr>
          </a:solidFill>
        </p:spPr>
        <p:txBody>
          <a:bodyPr wrap="none" rtlCol="0">
            <a:spAutoFit/>
          </a:bodyPr>
          <a:lstStyle/>
          <a:p>
            <a:r>
              <a:rPr lang="en-US" sz="900" dirty="0">
                <a:solidFill>
                  <a:schemeClr val="tx1">
                    <a:lumMod val="50000"/>
                    <a:lumOff val="50000"/>
                  </a:schemeClr>
                </a:solidFill>
              </a:rPr>
              <a:t>Advanced</a:t>
            </a:r>
          </a:p>
        </p:txBody>
      </p:sp>
      <p:sp>
        <p:nvSpPr>
          <p:cNvPr id="120" name="TextBox 119">
            <a:extLst>
              <a:ext uri="{FF2B5EF4-FFF2-40B4-BE49-F238E27FC236}">
                <a16:creationId xmlns:a16="http://schemas.microsoft.com/office/drawing/2014/main" id="{1B4CECED-8447-4357-376A-6EB9339C6630}"/>
              </a:ext>
            </a:extLst>
          </p:cNvPr>
          <p:cNvSpPr txBox="1"/>
          <p:nvPr/>
        </p:nvSpPr>
        <p:spPr>
          <a:xfrm>
            <a:off x="5348293" y="2558151"/>
            <a:ext cx="679994" cy="230832"/>
          </a:xfrm>
          <a:prstGeom prst="rect">
            <a:avLst/>
          </a:prstGeom>
          <a:solidFill>
            <a:schemeClr val="bg1">
              <a:lumMod val="95000"/>
            </a:schemeClr>
          </a:solidFill>
        </p:spPr>
        <p:txBody>
          <a:bodyPr wrap="none" rtlCol="0">
            <a:spAutoFit/>
          </a:bodyPr>
          <a:lstStyle/>
          <a:p>
            <a:r>
              <a:rPr lang="en-US" sz="900" dirty="0">
                <a:solidFill>
                  <a:schemeClr val="tx1">
                    <a:lumMod val="50000"/>
                    <a:lumOff val="50000"/>
                  </a:schemeClr>
                </a:solidFill>
              </a:rPr>
              <a:t>Advanced</a:t>
            </a:r>
          </a:p>
        </p:txBody>
      </p:sp>
      <p:sp>
        <p:nvSpPr>
          <p:cNvPr id="121" name="TextBox 120">
            <a:extLst>
              <a:ext uri="{FF2B5EF4-FFF2-40B4-BE49-F238E27FC236}">
                <a16:creationId xmlns:a16="http://schemas.microsoft.com/office/drawing/2014/main" id="{09857755-B508-CC53-DCBB-F9BE1C5DBB40}"/>
              </a:ext>
            </a:extLst>
          </p:cNvPr>
          <p:cNvSpPr txBox="1"/>
          <p:nvPr/>
        </p:nvSpPr>
        <p:spPr>
          <a:xfrm>
            <a:off x="7441216" y="2558151"/>
            <a:ext cx="679994" cy="230832"/>
          </a:xfrm>
          <a:prstGeom prst="rect">
            <a:avLst/>
          </a:prstGeom>
          <a:solidFill>
            <a:schemeClr val="bg1">
              <a:lumMod val="95000"/>
            </a:schemeClr>
          </a:solidFill>
        </p:spPr>
        <p:txBody>
          <a:bodyPr wrap="none" rtlCol="0">
            <a:spAutoFit/>
          </a:bodyPr>
          <a:lstStyle/>
          <a:p>
            <a:r>
              <a:rPr lang="en-US" sz="900" dirty="0">
                <a:solidFill>
                  <a:schemeClr val="tx1">
                    <a:lumMod val="50000"/>
                    <a:lumOff val="50000"/>
                  </a:schemeClr>
                </a:solidFill>
              </a:rPr>
              <a:t>Advanced</a:t>
            </a:r>
          </a:p>
        </p:txBody>
      </p:sp>
      <p:sp>
        <p:nvSpPr>
          <p:cNvPr id="122" name="TextBox 121">
            <a:extLst>
              <a:ext uri="{FF2B5EF4-FFF2-40B4-BE49-F238E27FC236}">
                <a16:creationId xmlns:a16="http://schemas.microsoft.com/office/drawing/2014/main" id="{228F8F89-4616-199E-86C7-1BA4A8DBBA84}"/>
              </a:ext>
            </a:extLst>
          </p:cNvPr>
          <p:cNvSpPr txBox="1"/>
          <p:nvPr/>
        </p:nvSpPr>
        <p:spPr>
          <a:xfrm>
            <a:off x="8404507" y="1388980"/>
            <a:ext cx="604653" cy="261610"/>
          </a:xfrm>
          <a:prstGeom prst="rect">
            <a:avLst/>
          </a:prstGeom>
          <a:noFill/>
        </p:spPr>
        <p:txBody>
          <a:bodyPr wrap="none" rtlCol="0">
            <a:spAutoFit/>
          </a:bodyPr>
          <a:lstStyle/>
          <a:p>
            <a:r>
              <a:rPr lang="en-US" sz="1100" dirty="0"/>
              <a:t>Case 3</a:t>
            </a:r>
          </a:p>
        </p:txBody>
      </p:sp>
      <p:sp>
        <p:nvSpPr>
          <p:cNvPr id="7" name="TextBox 6">
            <a:extLst>
              <a:ext uri="{FF2B5EF4-FFF2-40B4-BE49-F238E27FC236}">
                <a16:creationId xmlns:a16="http://schemas.microsoft.com/office/drawing/2014/main" id="{F954F473-1B21-43EB-A21D-EC0F0BD37148}"/>
              </a:ext>
            </a:extLst>
          </p:cNvPr>
          <p:cNvSpPr txBox="1"/>
          <p:nvPr/>
        </p:nvSpPr>
        <p:spPr>
          <a:xfrm>
            <a:off x="120648" y="2575731"/>
            <a:ext cx="574196" cy="261610"/>
          </a:xfrm>
          <a:prstGeom prst="rect">
            <a:avLst/>
          </a:prstGeom>
          <a:noFill/>
        </p:spPr>
        <p:txBody>
          <a:bodyPr wrap="none" rtlCol="0">
            <a:spAutoFit/>
          </a:bodyPr>
          <a:lstStyle/>
          <a:p>
            <a:r>
              <a:rPr lang="en-US" sz="1100" dirty="0"/>
              <a:t>Card x</a:t>
            </a:r>
          </a:p>
        </p:txBody>
      </p:sp>
      <p:sp>
        <p:nvSpPr>
          <p:cNvPr id="8" name="TextBox 7">
            <a:extLst>
              <a:ext uri="{FF2B5EF4-FFF2-40B4-BE49-F238E27FC236}">
                <a16:creationId xmlns:a16="http://schemas.microsoft.com/office/drawing/2014/main" id="{5B1C21E3-F5F0-337E-A91B-A479242DB0B4}"/>
              </a:ext>
            </a:extLst>
          </p:cNvPr>
          <p:cNvSpPr txBox="1"/>
          <p:nvPr/>
        </p:nvSpPr>
        <p:spPr>
          <a:xfrm>
            <a:off x="125324" y="5548933"/>
            <a:ext cx="574196" cy="261610"/>
          </a:xfrm>
          <a:prstGeom prst="rect">
            <a:avLst/>
          </a:prstGeom>
          <a:noFill/>
        </p:spPr>
        <p:txBody>
          <a:bodyPr wrap="none" rtlCol="0">
            <a:spAutoFit/>
          </a:bodyPr>
          <a:lstStyle/>
          <a:p>
            <a:r>
              <a:rPr lang="en-US" sz="1100" dirty="0"/>
              <a:t>Card x</a:t>
            </a:r>
          </a:p>
        </p:txBody>
      </p:sp>
      <p:sp>
        <p:nvSpPr>
          <p:cNvPr id="123" name="TextBox 122">
            <a:extLst>
              <a:ext uri="{FF2B5EF4-FFF2-40B4-BE49-F238E27FC236}">
                <a16:creationId xmlns:a16="http://schemas.microsoft.com/office/drawing/2014/main" id="{E5394358-3FBE-5B97-587F-529F07A6CB86}"/>
              </a:ext>
            </a:extLst>
          </p:cNvPr>
          <p:cNvSpPr txBox="1"/>
          <p:nvPr/>
        </p:nvSpPr>
        <p:spPr>
          <a:xfrm>
            <a:off x="2204356" y="5553177"/>
            <a:ext cx="574196" cy="261610"/>
          </a:xfrm>
          <a:prstGeom prst="rect">
            <a:avLst/>
          </a:prstGeom>
          <a:noFill/>
        </p:spPr>
        <p:txBody>
          <a:bodyPr wrap="none" rtlCol="0">
            <a:spAutoFit/>
          </a:bodyPr>
          <a:lstStyle/>
          <a:p>
            <a:r>
              <a:rPr lang="en-US" sz="1100" dirty="0"/>
              <a:t>Card x</a:t>
            </a:r>
          </a:p>
        </p:txBody>
      </p:sp>
      <p:sp>
        <p:nvSpPr>
          <p:cNvPr id="124" name="TextBox 123">
            <a:extLst>
              <a:ext uri="{FF2B5EF4-FFF2-40B4-BE49-F238E27FC236}">
                <a16:creationId xmlns:a16="http://schemas.microsoft.com/office/drawing/2014/main" id="{E8C37796-7E32-B469-C513-0B0CE97CAE55}"/>
              </a:ext>
            </a:extLst>
          </p:cNvPr>
          <p:cNvSpPr txBox="1"/>
          <p:nvPr/>
        </p:nvSpPr>
        <p:spPr>
          <a:xfrm>
            <a:off x="2202818" y="2575271"/>
            <a:ext cx="574196" cy="261610"/>
          </a:xfrm>
          <a:prstGeom prst="rect">
            <a:avLst/>
          </a:prstGeom>
          <a:noFill/>
        </p:spPr>
        <p:txBody>
          <a:bodyPr wrap="none" rtlCol="0">
            <a:spAutoFit/>
          </a:bodyPr>
          <a:lstStyle/>
          <a:p>
            <a:r>
              <a:rPr lang="en-US" sz="1100" dirty="0"/>
              <a:t>Card x</a:t>
            </a:r>
          </a:p>
        </p:txBody>
      </p:sp>
      <p:sp>
        <p:nvSpPr>
          <p:cNvPr id="125" name="TextBox 124">
            <a:extLst>
              <a:ext uri="{FF2B5EF4-FFF2-40B4-BE49-F238E27FC236}">
                <a16:creationId xmlns:a16="http://schemas.microsoft.com/office/drawing/2014/main" id="{2CA656ED-1E71-1870-9981-4AE9A23039DF}"/>
              </a:ext>
            </a:extLst>
          </p:cNvPr>
          <p:cNvSpPr txBox="1"/>
          <p:nvPr/>
        </p:nvSpPr>
        <p:spPr>
          <a:xfrm>
            <a:off x="4281406" y="2589569"/>
            <a:ext cx="574196" cy="261610"/>
          </a:xfrm>
          <a:prstGeom prst="rect">
            <a:avLst/>
          </a:prstGeom>
          <a:noFill/>
        </p:spPr>
        <p:txBody>
          <a:bodyPr wrap="none" rtlCol="0">
            <a:spAutoFit/>
          </a:bodyPr>
          <a:lstStyle/>
          <a:p>
            <a:r>
              <a:rPr lang="en-US" sz="1100" dirty="0"/>
              <a:t>Card x</a:t>
            </a:r>
          </a:p>
        </p:txBody>
      </p:sp>
      <p:sp>
        <p:nvSpPr>
          <p:cNvPr id="126" name="TextBox 125">
            <a:extLst>
              <a:ext uri="{FF2B5EF4-FFF2-40B4-BE49-F238E27FC236}">
                <a16:creationId xmlns:a16="http://schemas.microsoft.com/office/drawing/2014/main" id="{D0CBAF13-D0C0-60CC-19D3-5B056B65075F}"/>
              </a:ext>
            </a:extLst>
          </p:cNvPr>
          <p:cNvSpPr txBox="1"/>
          <p:nvPr/>
        </p:nvSpPr>
        <p:spPr>
          <a:xfrm>
            <a:off x="4285661" y="5543973"/>
            <a:ext cx="590226" cy="261610"/>
          </a:xfrm>
          <a:prstGeom prst="rect">
            <a:avLst/>
          </a:prstGeom>
          <a:noFill/>
        </p:spPr>
        <p:txBody>
          <a:bodyPr wrap="none" rtlCol="0">
            <a:spAutoFit/>
          </a:bodyPr>
          <a:lstStyle/>
          <a:p>
            <a:r>
              <a:rPr lang="en-US" sz="1100" dirty="0"/>
              <a:t>Card X</a:t>
            </a:r>
          </a:p>
        </p:txBody>
      </p:sp>
      <p:sp>
        <p:nvSpPr>
          <p:cNvPr id="127" name="TextBox 126">
            <a:extLst>
              <a:ext uri="{FF2B5EF4-FFF2-40B4-BE49-F238E27FC236}">
                <a16:creationId xmlns:a16="http://schemas.microsoft.com/office/drawing/2014/main" id="{EFF9F1A9-BB7C-686A-983E-195F40A99270}"/>
              </a:ext>
            </a:extLst>
          </p:cNvPr>
          <p:cNvSpPr txBox="1"/>
          <p:nvPr/>
        </p:nvSpPr>
        <p:spPr>
          <a:xfrm>
            <a:off x="6357850" y="5542832"/>
            <a:ext cx="574196" cy="261610"/>
          </a:xfrm>
          <a:prstGeom prst="rect">
            <a:avLst/>
          </a:prstGeom>
          <a:noFill/>
        </p:spPr>
        <p:txBody>
          <a:bodyPr wrap="none" rtlCol="0">
            <a:spAutoFit/>
          </a:bodyPr>
          <a:lstStyle/>
          <a:p>
            <a:r>
              <a:rPr lang="en-US" sz="1100" dirty="0"/>
              <a:t>Card x</a:t>
            </a:r>
          </a:p>
        </p:txBody>
      </p:sp>
      <p:sp>
        <p:nvSpPr>
          <p:cNvPr id="128" name="TextBox 127">
            <a:extLst>
              <a:ext uri="{FF2B5EF4-FFF2-40B4-BE49-F238E27FC236}">
                <a16:creationId xmlns:a16="http://schemas.microsoft.com/office/drawing/2014/main" id="{6D680FD5-68B7-3E06-8DC0-3F4D3A937AF2}"/>
              </a:ext>
            </a:extLst>
          </p:cNvPr>
          <p:cNvSpPr txBox="1"/>
          <p:nvPr/>
        </p:nvSpPr>
        <p:spPr>
          <a:xfrm>
            <a:off x="6365277" y="2583478"/>
            <a:ext cx="574196" cy="261610"/>
          </a:xfrm>
          <a:prstGeom prst="rect">
            <a:avLst/>
          </a:prstGeom>
          <a:noFill/>
        </p:spPr>
        <p:txBody>
          <a:bodyPr wrap="none" rtlCol="0">
            <a:spAutoFit/>
          </a:bodyPr>
          <a:lstStyle/>
          <a:p>
            <a:r>
              <a:rPr lang="en-US" sz="1100" dirty="0"/>
              <a:t>Card x</a:t>
            </a:r>
          </a:p>
        </p:txBody>
      </p:sp>
    </p:spTree>
    <p:extLst>
      <p:ext uri="{BB962C8B-B14F-4D97-AF65-F5344CB8AC3E}">
        <p14:creationId xmlns:p14="http://schemas.microsoft.com/office/powerpoint/2010/main" val="2512037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1D3A5-CECA-780B-B541-795CC3170591}"/>
            </a:ext>
          </a:extLst>
        </p:cNvPr>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E875C537-A227-6D81-9AE8-CDCBC164DAA6}"/>
              </a:ext>
            </a:extLst>
          </p:cNvPr>
          <p:cNvCxnSpPr>
            <a:cxnSpLocks/>
          </p:cNvCxnSpPr>
          <p:nvPr/>
        </p:nvCxnSpPr>
        <p:spPr>
          <a:xfrm>
            <a:off x="369145" y="3519436"/>
            <a:ext cx="0" cy="1891417"/>
          </a:xfrm>
          <a:prstGeom prst="line">
            <a:avLst/>
          </a:prstGeom>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38550DA-ED80-878B-C08A-12DFFF0E80A5}"/>
              </a:ext>
            </a:extLst>
          </p:cNvPr>
          <p:cNvSpPr/>
          <p:nvPr/>
        </p:nvSpPr>
        <p:spPr>
          <a:xfrm>
            <a:off x="9560" y="29609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cxnSp>
        <p:nvCxnSpPr>
          <p:cNvPr id="21" name="Straight Connector 20">
            <a:extLst>
              <a:ext uri="{FF2B5EF4-FFF2-40B4-BE49-F238E27FC236}">
                <a16:creationId xmlns:a16="http://schemas.microsoft.com/office/drawing/2014/main" id="{5C06893F-C19E-5750-78BE-0657F241FC95}"/>
              </a:ext>
            </a:extLst>
          </p:cNvPr>
          <p:cNvCxnSpPr/>
          <p:nvPr/>
        </p:nvCxnSpPr>
        <p:spPr>
          <a:xfrm>
            <a:off x="-4482928" y="99168"/>
            <a:ext cx="0" cy="2683566"/>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43DE5C73-5ECF-2958-13EA-C02245DBE959}"/>
              </a:ext>
            </a:extLst>
          </p:cNvPr>
          <p:cNvCxnSpPr/>
          <p:nvPr/>
        </p:nvCxnSpPr>
        <p:spPr>
          <a:xfrm>
            <a:off x="371928" y="4401832"/>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0921A9DA-0E47-AD55-7F91-58F516CABEBB}"/>
              </a:ext>
            </a:extLst>
          </p:cNvPr>
          <p:cNvSpPr txBox="1"/>
          <p:nvPr/>
        </p:nvSpPr>
        <p:spPr>
          <a:xfrm>
            <a:off x="1561000" y="4369828"/>
            <a:ext cx="457176" cy="261610"/>
          </a:xfrm>
          <a:prstGeom prst="rect">
            <a:avLst/>
          </a:prstGeom>
          <a:noFill/>
        </p:spPr>
        <p:txBody>
          <a:bodyPr wrap="none" rtlCol="0">
            <a:spAutoFit/>
          </a:bodyPr>
          <a:lstStyle/>
          <a:p>
            <a:r>
              <a:rPr lang="en-US" sz="1100" dirty="0"/>
              <a:t>time</a:t>
            </a:r>
          </a:p>
        </p:txBody>
      </p:sp>
      <p:sp>
        <p:nvSpPr>
          <p:cNvPr id="26" name="TextBox 25">
            <a:extLst>
              <a:ext uri="{FF2B5EF4-FFF2-40B4-BE49-F238E27FC236}">
                <a16:creationId xmlns:a16="http://schemas.microsoft.com/office/drawing/2014/main" id="{718EC785-26DD-1639-4A7A-03422F3C646D}"/>
              </a:ext>
            </a:extLst>
          </p:cNvPr>
          <p:cNvSpPr txBox="1"/>
          <p:nvPr/>
        </p:nvSpPr>
        <p:spPr>
          <a:xfrm rot="16200000">
            <a:off x="-107052" y="3646928"/>
            <a:ext cx="679994" cy="261610"/>
          </a:xfrm>
          <a:prstGeom prst="rect">
            <a:avLst/>
          </a:prstGeom>
          <a:noFill/>
        </p:spPr>
        <p:txBody>
          <a:bodyPr wrap="none" rtlCol="0">
            <a:spAutoFit/>
          </a:bodyPr>
          <a:lstStyle/>
          <a:p>
            <a:r>
              <a:rPr lang="en-US" sz="1100" dirty="0"/>
              <a:t>position</a:t>
            </a:r>
          </a:p>
        </p:txBody>
      </p:sp>
      <p:sp>
        <p:nvSpPr>
          <p:cNvPr id="27" name="TextBox 26">
            <a:extLst>
              <a:ext uri="{FF2B5EF4-FFF2-40B4-BE49-F238E27FC236}">
                <a16:creationId xmlns:a16="http://schemas.microsoft.com/office/drawing/2014/main" id="{A44877D7-32A9-871C-12A1-F4A516F4044E}"/>
              </a:ext>
            </a:extLst>
          </p:cNvPr>
          <p:cNvSpPr txBox="1"/>
          <p:nvPr/>
        </p:nvSpPr>
        <p:spPr>
          <a:xfrm>
            <a:off x="114668" y="4271027"/>
            <a:ext cx="260008" cy="261610"/>
          </a:xfrm>
          <a:prstGeom prst="rect">
            <a:avLst/>
          </a:prstGeom>
          <a:noFill/>
        </p:spPr>
        <p:txBody>
          <a:bodyPr wrap="none" rtlCol="0">
            <a:spAutoFit/>
          </a:bodyPr>
          <a:lstStyle/>
          <a:p>
            <a:r>
              <a:rPr lang="en-US" sz="1100" dirty="0"/>
              <a:t>0</a:t>
            </a:r>
          </a:p>
        </p:txBody>
      </p:sp>
      <p:cxnSp>
        <p:nvCxnSpPr>
          <p:cNvPr id="31" name="Straight Connector 30">
            <a:extLst>
              <a:ext uri="{FF2B5EF4-FFF2-40B4-BE49-F238E27FC236}">
                <a16:creationId xmlns:a16="http://schemas.microsoft.com/office/drawing/2014/main" id="{CC074A4A-5F34-7636-E0E7-34A24309A1F9}"/>
              </a:ext>
            </a:extLst>
          </p:cNvPr>
          <p:cNvCxnSpPr>
            <a:cxnSpLocks/>
          </p:cNvCxnSpPr>
          <p:nvPr/>
        </p:nvCxnSpPr>
        <p:spPr>
          <a:xfrm>
            <a:off x="2423619" y="3520960"/>
            <a:ext cx="0" cy="1891417"/>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64470E0-A523-6A03-99DE-4D794852A1DC}"/>
              </a:ext>
            </a:extLst>
          </p:cNvPr>
          <p:cNvCxnSpPr/>
          <p:nvPr/>
        </p:nvCxnSpPr>
        <p:spPr>
          <a:xfrm>
            <a:off x="2426402" y="4403356"/>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FDC54AC0-81DC-F28F-D9C1-2C5CBF0E6DA2}"/>
              </a:ext>
            </a:extLst>
          </p:cNvPr>
          <p:cNvSpPr txBox="1"/>
          <p:nvPr/>
        </p:nvSpPr>
        <p:spPr>
          <a:xfrm>
            <a:off x="3642633" y="4371352"/>
            <a:ext cx="457176" cy="261610"/>
          </a:xfrm>
          <a:prstGeom prst="rect">
            <a:avLst/>
          </a:prstGeom>
          <a:noFill/>
        </p:spPr>
        <p:txBody>
          <a:bodyPr wrap="none" rtlCol="0">
            <a:spAutoFit/>
          </a:bodyPr>
          <a:lstStyle/>
          <a:p>
            <a:r>
              <a:rPr lang="en-US" sz="1100" dirty="0"/>
              <a:t>time</a:t>
            </a:r>
          </a:p>
        </p:txBody>
      </p:sp>
      <p:sp>
        <p:nvSpPr>
          <p:cNvPr id="34" name="TextBox 33">
            <a:extLst>
              <a:ext uri="{FF2B5EF4-FFF2-40B4-BE49-F238E27FC236}">
                <a16:creationId xmlns:a16="http://schemas.microsoft.com/office/drawing/2014/main" id="{D97703A8-1401-E236-982A-33EB161933F0}"/>
              </a:ext>
            </a:extLst>
          </p:cNvPr>
          <p:cNvSpPr txBox="1"/>
          <p:nvPr/>
        </p:nvSpPr>
        <p:spPr>
          <a:xfrm rot="16200000">
            <a:off x="1960246" y="3648452"/>
            <a:ext cx="654346" cy="261610"/>
          </a:xfrm>
          <a:prstGeom prst="rect">
            <a:avLst/>
          </a:prstGeom>
          <a:noFill/>
        </p:spPr>
        <p:txBody>
          <a:bodyPr wrap="none" rtlCol="0">
            <a:spAutoFit/>
          </a:bodyPr>
          <a:lstStyle/>
          <a:p>
            <a:r>
              <a:rPr lang="en-US" sz="1100" dirty="0"/>
              <a:t>velocity</a:t>
            </a:r>
          </a:p>
        </p:txBody>
      </p:sp>
      <p:sp>
        <p:nvSpPr>
          <p:cNvPr id="35" name="TextBox 34">
            <a:extLst>
              <a:ext uri="{FF2B5EF4-FFF2-40B4-BE49-F238E27FC236}">
                <a16:creationId xmlns:a16="http://schemas.microsoft.com/office/drawing/2014/main" id="{800F9F79-5B88-5956-E3E9-3E9BCB9D4D84}"/>
              </a:ext>
            </a:extLst>
          </p:cNvPr>
          <p:cNvSpPr txBox="1"/>
          <p:nvPr/>
        </p:nvSpPr>
        <p:spPr>
          <a:xfrm>
            <a:off x="2169142" y="4272551"/>
            <a:ext cx="260008" cy="261610"/>
          </a:xfrm>
          <a:prstGeom prst="rect">
            <a:avLst/>
          </a:prstGeom>
          <a:noFill/>
        </p:spPr>
        <p:txBody>
          <a:bodyPr wrap="none" rtlCol="0">
            <a:spAutoFit/>
          </a:bodyPr>
          <a:lstStyle/>
          <a:p>
            <a:r>
              <a:rPr lang="en-US" sz="1100" dirty="0"/>
              <a:t>0</a:t>
            </a:r>
          </a:p>
        </p:txBody>
      </p:sp>
      <p:sp>
        <p:nvSpPr>
          <p:cNvPr id="80" name="TextBox 79">
            <a:extLst>
              <a:ext uri="{FF2B5EF4-FFF2-40B4-BE49-F238E27FC236}">
                <a16:creationId xmlns:a16="http://schemas.microsoft.com/office/drawing/2014/main" id="{12A82175-272B-31A1-FC7F-0CAB9CFCA514}"/>
              </a:ext>
            </a:extLst>
          </p:cNvPr>
          <p:cNvSpPr txBox="1"/>
          <p:nvPr/>
        </p:nvSpPr>
        <p:spPr>
          <a:xfrm>
            <a:off x="8419951" y="4340935"/>
            <a:ext cx="604653" cy="261610"/>
          </a:xfrm>
          <a:prstGeom prst="rect">
            <a:avLst/>
          </a:prstGeom>
          <a:noFill/>
        </p:spPr>
        <p:txBody>
          <a:bodyPr wrap="none" rtlCol="0">
            <a:spAutoFit/>
          </a:bodyPr>
          <a:lstStyle/>
          <a:p>
            <a:r>
              <a:rPr lang="en-US" sz="1100" dirty="0"/>
              <a:t>Case 6</a:t>
            </a:r>
          </a:p>
        </p:txBody>
      </p:sp>
      <p:sp>
        <p:nvSpPr>
          <p:cNvPr id="2" name="Rectangle 1">
            <a:extLst>
              <a:ext uri="{FF2B5EF4-FFF2-40B4-BE49-F238E27FC236}">
                <a16:creationId xmlns:a16="http://schemas.microsoft.com/office/drawing/2014/main" id="{ADBE6014-C752-1356-331C-919E55DE0C50}"/>
              </a:ext>
            </a:extLst>
          </p:cNvPr>
          <p:cNvSpPr/>
          <p:nvPr/>
        </p:nvSpPr>
        <p:spPr>
          <a:xfrm>
            <a:off x="2079956" y="29609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 name="Rectangle 3">
            <a:extLst>
              <a:ext uri="{FF2B5EF4-FFF2-40B4-BE49-F238E27FC236}">
                <a16:creationId xmlns:a16="http://schemas.microsoft.com/office/drawing/2014/main" id="{361D7960-24CB-E5DA-66D0-BEFF02F4C96A}"/>
              </a:ext>
            </a:extLst>
          </p:cNvPr>
          <p:cNvSpPr/>
          <p:nvPr/>
        </p:nvSpPr>
        <p:spPr>
          <a:xfrm>
            <a:off x="415887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3" name="Rectangle 12">
            <a:extLst>
              <a:ext uri="{FF2B5EF4-FFF2-40B4-BE49-F238E27FC236}">
                <a16:creationId xmlns:a16="http://schemas.microsoft.com/office/drawing/2014/main" id="{199F5021-222E-FC8B-E003-261FACEB026D}"/>
              </a:ext>
            </a:extLst>
          </p:cNvPr>
          <p:cNvSpPr/>
          <p:nvPr/>
        </p:nvSpPr>
        <p:spPr>
          <a:xfrm>
            <a:off x="6226082" y="-7609"/>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0" name="Rectangle 29">
            <a:extLst>
              <a:ext uri="{FF2B5EF4-FFF2-40B4-BE49-F238E27FC236}">
                <a16:creationId xmlns:a16="http://schemas.microsoft.com/office/drawing/2014/main" id="{5FF2B959-36A8-77D1-18EC-E91E1C02E2B2}"/>
              </a:ext>
            </a:extLst>
          </p:cNvPr>
          <p:cNvSpPr/>
          <p:nvPr/>
        </p:nvSpPr>
        <p:spPr>
          <a:xfrm>
            <a:off x="9560"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3" name="Rectangle 42">
            <a:extLst>
              <a:ext uri="{FF2B5EF4-FFF2-40B4-BE49-F238E27FC236}">
                <a16:creationId xmlns:a16="http://schemas.microsoft.com/office/drawing/2014/main" id="{22020B0E-32F0-F7C6-BBDA-3008AD90C345}"/>
              </a:ext>
            </a:extLst>
          </p:cNvPr>
          <p:cNvSpPr/>
          <p:nvPr/>
        </p:nvSpPr>
        <p:spPr>
          <a:xfrm>
            <a:off x="2079956"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4" name="Rectangle 43">
            <a:extLst>
              <a:ext uri="{FF2B5EF4-FFF2-40B4-BE49-F238E27FC236}">
                <a16:creationId xmlns:a16="http://schemas.microsoft.com/office/drawing/2014/main" id="{B7B217DC-E530-E96E-621B-6705D49BF33D}"/>
              </a:ext>
            </a:extLst>
          </p:cNvPr>
          <p:cNvSpPr/>
          <p:nvPr/>
        </p:nvSpPr>
        <p:spPr>
          <a:xfrm>
            <a:off x="4158876"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5" name="Rectangle 44">
            <a:extLst>
              <a:ext uri="{FF2B5EF4-FFF2-40B4-BE49-F238E27FC236}">
                <a16:creationId xmlns:a16="http://schemas.microsoft.com/office/drawing/2014/main" id="{2F19508D-F8D2-D9ED-BC3E-C10737E2BEFD}"/>
              </a:ext>
            </a:extLst>
          </p:cNvPr>
          <p:cNvSpPr/>
          <p:nvPr/>
        </p:nvSpPr>
        <p:spPr>
          <a:xfrm>
            <a:off x="6226082" y="2955663"/>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1" name="Oval 10">
            <a:extLst>
              <a:ext uri="{FF2B5EF4-FFF2-40B4-BE49-F238E27FC236}">
                <a16:creationId xmlns:a16="http://schemas.microsoft.com/office/drawing/2014/main" id="{61497D66-E025-76F1-16CB-D86B761A990E}"/>
              </a:ext>
            </a:extLst>
          </p:cNvPr>
          <p:cNvSpPr/>
          <p:nvPr/>
        </p:nvSpPr>
        <p:spPr>
          <a:xfrm>
            <a:off x="5218916" y="5066918"/>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FDBF5CF-07DE-05FD-669C-0066409F4784}"/>
              </a:ext>
            </a:extLst>
          </p:cNvPr>
          <p:cNvSpPr/>
          <p:nvPr/>
        </p:nvSpPr>
        <p:spPr>
          <a:xfrm>
            <a:off x="5218916" y="4793566"/>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7B4F5A46-A7CA-B418-2F27-35A049075185}"/>
              </a:ext>
            </a:extLst>
          </p:cNvPr>
          <p:cNvSpPr/>
          <p:nvPr/>
        </p:nvSpPr>
        <p:spPr>
          <a:xfrm>
            <a:off x="5218915" y="4420238"/>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92174F50-D6DE-D6B9-0FA3-CA151C78153C}"/>
              </a:ext>
            </a:extLst>
          </p:cNvPr>
          <p:cNvSpPr/>
          <p:nvPr/>
        </p:nvSpPr>
        <p:spPr>
          <a:xfrm>
            <a:off x="5218915" y="3943703"/>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244B49CE-6B61-E5DF-507E-3254FF176F88}"/>
              </a:ext>
            </a:extLst>
          </p:cNvPr>
          <p:cNvSpPr txBox="1"/>
          <p:nvPr/>
        </p:nvSpPr>
        <p:spPr>
          <a:xfrm>
            <a:off x="4922058" y="4961864"/>
            <a:ext cx="260008" cy="261610"/>
          </a:xfrm>
          <a:prstGeom prst="rect">
            <a:avLst/>
          </a:prstGeom>
          <a:noFill/>
        </p:spPr>
        <p:txBody>
          <a:bodyPr wrap="none" rtlCol="0">
            <a:spAutoFit/>
          </a:bodyPr>
          <a:lstStyle/>
          <a:p>
            <a:r>
              <a:rPr lang="en-US" sz="1100" dirty="0"/>
              <a:t>4</a:t>
            </a:r>
          </a:p>
        </p:txBody>
      </p:sp>
      <p:sp>
        <p:nvSpPr>
          <p:cNvPr id="46" name="TextBox 45">
            <a:extLst>
              <a:ext uri="{FF2B5EF4-FFF2-40B4-BE49-F238E27FC236}">
                <a16:creationId xmlns:a16="http://schemas.microsoft.com/office/drawing/2014/main" id="{FB340606-2760-B3A6-4A30-8D48B67B7F76}"/>
              </a:ext>
            </a:extLst>
          </p:cNvPr>
          <p:cNvSpPr txBox="1"/>
          <p:nvPr/>
        </p:nvSpPr>
        <p:spPr>
          <a:xfrm>
            <a:off x="4921530" y="4662761"/>
            <a:ext cx="260008" cy="261610"/>
          </a:xfrm>
          <a:prstGeom prst="rect">
            <a:avLst/>
          </a:prstGeom>
          <a:noFill/>
        </p:spPr>
        <p:txBody>
          <a:bodyPr wrap="none" rtlCol="0">
            <a:spAutoFit/>
          </a:bodyPr>
          <a:lstStyle/>
          <a:p>
            <a:r>
              <a:rPr lang="en-US" sz="1100" dirty="0"/>
              <a:t>3</a:t>
            </a:r>
          </a:p>
        </p:txBody>
      </p:sp>
      <p:sp>
        <p:nvSpPr>
          <p:cNvPr id="47" name="TextBox 46">
            <a:extLst>
              <a:ext uri="{FF2B5EF4-FFF2-40B4-BE49-F238E27FC236}">
                <a16:creationId xmlns:a16="http://schemas.microsoft.com/office/drawing/2014/main" id="{65865FDA-485F-F0B8-B929-B0CCDBE6A577}"/>
              </a:ext>
            </a:extLst>
          </p:cNvPr>
          <p:cNvSpPr txBox="1"/>
          <p:nvPr/>
        </p:nvSpPr>
        <p:spPr>
          <a:xfrm>
            <a:off x="4921530" y="4336437"/>
            <a:ext cx="260008" cy="261610"/>
          </a:xfrm>
          <a:prstGeom prst="rect">
            <a:avLst/>
          </a:prstGeom>
          <a:noFill/>
        </p:spPr>
        <p:txBody>
          <a:bodyPr wrap="none" rtlCol="0">
            <a:spAutoFit/>
          </a:bodyPr>
          <a:lstStyle/>
          <a:p>
            <a:r>
              <a:rPr lang="en-US" sz="1100" dirty="0"/>
              <a:t>2</a:t>
            </a:r>
          </a:p>
        </p:txBody>
      </p:sp>
      <p:sp>
        <p:nvSpPr>
          <p:cNvPr id="48" name="TextBox 47">
            <a:extLst>
              <a:ext uri="{FF2B5EF4-FFF2-40B4-BE49-F238E27FC236}">
                <a16:creationId xmlns:a16="http://schemas.microsoft.com/office/drawing/2014/main" id="{D9D3FDCA-85EE-A5A0-6218-2871DE8A8DF8}"/>
              </a:ext>
            </a:extLst>
          </p:cNvPr>
          <p:cNvSpPr txBox="1"/>
          <p:nvPr/>
        </p:nvSpPr>
        <p:spPr>
          <a:xfrm>
            <a:off x="4941728" y="3836010"/>
            <a:ext cx="260008" cy="261610"/>
          </a:xfrm>
          <a:prstGeom prst="rect">
            <a:avLst/>
          </a:prstGeom>
          <a:noFill/>
        </p:spPr>
        <p:txBody>
          <a:bodyPr wrap="none" rtlCol="0">
            <a:spAutoFit/>
          </a:bodyPr>
          <a:lstStyle/>
          <a:p>
            <a:r>
              <a:rPr lang="en-US" sz="1100" dirty="0"/>
              <a:t>1</a:t>
            </a:r>
          </a:p>
        </p:txBody>
      </p:sp>
      <p:sp>
        <p:nvSpPr>
          <p:cNvPr id="42" name="Rectangle 41">
            <a:extLst>
              <a:ext uri="{FF2B5EF4-FFF2-40B4-BE49-F238E27FC236}">
                <a16:creationId xmlns:a16="http://schemas.microsoft.com/office/drawing/2014/main" id="{47D61402-2C1C-BF91-5B60-C3650FEF381E}"/>
              </a:ext>
            </a:extLst>
          </p:cNvPr>
          <p:cNvSpPr/>
          <p:nvPr/>
        </p:nvSpPr>
        <p:spPr>
          <a:xfrm>
            <a:off x="4158875" y="2959073"/>
            <a:ext cx="2073348" cy="25205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Motion diagram</a:t>
            </a:r>
          </a:p>
        </p:txBody>
      </p:sp>
      <p:sp>
        <p:nvSpPr>
          <p:cNvPr id="49" name="Rectangle 48">
            <a:extLst>
              <a:ext uri="{FF2B5EF4-FFF2-40B4-BE49-F238E27FC236}">
                <a16:creationId xmlns:a16="http://schemas.microsoft.com/office/drawing/2014/main" id="{D0F31C22-4BA0-61F4-8338-B95EE18B55E2}"/>
              </a:ext>
            </a:extLst>
          </p:cNvPr>
          <p:cNvSpPr/>
          <p:nvPr/>
        </p:nvSpPr>
        <p:spPr>
          <a:xfrm>
            <a:off x="6235861" y="2959073"/>
            <a:ext cx="2069294" cy="252056"/>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Free Body Diagram</a:t>
            </a:r>
          </a:p>
        </p:txBody>
      </p:sp>
      <p:sp>
        <p:nvSpPr>
          <p:cNvPr id="50" name="Rectangle 49">
            <a:extLst>
              <a:ext uri="{FF2B5EF4-FFF2-40B4-BE49-F238E27FC236}">
                <a16:creationId xmlns:a16="http://schemas.microsoft.com/office/drawing/2014/main" id="{4B20CB65-770F-1254-CE54-EA2389B1387A}"/>
              </a:ext>
            </a:extLst>
          </p:cNvPr>
          <p:cNvSpPr/>
          <p:nvPr/>
        </p:nvSpPr>
        <p:spPr>
          <a:xfrm>
            <a:off x="6105524" y="3211130"/>
            <a:ext cx="125271" cy="2714484"/>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51" name="Rectangle 50">
            <a:extLst>
              <a:ext uri="{FF2B5EF4-FFF2-40B4-BE49-F238E27FC236}">
                <a16:creationId xmlns:a16="http://schemas.microsoft.com/office/drawing/2014/main" id="{6304FAA9-FE53-D4C9-C96B-F146A0B5623C}"/>
              </a:ext>
            </a:extLst>
          </p:cNvPr>
          <p:cNvSpPr/>
          <p:nvPr/>
        </p:nvSpPr>
        <p:spPr>
          <a:xfrm>
            <a:off x="4157885" y="3211129"/>
            <a:ext cx="125271" cy="2714484"/>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53" name="Rectangle 52">
            <a:extLst>
              <a:ext uri="{FF2B5EF4-FFF2-40B4-BE49-F238E27FC236}">
                <a16:creationId xmlns:a16="http://schemas.microsoft.com/office/drawing/2014/main" id="{4F87D26C-DF6D-9982-EDFF-CB3900AFD91A}"/>
              </a:ext>
            </a:extLst>
          </p:cNvPr>
          <p:cNvSpPr/>
          <p:nvPr/>
        </p:nvSpPr>
        <p:spPr>
          <a:xfrm rot="5400000">
            <a:off x="5131229" y="4950011"/>
            <a:ext cx="125271" cy="182815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55" name="Rectangle 54">
            <a:extLst>
              <a:ext uri="{FF2B5EF4-FFF2-40B4-BE49-F238E27FC236}">
                <a16:creationId xmlns:a16="http://schemas.microsoft.com/office/drawing/2014/main" id="{C180EF9C-BE9F-B24F-ED19-9B2D4ABE9E63}"/>
              </a:ext>
            </a:extLst>
          </p:cNvPr>
          <p:cNvSpPr/>
          <p:nvPr/>
        </p:nvSpPr>
        <p:spPr>
          <a:xfrm>
            <a:off x="8179689" y="3209821"/>
            <a:ext cx="125271" cy="2715791"/>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57" name="Rectangle 56">
            <a:extLst>
              <a:ext uri="{FF2B5EF4-FFF2-40B4-BE49-F238E27FC236}">
                <a16:creationId xmlns:a16="http://schemas.microsoft.com/office/drawing/2014/main" id="{C44F15C4-5429-2C24-6FB5-F3E433C04F5E}"/>
              </a:ext>
            </a:extLst>
          </p:cNvPr>
          <p:cNvSpPr/>
          <p:nvPr/>
        </p:nvSpPr>
        <p:spPr>
          <a:xfrm>
            <a:off x="6235857" y="3205543"/>
            <a:ext cx="125271" cy="2721182"/>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60" name="Rectangle 59">
            <a:extLst>
              <a:ext uri="{FF2B5EF4-FFF2-40B4-BE49-F238E27FC236}">
                <a16:creationId xmlns:a16="http://schemas.microsoft.com/office/drawing/2014/main" id="{67E8DCA6-C1DD-B666-8039-C96C6558EF74}"/>
              </a:ext>
            </a:extLst>
          </p:cNvPr>
          <p:cNvSpPr/>
          <p:nvPr/>
        </p:nvSpPr>
        <p:spPr>
          <a:xfrm rot="5400000">
            <a:off x="7209697" y="4941254"/>
            <a:ext cx="125271" cy="1846799"/>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61" name="TextBox 60">
            <a:extLst>
              <a:ext uri="{FF2B5EF4-FFF2-40B4-BE49-F238E27FC236}">
                <a16:creationId xmlns:a16="http://schemas.microsoft.com/office/drawing/2014/main" id="{B57C5892-737F-09C1-F85E-EB4295F05A44}"/>
              </a:ext>
            </a:extLst>
          </p:cNvPr>
          <p:cNvSpPr txBox="1"/>
          <p:nvPr/>
        </p:nvSpPr>
        <p:spPr>
          <a:xfrm>
            <a:off x="4613621" y="3333846"/>
            <a:ext cx="1210588" cy="261610"/>
          </a:xfrm>
          <a:prstGeom prst="rect">
            <a:avLst/>
          </a:prstGeom>
          <a:noFill/>
        </p:spPr>
        <p:txBody>
          <a:bodyPr wrap="none" rtlCol="0">
            <a:spAutoFit/>
          </a:bodyPr>
          <a:lstStyle/>
          <a:p>
            <a:r>
              <a:rPr lang="en-US" sz="1100" dirty="0"/>
              <a:t>Vertical scenario</a:t>
            </a:r>
          </a:p>
        </p:txBody>
      </p:sp>
      <p:sp>
        <p:nvSpPr>
          <p:cNvPr id="62" name="TextBox 61">
            <a:extLst>
              <a:ext uri="{FF2B5EF4-FFF2-40B4-BE49-F238E27FC236}">
                <a16:creationId xmlns:a16="http://schemas.microsoft.com/office/drawing/2014/main" id="{FDDB0733-41D2-E973-01D4-428E60EEF939}"/>
              </a:ext>
            </a:extLst>
          </p:cNvPr>
          <p:cNvSpPr txBox="1"/>
          <p:nvPr/>
        </p:nvSpPr>
        <p:spPr>
          <a:xfrm>
            <a:off x="6640652" y="3331322"/>
            <a:ext cx="1210588" cy="261610"/>
          </a:xfrm>
          <a:prstGeom prst="rect">
            <a:avLst/>
          </a:prstGeom>
          <a:noFill/>
        </p:spPr>
        <p:txBody>
          <a:bodyPr wrap="none" rtlCol="0">
            <a:spAutoFit/>
          </a:bodyPr>
          <a:lstStyle/>
          <a:p>
            <a:r>
              <a:rPr lang="en-US" sz="1100" dirty="0"/>
              <a:t>Vertical scenario</a:t>
            </a:r>
          </a:p>
        </p:txBody>
      </p:sp>
      <p:sp>
        <p:nvSpPr>
          <p:cNvPr id="63" name="Rectangle 62">
            <a:extLst>
              <a:ext uri="{FF2B5EF4-FFF2-40B4-BE49-F238E27FC236}">
                <a16:creationId xmlns:a16="http://schemas.microsoft.com/office/drawing/2014/main" id="{E65831F4-FDE2-6BC7-4821-7466C88485E3}"/>
              </a:ext>
            </a:extLst>
          </p:cNvPr>
          <p:cNvSpPr/>
          <p:nvPr/>
        </p:nvSpPr>
        <p:spPr>
          <a:xfrm>
            <a:off x="-1950" y="2970796"/>
            <a:ext cx="2073955" cy="25205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 vs t graph</a:t>
            </a:r>
          </a:p>
        </p:txBody>
      </p:sp>
      <p:sp>
        <p:nvSpPr>
          <p:cNvPr id="64" name="Rectangle 63">
            <a:extLst>
              <a:ext uri="{FF2B5EF4-FFF2-40B4-BE49-F238E27FC236}">
                <a16:creationId xmlns:a16="http://schemas.microsoft.com/office/drawing/2014/main" id="{6BB29B36-4910-2F91-8502-AE9726CF06BE}"/>
              </a:ext>
            </a:extLst>
          </p:cNvPr>
          <p:cNvSpPr/>
          <p:nvPr/>
        </p:nvSpPr>
        <p:spPr>
          <a:xfrm>
            <a:off x="2083515" y="2971170"/>
            <a:ext cx="2076530" cy="252056"/>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v vs t graph</a:t>
            </a:r>
          </a:p>
        </p:txBody>
      </p:sp>
      <p:sp>
        <p:nvSpPr>
          <p:cNvPr id="65" name="Rectangle 64">
            <a:extLst>
              <a:ext uri="{FF2B5EF4-FFF2-40B4-BE49-F238E27FC236}">
                <a16:creationId xmlns:a16="http://schemas.microsoft.com/office/drawing/2014/main" id="{6F25F306-75E6-71C8-F0E7-3670937F7DF9}"/>
              </a:ext>
            </a:extLst>
          </p:cNvPr>
          <p:cNvSpPr/>
          <p:nvPr/>
        </p:nvSpPr>
        <p:spPr>
          <a:xfrm>
            <a:off x="-2624" y="3222757"/>
            <a:ext cx="125271" cy="271448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66" name="Rectangle 65">
            <a:extLst>
              <a:ext uri="{FF2B5EF4-FFF2-40B4-BE49-F238E27FC236}">
                <a16:creationId xmlns:a16="http://schemas.microsoft.com/office/drawing/2014/main" id="{D4770C9B-8FDA-D714-0D44-232846F27261}"/>
              </a:ext>
            </a:extLst>
          </p:cNvPr>
          <p:cNvSpPr/>
          <p:nvPr/>
        </p:nvSpPr>
        <p:spPr>
          <a:xfrm rot="5400000">
            <a:off x="970720" y="4961639"/>
            <a:ext cx="125271" cy="182815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67" name="Rectangle 66">
            <a:extLst>
              <a:ext uri="{FF2B5EF4-FFF2-40B4-BE49-F238E27FC236}">
                <a16:creationId xmlns:a16="http://schemas.microsoft.com/office/drawing/2014/main" id="{89CA168F-64E0-0A81-A170-5A8241655997}"/>
              </a:ext>
            </a:extLst>
          </p:cNvPr>
          <p:cNvSpPr/>
          <p:nvPr/>
        </p:nvSpPr>
        <p:spPr>
          <a:xfrm>
            <a:off x="4030990" y="3219585"/>
            <a:ext cx="125271" cy="2715867"/>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68" name="Rectangle 67">
            <a:extLst>
              <a:ext uri="{FF2B5EF4-FFF2-40B4-BE49-F238E27FC236}">
                <a16:creationId xmlns:a16="http://schemas.microsoft.com/office/drawing/2014/main" id="{316475C0-5DC6-AE16-E47E-A44F6392B5F0}"/>
              </a:ext>
            </a:extLst>
          </p:cNvPr>
          <p:cNvSpPr/>
          <p:nvPr/>
        </p:nvSpPr>
        <p:spPr>
          <a:xfrm>
            <a:off x="2075348" y="3217171"/>
            <a:ext cx="125271" cy="2721182"/>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69" name="Rectangle 68">
            <a:extLst>
              <a:ext uri="{FF2B5EF4-FFF2-40B4-BE49-F238E27FC236}">
                <a16:creationId xmlns:a16="http://schemas.microsoft.com/office/drawing/2014/main" id="{4EAE0ECE-8E42-BD50-7F28-8A96F3B675E3}"/>
              </a:ext>
            </a:extLst>
          </p:cNvPr>
          <p:cNvSpPr/>
          <p:nvPr/>
        </p:nvSpPr>
        <p:spPr>
          <a:xfrm rot="5400000">
            <a:off x="3049188" y="4952882"/>
            <a:ext cx="125271" cy="1846799"/>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70" name="Rectangle 69">
            <a:extLst>
              <a:ext uri="{FF2B5EF4-FFF2-40B4-BE49-F238E27FC236}">
                <a16:creationId xmlns:a16="http://schemas.microsoft.com/office/drawing/2014/main" id="{A55C9CCE-1BF8-6050-85C4-432A0119555A}"/>
              </a:ext>
            </a:extLst>
          </p:cNvPr>
          <p:cNvSpPr/>
          <p:nvPr/>
        </p:nvSpPr>
        <p:spPr>
          <a:xfrm>
            <a:off x="1945015" y="3222758"/>
            <a:ext cx="125271" cy="271448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cxnSp>
        <p:nvCxnSpPr>
          <p:cNvPr id="7" name="Straight Connector 6">
            <a:extLst>
              <a:ext uri="{FF2B5EF4-FFF2-40B4-BE49-F238E27FC236}">
                <a16:creationId xmlns:a16="http://schemas.microsoft.com/office/drawing/2014/main" id="{2DA6DDE1-8C9B-A5AD-EB01-30E00281BDB3}"/>
              </a:ext>
            </a:extLst>
          </p:cNvPr>
          <p:cNvCxnSpPr>
            <a:cxnSpLocks/>
          </p:cNvCxnSpPr>
          <p:nvPr/>
        </p:nvCxnSpPr>
        <p:spPr>
          <a:xfrm flipV="1">
            <a:off x="2425002" y="4632962"/>
            <a:ext cx="1442206" cy="684360"/>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sp>
        <p:nvSpPr>
          <p:cNvPr id="28" name="Freeform: Shape 27">
            <a:extLst>
              <a:ext uri="{FF2B5EF4-FFF2-40B4-BE49-F238E27FC236}">
                <a16:creationId xmlns:a16="http://schemas.microsoft.com/office/drawing/2014/main" id="{92E7B878-D8CA-B6E4-8481-897A9BEC983B}"/>
              </a:ext>
            </a:extLst>
          </p:cNvPr>
          <p:cNvSpPr/>
          <p:nvPr/>
        </p:nvSpPr>
        <p:spPr>
          <a:xfrm flipH="1">
            <a:off x="371701" y="3614766"/>
            <a:ext cx="1481666" cy="691737"/>
          </a:xfrm>
          <a:custGeom>
            <a:avLst/>
            <a:gdLst>
              <a:gd name="connsiteX0" fmla="*/ 0 w 3704253"/>
              <a:gd name="connsiteY0" fmla="*/ 1800808 h 1800808"/>
              <a:gd name="connsiteX1" fmla="*/ 737119 w 3704253"/>
              <a:gd name="connsiteY1" fmla="*/ 1716832 h 1800808"/>
              <a:gd name="connsiteX2" fmla="*/ 1492898 w 3704253"/>
              <a:gd name="connsiteY2" fmla="*/ 1492898 h 1800808"/>
              <a:gd name="connsiteX3" fmla="*/ 2239347 w 3704253"/>
              <a:gd name="connsiteY3" fmla="*/ 1147665 h 1800808"/>
              <a:gd name="connsiteX4" fmla="*/ 2976466 w 3704253"/>
              <a:gd name="connsiteY4" fmla="*/ 653142 h 1800808"/>
              <a:gd name="connsiteX5" fmla="*/ 3704253 w 3704253"/>
              <a:gd name="connsiteY5" fmla="*/ 0 h 1800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4253" h="1800808">
                <a:moveTo>
                  <a:pt x="0" y="1800808"/>
                </a:moveTo>
                <a:cubicBezTo>
                  <a:pt x="244151" y="1784479"/>
                  <a:pt x="488303" y="1768150"/>
                  <a:pt x="737119" y="1716832"/>
                </a:cubicBezTo>
                <a:cubicBezTo>
                  <a:pt x="985935" y="1665514"/>
                  <a:pt x="1242527" y="1587759"/>
                  <a:pt x="1492898" y="1492898"/>
                </a:cubicBezTo>
                <a:cubicBezTo>
                  <a:pt x="1743269" y="1398037"/>
                  <a:pt x="1992086" y="1287624"/>
                  <a:pt x="2239347" y="1147665"/>
                </a:cubicBezTo>
                <a:cubicBezTo>
                  <a:pt x="2486608" y="1007706"/>
                  <a:pt x="2732315" y="844419"/>
                  <a:pt x="2976466" y="653142"/>
                </a:cubicBezTo>
                <a:cubicBezTo>
                  <a:pt x="3220617" y="461865"/>
                  <a:pt x="3462435" y="230932"/>
                  <a:pt x="3704253" y="0"/>
                </a:cubicBezTo>
              </a:path>
            </a:pathLst>
          </a:cu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04BE8A69-38C5-56E4-3FC1-5095E41CB2BB}"/>
              </a:ext>
            </a:extLst>
          </p:cNvPr>
          <p:cNvSpPr/>
          <p:nvPr/>
        </p:nvSpPr>
        <p:spPr>
          <a:xfrm>
            <a:off x="7122692" y="4470058"/>
            <a:ext cx="96963" cy="8883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Arrow Connector 37">
            <a:extLst>
              <a:ext uri="{FF2B5EF4-FFF2-40B4-BE49-F238E27FC236}">
                <a16:creationId xmlns:a16="http://schemas.microsoft.com/office/drawing/2014/main" id="{B430FD22-E242-1E97-3B44-B5B19FB43CCF}"/>
              </a:ext>
            </a:extLst>
          </p:cNvPr>
          <p:cNvCxnSpPr>
            <a:cxnSpLocks/>
          </p:cNvCxnSpPr>
          <p:nvPr/>
        </p:nvCxnSpPr>
        <p:spPr>
          <a:xfrm flipV="1">
            <a:off x="7173728" y="3936896"/>
            <a:ext cx="0" cy="5331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56CAFD25-EFA4-0B3B-2780-537FC277EFED}"/>
              </a:ext>
            </a:extLst>
          </p:cNvPr>
          <p:cNvCxnSpPr>
            <a:cxnSpLocks/>
          </p:cNvCxnSpPr>
          <p:nvPr/>
        </p:nvCxnSpPr>
        <p:spPr>
          <a:xfrm>
            <a:off x="7173747" y="4565745"/>
            <a:ext cx="0" cy="483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13F04EA8-10F3-18C8-9BD7-1FE37327DD47}"/>
              </a:ext>
            </a:extLst>
          </p:cNvPr>
          <p:cNvSpPr txBox="1"/>
          <p:nvPr/>
        </p:nvSpPr>
        <p:spPr>
          <a:xfrm>
            <a:off x="7171173" y="3836010"/>
            <a:ext cx="726481" cy="261610"/>
          </a:xfrm>
          <a:prstGeom prst="rect">
            <a:avLst/>
          </a:prstGeom>
          <a:noFill/>
        </p:spPr>
        <p:txBody>
          <a:bodyPr wrap="none" rtlCol="0">
            <a:spAutoFit/>
          </a:bodyPr>
          <a:lstStyle/>
          <a:p>
            <a:r>
              <a:rPr lang="en-US" sz="1100" dirty="0"/>
              <a:t>F</a:t>
            </a:r>
            <a:r>
              <a:rPr lang="en-US" sz="1100" baseline="-25000" dirty="0"/>
              <a:t>N </a:t>
            </a:r>
            <a:r>
              <a:rPr lang="en-US" sz="1100" dirty="0"/>
              <a:t>= 15 N</a:t>
            </a:r>
          </a:p>
        </p:txBody>
      </p:sp>
      <p:sp>
        <p:nvSpPr>
          <p:cNvPr id="41" name="TextBox 40">
            <a:extLst>
              <a:ext uri="{FF2B5EF4-FFF2-40B4-BE49-F238E27FC236}">
                <a16:creationId xmlns:a16="http://schemas.microsoft.com/office/drawing/2014/main" id="{9A4E62B1-2F97-40A6-1ABC-0AFB986734FF}"/>
              </a:ext>
            </a:extLst>
          </p:cNvPr>
          <p:cNvSpPr txBox="1"/>
          <p:nvPr/>
        </p:nvSpPr>
        <p:spPr>
          <a:xfrm>
            <a:off x="7171172" y="4931059"/>
            <a:ext cx="697627" cy="261610"/>
          </a:xfrm>
          <a:prstGeom prst="rect">
            <a:avLst/>
          </a:prstGeom>
          <a:noFill/>
        </p:spPr>
        <p:txBody>
          <a:bodyPr wrap="none" rtlCol="0">
            <a:spAutoFit/>
          </a:bodyPr>
          <a:lstStyle/>
          <a:p>
            <a:r>
              <a:rPr lang="en-US" sz="1100" dirty="0"/>
              <a:t>w = 12 N</a:t>
            </a:r>
          </a:p>
        </p:txBody>
      </p:sp>
      <p:sp>
        <p:nvSpPr>
          <p:cNvPr id="52" name="TextBox 51">
            <a:extLst>
              <a:ext uri="{FF2B5EF4-FFF2-40B4-BE49-F238E27FC236}">
                <a16:creationId xmlns:a16="http://schemas.microsoft.com/office/drawing/2014/main" id="{859D32D1-AACD-F615-AF44-662378BAE8D6}"/>
              </a:ext>
            </a:extLst>
          </p:cNvPr>
          <p:cNvSpPr txBox="1"/>
          <p:nvPr/>
        </p:nvSpPr>
        <p:spPr>
          <a:xfrm>
            <a:off x="1176182" y="5499090"/>
            <a:ext cx="679994" cy="230832"/>
          </a:xfrm>
          <a:prstGeom prst="rect">
            <a:avLst/>
          </a:prstGeom>
          <a:solidFill>
            <a:schemeClr val="bg1">
              <a:lumMod val="95000"/>
            </a:schemeClr>
          </a:solidFill>
        </p:spPr>
        <p:txBody>
          <a:bodyPr wrap="none" rtlCol="0">
            <a:spAutoFit/>
          </a:bodyPr>
          <a:lstStyle/>
          <a:p>
            <a:r>
              <a:rPr lang="en-US" sz="900" dirty="0">
                <a:solidFill>
                  <a:schemeClr val="tx1">
                    <a:lumMod val="50000"/>
                    <a:lumOff val="50000"/>
                  </a:schemeClr>
                </a:solidFill>
              </a:rPr>
              <a:t>Advanced</a:t>
            </a:r>
          </a:p>
        </p:txBody>
      </p:sp>
      <p:sp>
        <p:nvSpPr>
          <p:cNvPr id="54" name="TextBox 53">
            <a:extLst>
              <a:ext uri="{FF2B5EF4-FFF2-40B4-BE49-F238E27FC236}">
                <a16:creationId xmlns:a16="http://schemas.microsoft.com/office/drawing/2014/main" id="{C70FC560-90D7-8CAF-254F-0C8A71B9BF6E}"/>
              </a:ext>
            </a:extLst>
          </p:cNvPr>
          <p:cNvSpPr txBox="1"/>
          <p:nvPr/>
        </p:nvSpPr>
        <p:spPr>
          <a:xfrm>
            <a:off x="3269105" y="5499090"/>
            <a:ext cx="679994" cy="230832"/>
          </a:xfrm>
          <a:prstGeom prst="rect">
            <a:avLst/>
          </a:prstGeom>
          <a:solidFill>
            <a:schemeClr val="bg1">
              <a:lumMod val="95000"/>
            </a:schemeClr>
          </a:solidFill>
        </p:spPr>
        <p:txBody>
          <a:bodyPr wrap="none" rtlCol="0">
            <a:spAutoFit/>
          </a:bodyPr>
          <a:lstStyle/>
          <a:p>
            <a:r>
              <a:rPr lang="en-US" sz="900" dirty="0">
                <a:solidFill>
                  <a:schemeClr val="tx1">
                    <a:lumMod val="50000"/>
                    <a:lumOff val="50000"/>
                  </a:schemeClr>
                </a:solidFill>
              </a:rPr>
              <a:t>Advanced</a:t>
            </a:r>
          </a:p>
        </p:txBody>
      </p:sp>
      <p:sp>
        <p:nvSpPr>
          <p:cNvPr id="58" name="TextBox 57">
            <a:extLst>
              <a:ext uri="{FF2B5EF4-FFF2-40B4-BE49-F238E27FC236}">
                <a16:creationId xmlns:a16="http://schemas.microsoft.com/office/drawing/2014/main" id="{8B5F3879-6428-1419-14D1-50B897EDABEB}"/>
              </a:ext>
            </a:extLst>
          </p:cNvPr>
          <p:cNvSpPr txBox="1"/>
          <p:nvPr/>
        </p:nvSpPr>
        <p:spPr>
          <a:xfrm>
            <a:off x="5348293" y="5511575"/>
            <a:ext cx="679994" cy="230832"/>
          </a:xfrm>
          <a:prstGeom prst="rect">
            <a:avLst/>
          </a:prstGeom>
          <a:solidFill>
            <a:schemeClr val="bg1">
              <a:lumMod val="95000"/>
            </a:schemeClr>
          </a:solidFill>
        </p:spPr>
        <p:txBody>
          <a:bodyPr wrap="none" rtlCol="0">
            <a:spAutoFit/>
          </a:bodyPr>
          <a:lstStyle/>
          <a:p>
            <a:r>
              <a:rPr lang="en-US" sz="900" dirty="0">
                <a:solidFill>
                  <a:schemeClr val="tx1">
                    <a:lumMod val="50000"/>
                    <a:lumOff val="50000"/>
                  </a:schemeClr>
                </a:solidFill>
              </a:rPr>
              <a:t>Advanced</a:t>
            </a:r>
          </a:p>
        </p:txBody>
      </p:sp>
      <p:sp>
        <p:nvSpPr>
          <p:cNvPr id="59" name="TextBox 58">
            <a:extLst>
              <a:ext uri="{FF2B5EF4-FFF2-40B4-BE49-F238E27FC236}">
                <a16:creationId xmlns:a16="http://schemas.microsoft.com/office/drawing/2014/main" id="{E850B40A-B27A-69E2-854C-36B1A2EA3DCF}"/>
              </a:ext>
            </a:extLst>
          </p:cNvPr>
          <p:cNvSpPr txBox="1"/>
          <p:nvPr/>
        </p:nvSpPr>
        <p:spPr>
          <a:xfrm>
            <a:off x="7441216" y="5511575"/>
            <a:ext cx="679994" cy="230832"/>
          </a:xfrm>
          <a:prstGeom prst="rect">
            <a:avLst/>
          </a:prstGeom>
          <a:solidFill>
            <a:schemeClr val="bg1">
              <a:lumMod val="95000"/>
            </a:schemeClr>
          </a:solidFill>
        </p:spPr>
        <p:txBody>
          <a:bodyPr wrap="none" rtlCol="0">
            <a:spAutoFit/>
          </a:bodyPr>
          <a:lstStyle/>
          <a:p>
            <a:r>
              <a:rPr lang="en-US" sz="900" dirty="0">
                <a:solidFill>
                  <a:schemeClr val="tx1">
                    <a:lumMod val="50000"/>
                    <a:lumOff val="50000"/>
                  </a:schemeClr>
                </a:solidFill>
              </a:rPr>
              <a:t>Advanced</a:t>
            </a:r>
          </a:p>
        </p:txBody>
      </p:sp>
      <p:cxnSp>
        <p:nvCxnSpPr>
          <p:cNvPr id="71" name="Straight Connector 70">
            <a:extLst>
              <a:ext uri="{FF2B5EF4-FFF2-40B4-BE49-F238E27FC236}">
                <a16:creationId xmlns:a16="http://schemas.microsoft.com/office/drawing/2014/main" id="{587DF286-5D09-E57F-F3A0-5E4CCBB1FD55}"/>
              </a:ext>
            </a:extLst>
          </p:cNvPr>
          <p:cNvCxnSpPr>
            <a:cxnSpLocks/>
          </p:cNvCxnSpPr>
          <p:nvPr/>
        </p:nvCxnSpPr>
        <p:spPr>
          <a:xfrm>
            <a:off x="369145" y="548640"/>
            <a:ext cx="0" cy="1891417"/>
          </a:xfrm>
          <a:prstGeom prst="line">
            <a:avLst/>
          </a:prstGeom>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E7D8DE95-C71F-0DA2-42B8-917C15E0557E}"/>
              </a:ext>
            </a:extLst>
          </p:cNvPr>
          <p:cNvSpPr/>
          <p:nvPr/>
        </p:nvSpPr>
        <p:spPr>
          <a:xfrm>
            <a:off x="9560"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cxnSp>
        <p:nvCxnSpPr>
          <p:cNvPr id="73" name="Straight Connector 72">
            <a:extLst>
              <a:ext uri="{FF2B5EF4-FFF2-40B4-BE49-F238E27FC236}">
                <a16:creationId xmlns:a16="http://schemas.microsoft.com/office/drawing/2014/main" id="{374D8181-FAC2-99BA-3FF4-E0B61B5EC03A}"/>
              </a:ext>
            </a:extLst>
          </p:cNvPr>
          <p:cNvCxnSpPr/>
          <p:nvPr/>
        </p:nvCxnSpPr>
        <p:spPr>
          <a:xfrm>
            <a:off x="371928" y="1431036"/>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BEDB120E-28CD-4C45-8E83-CC329E029D54}"/>
              </a:ext>
            </a:extLst>
          </p:cNvPr>
          <p:cNvSpPr txBox="1"/>
          <p:nvPr/>
        </p:nvSpPr>
        <p:spPr>
          <a:xfrm>
            <a:off x="1561000" y="1399032"/>
            <a:ext cx="457176" cy="261610"/>
          </a:xfrm>
          <a:prstGeom prst="rect">
            <a:avLst/>
          </a:prstGeom>
          <a:noFill/>
        </p:spPr>
        <p:txBody>
          <a:bodyPr wrap="none" rtlCol="0">
            <a:spAutoFit/>
          </a:bodyPr>
          <a:lstStyle/>
          <a:p>
            <a:r>
              <a:rPr lang="en-US" sz="1100" dirty="0"/>
              <a:t>time</a:t>
            </a:r>
          </a:p>
        </p:txBody>
      </p:sp>
      <p:sp>
        <p:nvSpPr>
          <p:cNvPr id="75" name="TextBox 74">
            <a:extLst>
              <a:ext uri="{FF2B5EF4-FFF2-40B4-BE49-F238E27FC236}">
                <a16:creationId xmlns:a16="http://schemas.microsoft.com/office/drawing/2014/main" id="{BF6D2CB4-1046-AEB7-0500-9D5670BC4AF9}"/>
              </a:ext>
            </a:extLst>
          </p:cNvPr>
          <p:cNvSpPr txBox="1"/>
          <p:nvPr/>
        </p:nvSpPr>
        <p:spPr>
          <a:xfrm rot="16200000">
            <a:off x="-107052" y="676132"/>
            <a:ext cx="679994" cy="261610"/>
          </a:xfrm>
          <a:prstGeom prst="rect">
            <a:avLst/>
          </a:prstGeom>
          <a:noFill/>
        </p:spPr>
        <p:txBody>
          <a:bodyPr wrap="none" rtlCol="0">
            <a:spAutoFit/>
          </a:bodyPr>
          <a:lstStyle/>
          <a:p>
            <a:r>
              <a:rPr lang="en-US" sz="1100" dirty="0"/>
              <a:t>position</a:t>
            </a:r>
          </a:p>
        </p:txBody>
      </p:sp>
      <p:sp>
        <p:nvSpPr>
          <p:cNvPr id="76" name="TextBox 75">
            <a:extLst>
              <a:ext uri="{FF2B5EF4-FFF2-40B4-BE49-F238E27FC236}">
                <a16:creationId xmlns:a16="http://schemas.microsoft.com/office/drawing/2014/main" id="{439A1B1D-F69B-0EA9-9859-6BE460321C74}"/>
              </a:ext>
            </a:extLst>
          </p:cNvPr>
          <p:cNvSpPr txBox="1"/>
          <p:nvPr/>
        </p:nvSpPr>
        <p:spPr>
          <a:xfrm>
            <a:off x="114668" y="1300231"/>
            <a:ext cx="260008" cy="261610"/>
          </a:xfrm>
          <a:prstGeom prst="rect">
            <a:avLst/>
          </a:prstGeom>
          <a:noFill/>
        </p:spPr>
        <p:txBody>
          <a:bodyPr wrap="none" rtlCol="0">
            <a:spAutoFit/>
          </a:bodyPr>
          <a:lstStyle/>
          <a:p>
            <a:r>
              <a:rPr lang="en-US" sz="1100" dirty="0"/>
              <a:t>0</a:t>
            </a:r>
          </a:p>
        </p:txBody>
      </p:sp>
      <p:cxnSp>
        <p:nvCxnSpPr>
          <p:cNvPr id="77" name="Straight Connector 76">
            <a:extLst>
              <a:ext uri="{FF2B5EF4-FFF2-40B4-BE49-F238E27FC236}">
                <a16:creationId xmlns:a16="http://schemas.microsoft.com/office/drawing/2014/main" id="{228E7F2F-316F-AAE4-A95B-2B19448FBDB5}"/>
              </a:ext>
            </a:extLst>
          </p:cNvPr>
          <p:cNvCxnSpPr>
            <a:cxnSpLocks/>
          </p:cNvCxnSpPr>
          <p:nvPr/>
        </p:nvCxnSpPr>
        <p:spPr>
          <a:xfrm>
            <a:off x="2423619" y="550164"/>
            <a:ext cx="0" cy="1891417"/>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7B1BFF7-7E38-143F-3978-429298399225}"/>
              </a:ext>
            </a:extLst>
          </p:cNvPr>
          <p:cNvCxnSpPr/>
          <p:nvPr/>
        </p:nvCxnSpPr>
        <p:spPr>
          <a:xfrm>
            <a:off x="2426402" y="1432560"/>
            <a:ext cx="1504188" cy="0"/>
          </a:xfrm>
          <a:prstGeom prst="line">
            <a:avLst/>
          </a:prstGeom>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6FFBA4B4-F649-9EE4-8421-052DE3079B8D}"/>
              </a:ext>
            </a:extLst>
          </p:cNvPr>
          <p:cNvSpPr txBox="1"/>
          <p:nvPr/>
        </p:nvSpPr>
        <p:spPr>
          <a:xfrm>
            <a:off x="3642633" y="1400556"/>
            <a:ext cx="457176" cy="261610"/>
          </a:xfrm>
          <a:prstGeom prst="rect">
            <a:avLst/>
          </a:prstGeom>
          <a:noFill/>
        </p:spPr>
        <p:txBody>
          <a:bodyPr wrap="none" rtlCol="0">
            <a:spAutoFit/>
          </a:bodyPr>
          <a:lstStyle/>
          <a:p>
            <a:r>
              <a:rPr lang="en-US" sz="1100" dirty="0"/>
              <a:t>time</a:t>
            </a:r>
          </a:p>
        </p:txBody>
      </p:sp>
      <p:sp>
        <p:nvSpPr>
          <p:cNvPr id="81" name="TextBox 80">
            <a:extLst>
              <a:ext uri="{FF2B5EF4-FFF2-40B4-BE49-F238E27FC236}">
                <a16:creationId xmlns:a16="http://schemas.microsoft.com/office/drawing/2014/main" id="{3A26FAF5-166E-B809-FB11-EC7664CA27A0}"/>
              </a:ext>
            </a:extLst>
          </p:cNvPr>
          <p:cNvSpPr txBox="1"/>
          <p:nvPr/>
        </p:nvSpPr>
        <p:spPr>
          <a:xfrm rot="16200000">
            <a:off x="1960246" y="677656"/>
            <a:ext cx="654346" cy="261610"/>
          </a:xfrm>
          <a:prstGeom prst="rect">
            <a:avLst/>
          </a:prstGeom>
          <a:noFill/>
        </p:spPr>
        <p:txBody>
          <a:bodyPr wrap="none" rtlCol="0">
            <a:spAutoFit/>
          </a:bodyPr>
          <a:lstStyle/>
          <a:p>
            <a:r>
              <a:rPr lang="en-US" sz="1100" dirty="0"/>
              <a:t>velocity</a:t>
            </a:r>
          </a:p>
        </p:txBody>
      </p:sp>
      <p:sp>
        <p:nvSpPr>
          <p:cNvPr id="82" name="TextBox 81">
            <a:extLst>
              <a:ext uri="{FF2B5EF4-FFF2-40B4-BE49-F238E27FC236}">
                <a16:creationId xmlns:a16="http://schemas.microsoft.com/office/drawing/2014/main" id="{60EF806C-A7D0-D96D-FE59-0F52FC4AA000}"/>
              </a:ext>
            </a:extLst>
          </p:cNvPr>
          <p:cNvSpPr txBox="1"/>
          <p:nvPr/>
        </p:nvSpPr>
        <p:spPr>
          <a:xfrm>
            <a:off x="2169142" y="1301755"/>
            <a:ext cx="260008" cy="261610"/>
          </a:xfrm>
          <a:prstGeom prst="rect">
            <a:avLst/>
          </a:prstGeom>
          <a:noFill/>
        </p:spPr>
        <p:txBody>
          <a:bodyPr wrap="none" rtlCol="0">
            <a:spAutoFit/>
          </a:bodyPr>
          <a:lstStyle/>
          <a:p>
            <a:r>
              <a:rPr lang="en-US" sz="1100" dirty="0"/>
              <a:t>0</a:t>
            </a:r>
          </a:p>
        </p:txBody>
      </p:sp>
      <p:sp>
        <p:nvSpPr>
          <p:cNvPr id="87" name="Rectangle 86">
            <a:extLst>
              <a:ext uri="{FF2B5EF4-FFF2-40B4-BE49-F238E27FC236}">
                <a16:creationId xmlns:a16="http://schemas.microsoft.com/office/drawing/2014/main" id="{C6B4CC26-A9C2-483F-D038-D0B99E01B0FC}"/>
              </a:ext>
            </a:extLst>
          </p:cNvPr>
          <p:cNvSpPr/>
          <p:nvPr/>
        </p:nvSpPr>
        <p:spPr>
          <a:xfrm>
            <a:off x="207995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88" name="Rectangle 87">
            <a:extLst>
              <a:ext uri="{FF2B5EF4-FFF2-40B4-BE49-F238E27FC236}">
                <a16:creationId xmlns:a16="http://schemas.microsoft.com/office/drawing/2014/main" id="{148D9FFF-CF3C-1F4B-4301-621A0EB58F59}"/>
              </a:ext>
            </a:extLst>
          </p:cNvPr>
          <p:cNvSpPr/>
          <p:nvPr/>
        </p:nvSpPr>
        <p:spPr>
          <a:xfrm>
            <a:off x="415887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89" name="Rectangle 88">
            <a:extLst>
              <a:ext uri="{FF2B5EF4-FFF2-40B4-BE49-F238E27FC236}">
                <a16:creationId xmlns:a16="http://schemas.microsoft.com/office/drawing/2014/main" id="{24170CA7-455F-4415-BCA1-9ED536C764CD}"/>
              </a:ext>
            </a:extLst>
          </p:cNvPr>
          <p:cNvSpPr/>
          <p:nvPr/>
        </p:nvSpPr>
        <p:spPr>
          <a:xfrm>
            <a:off x="6226082" y="-7609"/>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90" name="Rectangle 89">
            <a:extLst>
              <a:ext uri="{FF2B5EF4-FFF2-40B4-BE49-F238E27FC236}">
                <a16:creationId xmlns:a16="http://schemas.microsoft.com/office/drawing/2014/main" id="{08BDD3BB-285E-4CAB-B709-747863D25679}"/>
              </a:ext>
            </a:extLst>
          </p:cNvPr>
          <p:cNvSpPr/>
          <p:nvPr/>
        </p:nvSpPr>
        <p:spPr>
          <a:xfrm>
            <a:off x="4158876" y="-11330"/>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91" name="Rectangle 90">
            <a:extLst>
              <a:ext uri="{FF2B5EF4-FFF2-40B4-BE49-F238E27FC236}">
                <a16:creationId xmlns:a16="http://schemas.microsoft.com/office/drawing/2014/main" id="{AC8A34B5-5A9F-69C1-395A-C1190451D894}"/>
              </a:ext>
            </a:extLst>
          </p:cNvPr>
          <p:cNvSpPr/>
          <p:nvPr/>
        </p:nvSpPr>
        <p:spPr>
          <a:xfrm>
            <a:off x="6226082" y="-9091"/>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92" name="Oval 91">
            <a:extLst>
              <a:ext uri="{FF2B5EF4-FFF2-40B4-BE49-F238E27FC236}">
                <a16:creationId xmlns:a16="http://schemas.microsoft.com/office/drawing/2014/main" id="{07B0AB51-B16A-A033-524C-E0D89454DC82}"/>
              </a:ext>
            </a:extLst>
          </p:cNvPr>
          <p:cNvSpPr/>
          <p:nvPr/>
        </p:nvSpPr>
        <p:spPr>
          <a:xfrm>
            <a:off x="5218916" y="2102164"/>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E859BF0D-37BD-D9D3-B232-7DA19F5136D5}"/>
              </a:ext>
            </a:extLst>
          </p:cNvPr>
          <p:cNvSpPr/>
          <p:nvPr/>
        </p:nvSpPr>
        <p:spPr>
          <a:xfrm>
            <a:off x="5218916" y="1575321"/>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B17E6E3B-4920-5F35-546D-52B6A0FD0890}"/>
              </a:ext>
            </a:extLst>
          </p:cNvPr>
          <p:cNvSpPr/>
          <p:nvPr/>
        </p:nvSpPr>
        <p:spPr>
          <a:xfrm>
            <a:off x="5218915" y="1201993"/>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ABECDE33-F3D5-FF5E-F000-6E8090B06862}"/>
              </a:ext>
            </a:extLst>
          </p:cNvPr>
          <p:cNvSpPr/>
          <p:nvPr/>
        </p:nvSpPr>
        <p:spPr>
          <a:xfrm>
            <a:off x="5218915" y="978949"/>
            <a:ext cx="51143" cy="515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Box 95">
            <a:extLst>
              <a:ext uri="{FF2B5EF4-FFF2-40B4-BE49-F238E27FC236}">
                <a16:creationId xmlns:a16="http://schemas.microsoft.com/office/drawing/2014/main" id="{9DF21FA9-A779-E6B7-5A38-C849FA77181C}"/>
              </a:ext>
            </a:extLst>
          </p:cNvPr>
          <p:cNvSpPr txBox="1"/>
          <p:nvPr/>
        </p:nvSpPr>
        <p:spPr>
          <a:xfrm>
            <a:off x="4922058" y="1997110"/>
            <a:ext cx="260008" cy="261610"/>
          </a:xfrm>
          <a:prstGeom prst="rect">
            <a:avLst/>
          </a:prstGeom>
          <a:noFill/>
        </p:spPr>
        <p:txBody>
          <a:bodyPr wrap="none" rtlCol="0">
            <a:spAutoFit/>
          </a:bodyPr>
          <a:lstStyle/>
          <a:p>
            <a:r>
              <a:rPr lang="en-US" sz="1100" dirty="0"/>
              <a:t>4</a:t>
            </a:r>
          </a:p>
        </p:txBody>
      </p:sp>
      <p:sp>
        <p:nvSpPr>
          <p:cNvPr id="97" name="TextBox 96">
            <a:extLst>
              <a:ext uri="{FF2B5EF4-FFF2-40B4-BE49-F238E27FC236}">
                <a16:creationId xmlns:a16="http://schemas.microsoft.com/office/drawing/2014/main" id="{7644CEB3-24EA-A3CC-D3E8-4DAF2E12D9D4}"/>
              </a:ext>
            </a:extLst>
          </p:cNvPr>
          <p:cNvSpPr txBox="1"/>
          <p:nvPr/>
        </p:nvSpPr>
        <p:spPr>
          <a:xfrm>
            <a:off x="4921530" y="1444516"/>
            <a:ext cx="260008" cy="261610"/>
          </a:xfrm>
          <a:prstGeom prst="rect">
            <a:avLst/>
          </a:prstGeom>
          <a:noFill/>
        </p:spPr>
        <p:txBody>
          <a:bodyPr wrap="none" rtlCol="0">
            <a:spAutoFit/>
          </a:bodyPr>
          <a:lstStyle/>
          <a:p>
            <a:r>
              <a:rPr lang="en-US" sz="1100" dirty="0"/>
              <a:t>3</a:t>
            </a:r>
          </a:p>
        </p:txBody>
      </p:sp>
      <p:sp>
        <p:nvSpPr>
          <p:cNvPr id="98" name="TextBox 97">
            <a:extLst>
              <a:ext uri="{FF2B5EF4-FFF2-40B4-BE49-F238E27FC236}">
                <a16:creationId xmlns:a16="http://schemas.microsoft.com/office/drawing/2014/main" id="{6F22D8F5-6A5A-2D08-CFA5-D854F42A6497}"/>
              </a:ext>
            </a:extLst>
          </p:cNvPr>
          <p:cNvSpPr txBox="1"/>
          <p:nvPr/>
        </p:nvSpPr>
        <p:spPr>
          <a:xfrm>
            <a:off x="4921530" y="1091069"/>
            <a:ext cx="260008" cy="261610"/>
          </a:xfrm>
          <a:prstGeom prst="rect">
            <a:avLst/>
          </a:prstGeom>
          <a:noFill/>
        </p:spPr>
        <p:txBody>
          <a:bodyPr wrap="none" rtlCol="0">
            <a:spAutoFit/>
          </a:bodyPr>
          <a:lstStyle/>
          <a:p>
            <a:r>
              <a:rPr lang="en-US" sz="1100" dirty="0"/>
              <a:t>2</a:t>
            </a:r>
          </a:p>
        </p:txBody>
      </p:sp>
      <p:sp>
        <p:nvSpPr>
          <p:cNvPr id="99" name="TextBox 98">
            <a:extLst>
              <a:ext uri="{FF2B5EF4-FFF2-40B4-BE49-F238E27FC236}">
                <a16:creationId xmlns:a16="http://schemas.microsoft.com/office/drawing/2014/main" id="{A6E39A43-B5C5-856B-E52C-1E37DF58AB05}"/>
              </a:ext>
            </a:extLst>
          </p:cNvPr>
          <p:cNvSpPr txBox="1"/>
          <p:nvPr/>
        </p:nvSpPr>
        <p:spPr>
          <a:xfrm>
            <a:off x="4941728" y="871256"/>
            <a:ext cx="260008" cy="261610"/>
          </a:xfrm>
          <a:prstGeom prst="rect">
            <a:avLst/>
          </a:prstGeom>
          <a:noFill/>
        </p:spPr>
        <p:txBody>
          <a:bodyPr wrap="none" rtlCol="0">
            <a:spAutoFit/>
          </a:bodyPr>
          <a:lstStyle/>
          <a:p>
            <a:r>
              <a:rPr lang="en-US" sz="1100" dirty="0"/>
              <a:t>1</a:t>
            </a:r>
          </a:p>
        </p:txBody>
      </p:sp>
      <p:sp>
        <p:nvSpPr>
          <p:cNvPr id="100" name="Oval 99">
            <a:extLst>
              <a:ext uri="{FF2B5EF4-FFF2-40B4-BE49-F238E27FC236}">
                <a16:creationId xmlns:a16="http://schemas.microsoft.com/office/drawing/2014/main" id="{D2E13495-9EBF-CD91-876C-41D01D3A0F9A}"/>
              </a:ext>
            </a:extLst>
          </p:cNvPr>
          <p:cNvSpPr/>
          <p:nvPr/>
        </p:nvSpPr>
        <p:spPr>
          <a:xfrm>
            <a:off x="7122692" y="1505304"/>
            <a:ext cx="96963" cy="8883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1" name="Straight Arrow Connector 100">
            <a:extLst>
              <a:ext uri="{FF2B5EF4-FFF2-40B4-BE49-F238E27FC236}">
                <a16:creationId xmlns:a16="http://schemas.microsoft.com/office/drawing/2014/main" id="{42CBDEA3-5988-1AD5-79D3-D6F21942EC52}"/>
              </a:ext>
            </a:extLst>
          </p:cNvPr>
          <p:cNvCxnSpPr>
            <a:cxnSpLocks/>
          </p:cNvCxnSpPr>
          <p:nvPr/>
        </p:nvCxnSpPr>
        <p:spPr>
          <a:xfrm flipV="1">
            <a:off x="7173728" y="1201993"/>
            <a:ext cx="0" cy="3033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2" name="Straight Arrow Connector 101">
            <a:extLst>
              <a:ext uri="{FF2B5EF4-FFF2-40B4-BE49-F238E27FC236}">
                <a16:creationId xmlns:a16="http://schemas.microsoft.com/office/drawing/2014/main" id="{46632588-585C-2FE2-D333-98D2EBDEE16E}"/>
              </a:ext>
            </a:extLst>
          </p:cNvPr>
          <p:cNvCxnSpPr>
            <a:cxnSpLocks/>
          </p:cNvCxnSpPr>
          <p:nvPr/>
        </p:nvCxnSpPr>
        <p:spPr>
          <a:xfrm>
            <a:off x="7173747" y="1600991"/>
            <a:ext cx="0" cy="483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3" name="TextBox 102">
            <a:extLst>
              <a:ext uri="{FF2B5EF4-FFF2-40B4-BE49-F238E27FC236}">
                <a16:creationId xmlns:a16="http://schemas.microsoft.com/office/drawing/2014/main" id="{0583ECF4-7813-B52A-3B0C-67795F0B8073}"/>
              </a:ext>
            </a:extLst>
          </p:cNvPr>
          <p:cNvSpPr txBox="1"/>
          <p:nvPr/>
        </p:nvSpPr>
        <p:spPr>
          <a:xfrm>
            <a:off x="7162120" y="997998"/>
            <a:ext cx="651140" cy="261610"/>
          </a:xfrm>
          <a:prstGeom prst="rect">
            <a:avLst/>
          </a:prstGeom>
          <a:noFill/>
        </p:spPr>
        <p:txBody>
          <a:bodyPr wrap="none" rtlCol="0">
            <a:spAutoFit/>
          </a:bodyPr>
          <a:lstStyle/>
          <a:p>
            <a:r>
              <a:rPr lang="en-US" sz="1100" dirty="0"/>
              <a:t>F</a:t>
            </a:r>
            <a:r>
              <a:rPr lang="en-US" sz="1100" baseline="-25000" dirty="0"/>
              <a:t>N </a:t>
            </a:r>
            <a:r>
              <a:rPr lang="en-US" sz="1100" dirty="0"/>
              <a:t>= 5 N</a:t>
            </a:r>
          </a:p>
        </p:txBody>
      </p:sp>
      <p:sp>
        <p:nvSpPr>
          <p:cNvPr id="104" name="TextBox 103">
            <a:extLst>
              <a:ext uri="{FF2B5EF4-FFF2-40B4-BE49-F238E27FC236}">
                <a16:creationId xmlns:a16="http://schemas.microsoft.com/office/drawing/2014/main" id="{9FDFFF3B-EDBF-846A-A6D0-B56B7564E8BC}"/>
              </a:ext>
            </a:extLst>
          </p:cNvPr>
          <p:cNvSpPr txBox="1"/>
          <p:nvPr/>
        </p:nvSpPr>
        <p:spPr>
          <a:xfrm>
            <a:off x="7171172" y="1966305"/>
            <a:ext cx="697627" cy="261610"/>
          </a:xfrm>
          <a:prstGeom prst="rect">
            <a:avLst/>
          </a:prstGeom>
          <a:noFill/>
        </p:spPr>
        <p:txBody>
          <a:bodyPr wrap="none" rtlCol="0">
            <a:spAutoFit/>
          </a:bodyPr>
          <a:lstStyle/>
          <a:p>
            <a:r>
              <a:rPr lang="en-US" sz="1100" dirty="0"/>
              <a:t>w = 12 N</a:t>
            </a:r>
          </a:p>
        </p:txBody>
      </p:sp>
      <p:sp>
        <p:nvSpPr>
          <p:cNvPr id="105" name="Rectangle 104">
            <a:extLst>
              <a:ext uri="{FF2B5EF4-FFF2-40B4-BE49-F238E27FC236}">
                <a16:creationId xmlns:a16="http://schemas.microsoft.com/office/drawing/2014/main" id="{1EB63D54-4AE7-9B5E-FECE-435FD6B74C5C}"/>
              </a:ext>
            </a:extLst>
          </p:cNvPr>
          <p:cNvSpPr/>
          <p:nvPr/>
        </p:nvSpPr>
        <p:spPr>
          <a:xfrm>
            <a:off x="4158875" y="-5681"/>
            <a:ext cx="2073348" cy="25205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Motion diagram</a:t>
            </a:r>
          </a:p>
        </p:txBody>
      </p:sp>
      <p:sp>
        <p:nvSpPr>
          <p:cNvPr id="106" name="Rectangle 105">
            <a:extLst>
              <a:ext uri="{FF2B5EF4-FFF2-40B4-BE49-F238E27FC236}">
                <a16:creationId xmlns:a16="http://schemas.microsoft.com/office/drawing/2014/main" id="{AF402CC8-636D-BECE-A6CB-9AB1E458BDD9}"/>
              </a:ext>
            </a:extLst>
          </p:cNvPr>
          <p:cNvSpPr/>
          <p:nvPr/>
        </p:nvSpPr>
        <p:spPr>
          <a:xfrm>
            <a:off x="6235861" y="-5681"/>
            <a:ext cx="2069294" cy="252056"/>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Free Body Diagram</a:t>
            </a:r>
          </a:p>
        </p:txBody>
      </p:sp>
      <p:sp>
        <p:nvSpPr>
          <p:cNvPr id="107" name="Rectangle 106">
            <a:extLst>
              <a:ext uri="{FF2B5EF4-FFF2-40B4-BE49-F238E27FC236}">
                <a16:creationId xmlns:a16="http://schemas.microsoft.com/office/drawing/2014/main" id="{C32544D7-BBD1-1438-4F3B-1281D4CA6B8F}"/>
              </a:ext>
            </a:extLst>
          </p:cNvPr>
          <p:cNvSpPr/>
          <p:nvPr/>
        </p:nvSpPr>
        <p:spPr>
          <a:xfrm>
            <a:off x="6105524" y="246376"/>
            <a:ext cx="125271" cy="2714484"/>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08" name="Rectangle 107">
            <a:extLst>
              <a:ext uri="{FF2B5EF4-FFF2-40B4-BE49-F238E27FC236}">
                <a16:creationId xmlns:a16="http://schemas.microsoft.com/office/drawing/2014/main" id="{35DCF9BF-6A41-8308-877F-B120DB48CB1D}"/>
              </a:ext>
            </a:extLst>
          </p:cNvPr>
          <p:cNvSpPr/>
          <p:nvPr/>
        </p:nvSpPr>
        <p:spPr>
          <a:xfrm>
            <a:off x="4157885" y="246375"/>
            <a:ext cx="125271" cy="2714484"/>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09" name="Rectangle 108">
            <a:extLst>
              <a:ext uri="{FF2B5EF4-FFF2-40B4-BE49-F238E27FC236}">
                <a16:creationId xmlns:a16="http://schemas.microsoft.com/office/drawing/2014/main" id="{11692F4D-5DB8-5087-C628-C73B8E078A16}"/>
              </a:ext>
            </a:extLst>
          </p:cNvPr>
          <p:cNvSpPr/>
          <p:nvPr/>
        </p:nvSpPr>
        <p:spPr>
          <a:xfrm rot="5400000">
            <a:off x="5131229" y="1985257"/>
            <a:ext cx="125271" cy="182815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10" name="Rectangle 109">
            <a:extLst>
              <a:ext uri="{FF2B5EF4-FFF2-40B4-BE49-F238E27FC236}">
                <a16:creationId xmlns:a16="http://schemas.microsoft.com/office/drawing/2014/main" id="{415BE152-ADF7-E498-DB0F-A8CDE198D6F8}"/>
              </a:ext>
            </a:extLst>
          </p:cNvPr>
          <p:cNvSpPr/>
          <p:nvPr/>
        </p:nvSpPr>
        <p:spPr>
          <a:xfrm>
            <a:off x="8179689" y="245067"/>
            <a:ext cx="125271" cy="2715791"/>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11" name="Rectangle 110">
            <a:extLst>
              <a:ext uri="{FF2B5EF4-FFF2-40B4-BE49-F238E27FC236}">
                <a16:creationId xmlns:a16="http://schemas.microsoft.com/office/drawing/2014/main" id="{C957D896-ED9C-137E-B8ED-3281E39C1335}"/>
              </a:ext>
            </a:extLst>
          </p:cNvPr>
          <p:cNvSpPr/>
          <p:nvPr/>
        </p:nvSpPr>
        <p:spPr>
          <a:xfrm>
            <a:off x="6235857" y="240789"/>
            <a:ext cx="125271" cy="2721182"/>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12" name="Rectangle 111">
            <a:extLst>
              <a:ext uri="{FF2B5EF4-FFF2-40B4-BE49-F238E27FC236}">
                <a16:creationId xmlns:a16="http://schemas.microsoft.com/office/drawing/2014/main" id="{CF7BB2E8-CB91-CC25-5B6F-7BC831E22BAA}"/>
              </a:ext>
            </a:extLst>
          </p:cNvPr>
          <p:cNvSpPr/>
          <p:nvPr/>
        </p:nvSpPr>
        <p:spPr>
          <a:xfrm rot="5400000">
            <a:off x="7209697" y="1976500"/>
            <a:ext cx="125271" cy="1846799"/>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13" name="TextBox 112">
            <a:extLst>
              <a:ext uri="{FF2B5EF4-FFF2-40B4-BE49-F238E27FC236}">
                <a16:creationId xmlns:a16="http://schemas.microsoft.com/office/drawing/2014/main" id="{32C4E94A-44F6-6477-601D-EBCB868E575B}"/>
              </a:ext>
            </a:extLst>
          </p:cNvPr>
          <p:cNvSpPr txBox="1"/>
          <p:nvPr/>
        </p:nvSpPr>
        <p:spPr>
          <a:xfrm>
            <a:off x="4613621" y="369092"/>
            <a:ext cx="1210588" cy="261610"/>
          </a:xfrm>
          <a:prstGeom prst="rect">
            <a:avLst/>
          </a:prstGeom>
          <a:noFill/>
        </p:spPr>
        <p:txBody>
          <a:bodyPr wrap="none" rtlCol="0">
            <a:spAutoFit/>
          </a:bodyPr>
          <a:lstStyle/>
          <a:p>
            <a:r>
              <a:rPr lang="en-US" sz="1100" dirty="0"/>
              <a:t>Vertical scenario</a:t>
            </a:r>
          </a:p>
        </p:txBody>
      </p:sp>
      <p:sp>
        <p:nvSpPr>
          <p:cNvPr id="114" name="TextBox 113">
            <a:extLst>
              <a:ext uri="{FF2B5EF4-FFF2-40B4-BE49-F238E27FC236}">
                <a16:creationId xmlns:a16="http://schemas.microsoft.com/office/drawing/2014/main" id="{0E3E21A3-1101-AE49-3F90-38DF2EFF3711}"/>
              </a:ext>
            </a:extLst>
          </p:cNvPr>
          <p:cNvSpPr txBox="1"/>
          <p:nvPr/>
        </p:nvSpPr>
        <p:spPr>
          <a:xfrm>
            <a:off x="6640652" y="366568"/>
            <a:ext cx="1210588" cy="261610"/>
          </a:xfrm>
          <a:prstGeom prst="rect">
            <a:avLst/>
          </a:prstGeom>
          <a:noFill/>
        </p:spPr>
        <p:txBody>
          <a:bodyPr wrap="none" rtlCol="0">
            <a:spAutoFit/>
          </a:bodyPr>
          <a:lstStyle/>
          <a:p>
            <a:r>
              <a:rPr lang="en-US" sz="1100" dirty="0"/>
              <a:t>Vertical scenario</a:t>
            </a:r>
          </a:p>
        </p:txBody>
      </p:sp>
      <p:sp>
        <p:nvSpPr>
          <p:cNvPr id="115" name="Rectangle 114">
            <a:extLst>
              <a:ext uri="{FF2B5EF4-FFF2-40B4-BE49-F238E27FC236}">
                <a16:creationId xmlns:a16="http://schemas.microsoft.com/office/drawing/2014/main" id="{04A524B9-F8D7-84F3-BD13-1E3CC191EC1B}"/>
              </a:ext>
            </a:extLst>
          </p:cNvPr>
          <p:cNvSpPr/>
          <p:nvPr/>
        </p:nvSpPr>
        <p:spPr>
          <a:xfrm>
            <a:off x="-1950" y="0"/>
            <a:ext cx="2073955" cy="25205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 vs t graph</a:t>
            </a:r>
          </a:p>
        </p:txBody>
      </p:sp>
      <p:sp>
        <p:nvSpPr>
          <p:cNvPr id="116" name="Rectangle 115">
            <a:extLst>
              <a:ext uri="{FF2B5EF4-FFF2-40B4-BE49-F238E27FC236}">
                <a16:creationId xmlns:a16="http://schemas.microsoft.com/office/drawing/2014/main" id="{08C53DA5-36E5-159F-6D3A-18F101FCBC5E}"/>
              </a:ext>
            </a:extLst>
          </p:cNvPr>
          <p:cNvSpPr/>
          <p:nvPr/>
        </p:nvSpPr>
        <p:spPr>
          <a:xfrm>
            <a:off x="2083515" y="374"/>
            <a:ext cx="2076530" cy="252056"/>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v vs t graph</a:t>
            </a:r>
          </a:p>
        </p:txBody>
      </p:sp>
      <p:sp>
        <p:nvSpPr>
          <p:cNvPr id="117" name="Rectangle 116">
            <a:extLst>
              <a:ext uri="{FF2B5EF4-FFF2-40B4-BE49-F238E27FC236}">
                <a16:creationId xmlns:a16="http://schemas.microsoft.com/office/drawing/2014/main" id="{18775358-3821-759B-F9A0-339E6B15FA7B}"/>
              </a:ext>
            </a:extLst>
          </p:cNvPr>
          <p:cNvSpPr/>
          <p:nvPr/>
        </p:nvSpPr>
        <p:spPr>
          <a:xfrm>
            <a:off x="-2624" y="251961"/>
            <a:ext cx="125271" cy="271448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18" name="Rectangle 117">
            <a:extLst>
              <a:ext uri="{FF2B5EF4-FFF2-40B4-BE49-F238E27FC236}">
                <a16:creationId xmlns:a16="http://schemas.microsoft.com/office/drawing/2014/main" id="{B7D9F65C-1EEA-3FDC-C614-9DC449B35098}"/>
              </a:ext>
            </a:extLst>
          </p:cNvPr>
          <p:cNvSpPr/>
          <p:nvPr/>
        </p:nvSpPr>
        <p:spPr>
          <a:xfrm rot="5400000">
            <a:off x="970720" y="1990843"/>
            <a:ext cx="125271" cy="182815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19" name="Rectangle 118">
            <a:extLst>
              <a:ext uri="{FF2B5EF4-FFF2-40B4-BE49-F238E27FC236}">
                <a16:creationId xmlns:a16="http://schemas.microsoft.com/office/drawing/2014/main" id="{73559F74-D19E-34AC-B0E5-C2F6A1E46442}"/>
              </a:ext>
            </a:extLst>
          </p:cNvPr>
          <p:cNvSpPr/>
          <p:nvPr/>
        </p:nvSpPr>
        <p:spPr>
          <a:xfrm>
            <a:off x="4030990" y="248789"/>
            <a:ext cx="125271" cy="2715867"/>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20" name="Rectangle 119">
            <a:extLst>
              <a:ext uri="{FF2B5EF4-FFF2-40B4-BE49-F238E27FC236}">
                <a16:creationId xmlns:a16="http://schemas.microsoft.com/office/drawing/2014/main" id="{DCB1875E-462F-ABCB-45EB-A0D38A4AAF82}"/>
              </a:ext>
            </a:extLst>
          </p:cNvPr>
          <p:cNvSpPr/>
          <p:nvPr/>
        </p:nvSpPr>
        <p:spPr>
          <a:xfrm>
            <a:off x="2075348" y="246375"/>
            <a:ext cx="125271" cy="2721182"/>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21" name="Rectangle 120">
            <a:extLst>
              <a:ext uri="{FF2B5EF4-FFF2-40B4-BE49-F238E27FC236}">
                <a16:creationId xmlns:a16="http://schemas.microsoft.com/office/drawing/2014/main" id="{09AAB514-C367-DD22-4DAF-097671925C2A}"/>
              </a:ext>
            </a:extLst>
          </p:cNvPr>
          <p:cNvSpPr/>
          <p:nvPr/>
        </p:nvSpPr>
        <p:spPr>
          <a:xfrm rot="5400000">
            <a:off x="3049188" y="1982086"/>
            <a:ext cx="125271" cy="1846799"/>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22" name="Rectangle 121">
            <a:extLst>
              <a:ext uri="{FF2B5EF4-FFF2-40B4-BE49-F238E27FC236}">
                <a16:creationId xmlns:a16="http://schemas.microsoft.com/office/drawing/2014/main" id="{D58BD809-0B68-249C-4C5C-2728F5B93763}"/>
              </a:ext>
            </a:extLst>
          </p:cNvPr>
          <p:cNvSpPr/>
          <p:nvPr/>
        </p:nvSpPr>
        <p:spPr>
          <a:xfrm>
            <a:off x="1945015" y="251962"/>
            <a:ext cx="125271" cy="271448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p>
        </p:txBody>
      </p:sp>
      <p:cxnSp>
        <p:nvCxnSpPr>
          <p:cNvPr id="123" name="Straight Connector 122">
            <a:extLst>
              <a:ext uri="{FF2B5EF4-FFF2-40B4-BE49-F238E27FC236}">
                <a16:creationId xmlns:a16="http://schemas.microsoft.com/office/drawing/2014/main" id="{5DF884DD-EB6B-3B19-49BB-602A19C5001F}"/>
              </a:ext>
            </a:extLst>
          </p:cNvPr>
          <p:cNvCxnSpPr>
            <a:cxnSpLocks/>
          </p:cNvCxnSpPr>
          <p:nvPr/>
        </p:nvCxnSpPr>
        <p:spPr>
          <a:xfrm>
            <a:off x="2429701" y="1532855"/>
            <a:ext cx="1310605" cy="819897"/>
          </a:xfrm>
          <a:prstGeom prst="line">
            <a:avLst/>
          </a:prstGeom>
          <a:ln w="28575">
            <a:solidFill>
              <a:srgbClr val="C00000"/>
            </a:solidFill>
          </a:ln>
        </p:spPr>
        <p:style>
          <a:lnRef idx="1">
            <a:schemeClr val="accent2"/>
          </a:lnRef>
          <a:fillRef idx="0">
            <a:schemeClr val="accent2"/>
          </a:fillRef>
          <a:effectRef idx="0">
            <a:schemeClr val="accent2"/>
          </a:effectRef>
          <a:fontRef idx="minor">
            <a:schemeClr val="tx1"/>
          </a:fontRef>
        </p:style>
      </p:cxnSp>
      <p:sp>
        <p:nvSpPr>
          <p:cNvPr id="124" name="Freeform: Shape 123">
            <a:extLst>
              <a:ext uri="{FF2B5EF4-FFF2-40B4-BE49-F238E27FC236}">
                <a16:creationId xmlns:a16="http://schemas.microsoft.com/office/drawing/2014/main" id="{7698FCAE-02BA-0F85-19C0-4FBC4D30BFEC}"/>
              </a:ext>
            </a:extLst>
          </p:cNvPr>
          <p:cNvSpPr/>
          <p:nvPr/>
        </p:nvSpPr>
        <p:spPr>
          <a:xfrm flipV="1">
            <a:off x="379284" y="607466"/>
            <a:ext cx="1374064" cy="700428"/>
          </a:xfrm>
          <a:custGeom>
            <a:avLst/>
            <a:gdLst>
              <a:gd name="connsiteX0" fmla="*/ 0 w 3704253"/>
              <a:gd name="connsiteY0" fmla="*/ 1800808 h 1800808"/>
              <a:gd name="connsiteX1" fmla="*/ 737119 w 3704253"/>
              <a:gd name="connsiteY1" fmla="*/ 1716832 h 1800808"/>
              <a:gd name="connsiteX2" fmla="*/ 1492898 w 3704253"/>
              <a:gd name="connsiteY2" fmla="*/ 1492898 h 1800808"/>
              <a:gd name="connsiteX3" fmla="*/ 2239347 w 3704253"/>
              <a:gd name="connsiteY3" fmla="*/ 1147665 h 1800808"/>
              <a:gd name="connsiteX4" fmla="*/ 2976466 w 3704253"/>
              <a:gd name="connsiteY4" fmla="*/ 653142 h 1800808"/>
              <a:gd name="connsiteX5" fmla="*/ 3704253 w 3704253"/>
              <a:gd name="connsiteY5" fmla="*/ 0 h 1800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4253" h="1800808">
                <a:moveTo>
                  <a:pt x="0" y="1800808"/>
                </a:moveTo>
                <a:cubicBezTo>
                  <a:pt x="244151" y="1784479"/>
                  <a:pt x="488303" y="1768150"/>
                  <a:pt x="737119" y="1716832"/>
                </a:cubicBezTo>
                <a:cubicBezTo>
                  <a:pt x="985935" y="1665514"/>
                  <a:pt x="1242527" y="1587759"/>
                  <a:pt x="1492898" y="1492898"/>
                </a:cubicBezTo>
                <a:cubicBezTo>
                  <a:pt x="1743269" y="1398037"/>
                  <a:pt x="1992086" y="1287624"/>
                  <a:pt x="2239347" y="1147665"/>
                </a:cubicBezTo>
                <a:cubicBezTo>
                  <a:pt x="2486608" y="1007706"/>
                  <a:pt x="2732315" y="844419"/>
                  <a:pt x="2976466" y="653142"/>
                </a:cubicBezTo>
                <a:cubicBezTo>
                  <a:pt x="3220617" y="461865"/>
                  <a:pt x="3462435" y="230932"/>
                  <a:pt x="3704253" y="0"/>
                </a:cubicBezTo>
              </a:path>
            </a:pathLst>
          </a:cu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TextBox 124">
            <a:extLst>
              <a:ext uri="{FF2B5EF4-FFF2-40B4-BE49-F238E27FC236}">
                <a16:creationId xmlns:a16="http://schemas.microsoft.com/office/drawing/2014/main" id="{D5AB43DA-1613-1852-0B34-455C20107F42}"/>
              </a:ext>
            </a:extLst>
          </p:cNvPr>
          <p:cNvSpPr txBox="1"/>
          <p:nvPr/>
        </p:nvSpPr>
        <p:spPr>
          <a:xfrm>
            <a:off x="1176182" y="2528294"/>
            <a:ext cx="679994" cy="230832"/>
          </a:xfrm>
          <a:prstGeom prst="rect">
            <a:avLst/>
          </a:prstGeom>
          <a:solidFill>
            <a:schemeClr val="bg1">
              <a:lumMod val="95000"/>
            </a:schemeClr>
          </a:solidFill>
        </p:spPr>
        <p:txBody>
          <a:bodyPr wrap="none" rtlCol="0">
            <a:spAutoFit/>
          </a:bodyPr>
          <a:lstStyle/>
          <a:p>
            <a:r>
              <a:rPr lang="en-US" sz="900" dirty="0">
                <a:solidFill>
                  <a:schemeClr val="tx1">
                    <a:lumMod val="50000"/>
                    <a:lumOff val="50000"/>
                  </a:schemeClr>
                </a:solidFill>
              </a:rPr>
              <a:t>Advanced</a:t>
            </a:r>
          </a:p>
        </p:txBody>
      </p:sp>
      <p:sp>
        <p:nvSpPr>
          <p:cNvPr id="126" name="TextBox 125">
            <a:extLst>
              <a:ext uri="{FF2B5EF4-FFF2-40B4-BE49-F238E27FC236}">
                <a16:creationId xmlns:a16="http://schemas.microsoft.com/office/drawing/2014/main" id="{66C30577-DE8E-AA8C-23AD-336217AD9F44}"/>
              </a:ext>
            </a:extLst>
          </p:cNvPr>
          <p:cNvSpPr txBox="1"/>
          <p:nvPr/>
        </p:nvSpPr>
        <p:spPr>
          <a:xfrm>
            <a:off x="3269105" y="2528294"/>
            <a:ext cx="679994" cy="230832"/>
          </a:xfrm>
          <a:prstGeom prst="rect">
            <a:avLst/>
          </a:prstGeom>
          <a:solidFill>
            <a:schemeClr val="bg1">
              <a:lumMod val="95000"/>
            </a:schemeClr>
          </a:solidFill>
        </p:spPr>
        <p:txBody>
          <a:bodyPr wrap="none" rtlCol="0">
            <a:spAutoFit/>
          </a:bodyPr>
          <a:lstStyle/>
          <a:p>
            <a:r>
              <a:rPr lang="en-US" sz="900" dirty="0">
                <a:solidFill>
                  <a:schemeClr val="tx1">
                    <a:lumMod val="50000"/>
                    <a:lumOff val="50000"/>
                  </a:schemeClr>
                </a:solidFill>
              </a:rPr>
              <a:t>Advanced</a:t>
            </a:r>
          </a:p>
        </p:txBody>
      </p:sp>
      <p:sp>
        <p:nvSpPr>
          <p:cNvPr id="127" name="TextBox 126">
            <a:extLst>
              <a:ext uri="{FF2B5EF4-FFF2-40B4-BE49-F238E27FC236}">
                <a16:creationId xmlns:a16="http://schemas.microsoft.com/office/drawing/2014/main" id="{AD47F88F-FF8A-D9F7-32C5-DEC2FB3FC7FA}"/>
              </a:ext>
            </a:extLst>
          </p:cNvPr>
          <p:cNvSpPr txBox="1"/>
          <p:nvPr/>
        </p:nvSpPr>
        <p:spPr>
          <a:xfrm>
            <a:off x="5348293" y="2546821"/>
            <a:ext cx="679994" cy="230832"/>
          </a:xfrm>
          <a:prstGeom prst="rect">
            <a:avLst/>
          </a:prstGeom>
          <a:solidFill>
            <a:schemeClr val="bg1">
              <a:lumMod val="95000"/>
            </a:schemeClr>
          </a:solidFill>
        </p:spPr>
        <p:txBody>
          <a:bodyPr wrap="none" rtlCol="0">
            <a:spAutoFit/>
          </a:bodyPr>
          <a:lstStyle/>
          <a:p>
            <a:r>
              <a:rPr lang="en-US" sz="900" dirty="0">
                <a:solidFill>
                  <a:schemeClr val="tx1">
                    <a:lumMod val="50000"/>
                    <a:lumOff val="50000"/>
                  </a:schemeClr>
                </a:solidFill>
              </a:rPr>
              <a:t>Advanced</a:t>
            </a:r>
          </a:p>
        </p:txBody>
      </p:sp>
      <p:sp>
        <p:nvSpPr>
          <p:cNvPr id="128" name="TextBox 127">
            <a:extLst>
              <a:ext uri="{FF2B5EF4-FFF2-40B4-BE49-F238E27FC236}">
                <a16:creationId xmlns:a16="http://schemas.microsoft.com/office/drawing/2014/main" id="{FA421345-27B0-F9B2-C3B5-23344686BDE4}"/>
              </a:ext>
            </a:extLst>
          </p:cNvPr>
          <p:cNvSpPr txBox="1"/>
          <p:nvPr/>
        </p:nvSpPr>
        <p:spPr>
          <a:xfrm>
            <a:off x="7441216" y="2546821"/>
            <a:ext cx="679994" cy="230832"/>
          </a:xfrm>
          <a:prstGeom prst="rect">
            <a:avLst/>
          </a:prstGeom>
          <a:solidFill>
            <a:schemeClr val="bg1">
              <a:lumMod val="95000"/>
            </a:schemeClr>
          </a:solidFill>
        </p:spPr>
        <p:txBody>
          <a:bodyPr wrap="none" rtlCol="0">
            <a:spAutoFit/>
          </a:bodyPr>
          <a:lstStyle/>
          <a:p>
            <a:r>
              <a:rPr lang="en-US" sz="900" dirty="0">
                <a:solidFill>
                  <a:schemeClr val="tx1">
                    <a:lumMod val="50000"/>
                    <a:lumOff val="50000"/>
                  </a:schemeClr>
                </a:solidFill>
              </a:rPr>
              <a:t>Advanced</a:t>
            </a:r>
          </a:p>
        </p:txBody>
      </p:sp>
      <p:sp>
        <p:nvSpPr>
          <p:cNvPr id="129" name="TextBox 128">
            <a:extLst>
              <a:ext uri="{FF2B5EF4-FFF2-40B4-BE49-F238E27FC236}">
                <a16:creationId xmlns:a16="http://schemas.microsoft.com/office/drawing/2014/main" id="{CE4306F6-7402-3B56-1265-615EC3F29F64}"/>
              </a:ext>
            </a:extLst>
          </p:cNvPr>
          <p:cNvSpPr txBox="1"/>
          <p:nvPr/>
        </p:nvSpPr>
        <p:spPr>
          <a:xfrm>
            <a:off x="8419951" y="1573928"/>
            <a:ext cx="604653" cy="261610"/>
          </a:xfrm>
          <a:prstGeom prst="rect">
            <a:avLst/>
          </a:prstGeom>
          <a:noFill/>
        </p:spPr>
        <p:txBody>
          <a:bodyPr wrap="none" rtlCol="0">
            <a:spAutoFit/>
          </a:bodyPr>
          <a:lstStyle/>
          <a:p>
            <a:r>
              <a:rPr lang="en-US" sz="1100" dirty="0"/>
              <a:t>Case 5</a:t>
            </a:r>
          </a:p>
        </p:txBody>
      </p:sp>
      <p:sp>
        <p:nvSpPr>
          <p:cNvPr id="5" name="TextBox 4">
            <a:extLst>
              <a:ext uri="{FF2B5EF4-FFF2-40B4-BE49-F238E27FC236}">
                <a16:creationId xmlns:a16="http://schemas.microsoft.com/office/drawing/2014/main" id="{73D345D5-0058-6C87-C9B6-F3BDCC05BCB8}"/>
              </a:ext>
            </a:extLst>
          </p:cNvPr>
          <p:cNvSpPr txBox="1"/>
          <p:nvPr/>
        </p:nvSpPr>
        <p:spPr>
          <a:xfrm>
            <a:off x="120648" y="2575731"/>
            <a:ext cx="574196" cy="261610"/>
          </a:xfrm>
          <a:prstGeom prst="rect">
            <a:avLst/>
          </a:prstGeom>
          <a:noFill/>
        </p:spPr>
        <p:txBody>
          <a:bodyPr wrap="none" rtlCol="0">
            <a:spAutoFit/>
          </a:bodyPr>
          <a:lstStyle/>
          <a:p>
            <a:r>
              <a:rPr lang="en-US" sz="1100" dirty="0"/>
              <a:t>Card x</a:t>
            </a:r>
          </a:p>
        </p:txBody>
      </p:sp>
      <p:sp>
        <p:nvSpPr>
          <p:cNvPr id="6" name="TextBox 5">
            <a:extLst>
              <a:ext uri="{FF2B5EF4-FFF2-40B4-BE49-F238E27FC236}">
                <a16:creationId xmlns:a16="http://schemas.microsoft.com/office/drawing/2014/main" id="{42E2E4E7-13CB-5D28-3F21-3E0F0A598E12}"/>
              </a:ext>
            </a:extLst>
          </p:cNvPr>
          <p:cNvSpPr txBox="1"/>
          <p:nvPr/>
        </p:nvSpPr>
        <p:spPr>
          <a:xfrm>
            <a:off x="125324" y="5548933"/>
            <a:ext cx="574196" cy="261610"/>
          </a:xfrm>
          <a:prstGeom prst="rect">
            <a:avLst/>
          </a:prstGeom>
          <a:noFill/>
        </p:spPr>
        <p:txBody>
          <a:bodyPr wrap="none" rtlCol="0">
            <a:spAutoFit/>
          </a:bodyPr>
          <a:lstStyle/>
          <a:p>
            <a:r>
              <a:rPr lang="en-US" sz="1100" dirty="0"/>
              <a:t>Card x</a:t>
            </a:r>
          </a:p>
        </p:txBody>
      </p:sp>
      <p:sp>
        <p:nvSpPr>
          <p:cNvPr id="8" name="TextBox 7">
            <a:extLst>
              <a:ext uri="{FF2B5EF4-FFF2-40B4-BE49-F238E27FC236}">
                <a16:creationId xmlns:a16="http://schemas.microsoft.com/office/drawing/2014/main" id="{A063EE03-4E49-498F-5199-4199B2EF34D1}"/>
              </a:ext>
            </a:extLst>
          </p:cNvPr>
          <p:cNvSpPr txBox="1"/>
          <p:nvPr/>
        </p:nvSpPr>
        <p:spPr>
          <a:xfrm>
            <a:off x="2204356" y="5553177"/>
            <a:ext cx="574196" cy="261610"/>
          </a:xfrm>
          <a:prstGeom prst="rect">
            <a:avLst/>
          </a:prstGeom>
          <a:noFill/>
        </p:spPr>
        <p:txBody>
          <a:bodyPr wrap="none" rtlCol="0">
            <a:spAutoFit/>
          </a:bodyPr>
          <a:lstStyle/>
          <a:p>
            <a:r>
              <a:rPr lang="en-US" sz="1100" dirty="0"/>
              <a:t>Card x</a:t>
            </a:r>
          </a:p>
        </p:txBody>
      </p:sp>
      <p:sp>
        <p:nvSpPr>
          <p:cNvPr id="10" name="TextBox 9">
            <a:extLst>
              <a:ext uri="{FF2B5EF4-FFF2-40B4-BE49-F238E27FC236}">
                <a16:creationId xmlns:a16="http://schemas.microsoft.com/office/drawing/2014/main" id="{6726A334-A160-41CF-20DC-609EB29E151D}"/>
              </a:ext>
            </a:extLst>
          </p:cNvPr>
          <p:cNvSpPr txBox="1"/>
          <p:nvPr/>
        </p:nvSpPr>
        <p:spPr>
          <a:xfrm>
            <a:off x="2202818" y="2575271"/>
            <a:ext cx="574196" cy="261610"/>
          </a:xfrm>
          <a:prstGeom prst="rect">
            <a:avLst/>
          </a:prstGeom>
          <a:noFill/>
        </p:spPr>
        <p:txBody>
          <a:bodyPr wrap="none" rtlCol="0">
            <a:spAutoFit/>
          </a:bodyPr>
          <a:lstStyle/>
          <a:p>
            <a:r>
              <a:rPr lang="en-US" sz="1100" dirty="0"/>
              <a:t>Card x</a:t>
            </a:r>
          </a:p>
        </p:txBody>
      </p:sp>
      <p:sp>
        <p:nvSpPr>
          <p:cNvPr id="14" name="TextBox 13">
            <a:extLst>
              <a:ext uri="{FF2B5EF4-FFF2-40B4-BE49-F238E27FC236}">
                <a16:creationId xmlns:a16="http://schemas.microsoft.com/office/drawing/2014/main" id="{46EA6520-D1EB-80AE-A0E2-348269F0910A}"/>
              </a:ext>
            </a:extLst>
          </p:cNvPr>
          <p:cNvSpPr txBox="1"/>
          <p:nvPr/>
        </p:nvSpPr>
        <p:spPr>
          <a:xfrm>
            <a:off x="4281406" y="2589569"/>
            <a:ext cx="574196" cy="261610"/>
          </a:xfrm>
          <a:prstGeom prst="rect">
            <a:avLst/>
          </a:prstGeom>
          <a:noFill/>
        </p:spPr>
        <p:txBody>
          <a:bodyPr wrap="none" rtlCol="0">
            <a:spAutoFit/>
          </a:bodyPr>
          <a:lstStyle/>
          <a:p>
            <a:r>
              <a:rPr lang="en-US" sz="1100" dirty="0"/>
              <a:t>Card x</a:t>
            </a:r>
          </a:p>
        </p:txBody>
      </p:sp>
      <p:sp>
        <p:nvSpPr>
          <p:cNvPr id="23" name="TextBox 22">
            <a:extLst>
              <a:ext uri="{FF2B5EF4-FFF2-40B4-BE49-F238E27FC236}">
                <a16:creationId xmlns:a16="http://schemas.microsoft.com/office/drawing/2014/main" id="{C0861274-4876-57FC-AAFF-C38C58E2A260}"/>
              </a:ext>
            </a:extLst>
          </p:cNvPr>
          <p:cNvSpPr txBox="1"/>
          <p:nvPr/>
        </p:nvSpPr>
        <p:spPr>
          <a:xfrm>
            <a:off x="4285661" y="5543973"/>
            <a:ext cx="590226" cy="261610"/>
          </a:xfrm>
          <a:prstGeom prst="rect">
            <a:avLst/>
          </a:prstGeom>
          <a:noFill/>
        </p:spPr>
        <p:txBody>
          <a:bodyPr wrap="none" rtlCol="0">
            <a:spAutoFit/>
          </a:bodyPr>
          <a:lstStyle/>
          <a:p>
            <a:r>
              <a:rPr lang="en-US" sz="1100" dirty="0"/>
              <a:t>Card X</a:t>
            </a:r>
          </a:p>
        </p:txBody>
      </p:sp>
      <p:sp>
        <p:nvSpPr>
          <p:cNvPr id="29" name="TextBox 28">
            <a:extLst>
              <a:ext uri="{FF2B5EF4-FFF2-40B4-BE49-F238E27FC236}">
                <a16:creationId xmlns:a16="http://schemas.microsoft.com/office/drawing/2014/main" id="{9ACB8F13-1D30-A372-8C1B-CDDA157D916E}"/>
              </a:ext>
            </a:extLst>
          </p:cNvPr>
          <p:cNvSpPr txBox="1"/>
          <p:nvPr/>
        </p:nvSpPr>
        <p:spPr>
          <a:xfrm>
            <a:off x="6357850" y="5542832"/>
            <a:ext cx="574196" cy="261610"/>
          </a:xfrm>
          <a:prstGeom prst="rect">
            <a:avLst/>
          </a:prstGeom>
          <a:noFill/>
        </p:spPr>
        <p:txBody>
          <a:bodyPr wrap="none" rtlCol="0">
            <a:spAutoFit/>
          </a:bodyPr>
          <a:lstStyle/>
          <a:p>
            <a:r>
              <a:rPr lang="en-US" sz="1100" dirty="0"/>
              <a:t>Card x</a:t>
            </a:r>
          </a:p>
        </p:txBody>
      </p:sp>
      <p:sp>
        <p:nvSpPr>
          <p:cNvPr id="36" name="TextBox 35">
            <a:extLst>
              <a:ext uri="{FF2B5EF4-FFF2-40B4-BE49-F238E27FC236}">
                <a16:creationId xmlns:a16="http://schemas.microsoft.com/office/drawing/2014/main" id="{B10EB37F-0921-8D12-9C69-A0AABF5B0CFE}"/>
              </a:ext>
            </a:extLst>
          </p:cNvPr>
          <p:cNvSpPr txBox="1"/>
          <p:nvPr/>
        </p:nvSpPr>
        <p:spPr>
          <a:xfrm>
            <a:off x="6365277" y="2583478"/>
            <a:ext cx="574196" cy="261610"/>
          </a:xfrm>
          <a:prstGeom prst="rect">
            <a:avLst/>
          </a:prstGeom>
          <a:noFill/>
        </p:spPr>
        <p:txBody>
          <a:bodyPr wrap="none" rtlCol="0">
            <a:spAutoFit/>
          </a:bodyPr>
          <a:lstStyle/>
          <a:p>
            <a:r>
              <a:rPr lang="en-US" sz="1100" dirty="0"/>
              <a:t>Card x</a:t>
            </a:r>
          </a:p>
        </p:txBody>
      </p:sp>
    </p:spTree>
    <p:extLst>
      <p:ext uri="{BB962C8B-B14F-4D97-AF65-F5344CB8AC3E}">
        <p14:creationId xmlns:p14="http://schemas.microsoft.com/office/powerpoint/2010/main" val="2610115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A44D5-6384-80BA-151C-2B66DC4688EA}"/>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00B39FC-E8EF-0B13-16D8-116DF53A5AA4}"/>
              </a:ext>
            </a:extLst>
          </p:cNvPr>
          <p:cNvSpPr/>
          <p:nvPr/>
        </p:nvSpPr>
        <p:spPr>
          <a:xfrm>
            <a:off x="9560"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cxnSp>
        <p:nvCxnSpPr>
          <p:cNvPr id="21" name="Straight Connector 20">
            <a:extLst>
              <a:ext uri="{FF2B5EF4-FFF2-40B4-BE49-F238E27FC236}">
                <a16:creationId xmlns:a16="http://schemas.microsoft.com/office/drawing/2014/main" id="{E69DF2EC-B711-8FCA-C88D-48D3166C1BFF}"/>
              </a:ext>
            </a:extLst>
          </p:cNvPr>
          <p:cNvCxnSpPr/>
          <p:nvPr/>
        </p:nvCxnSpPr>
        <p:spPr>
          <a:xfrm>
            <a:off x="-4482928" y="99168"/>
            <a:ext cx="0" cy="2683566"/>
          </a:xfrm>
          <a:prstGeom prst="line">
            <a:avLst/>
          </a:prstGeom>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A0A18A08-F686-2F04-9D64-BBAABC7C224A}"/>
              </a:ext>
            </a:extLst>
          </p:cNvPr>
          <p:cNvSpPr/>
          <p:nvPr/>
        </p:nvSpPr>
        <p:spPr>
          <a:xfrm>
            <a:off x="207995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 name="Rectangle 3">
            <a:extLst>
              <a:ext uri="{FF2B5EF4-FFF2-40B4-BE49-F238E27FC236}">
                <a16:creationId xmlns:a16="http://schemas.microsoft.com/office/drawing/2014/main" id="{6C1E1016-CFE9-BA2C-DC35-ADB0C01E5CF7}"/>
              </a:ext>
            </a:extLst>
          </p:cNvPr>
          <p:cNvSpPr/>
          <p:nvPr/>
        </p:nvSpPr>
        <p:spPr>
          <a:xfrm>
            <a:off x="415887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3" name="Rectangle 12">
            <a:extLst>
              <a:ext uri="{FF2B5EF4-FFF2-40B4-BE49-F238E27FC236}">
                <a16:creationId xmlns:a16="http://schemas.microsoft.com/office/drawing/2014/main" id="{91946E05-BEF4-C724-350C-4B2C71EEA604}"/>
              </a:ext>
            </a:extLst>
          </p:cNvPr>
          <p:cNvSpPr/>
          <p:nvPr/>
        </p:nvSpPr>
        <p:spPr>
          <a:xfrm>
            <a:off x="6226082" y="-7609"/>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0" name="Rectangle 29">
            <a:extLst>
              <a:ext uri="{FF2B5EF4-FFF2-40B4-BE49-F238E27FC236}">
                <a16:creationId xmlns:a16="http://schemas.microsoft.com/office/drawing/2014/main" id="{E52AE098-989A-35D7-2CA0-6B8BB8B5EE17}"/>
              </a:ext>
            </a:extLst>
          </p:cNvPr>
          <p:cNvSpPr/>
          <p:nvPr/>
        </p:nvSpPr>
        <p:spPr>
          <a:xfrm>
            <a:off x="9560"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3" name="Rectangle 42">
            <a:extLst>
              <a:ext uri="{FF2B5EF4-FFF2-40B4-BE49-F238E27FC236}">
                <a16:creationId xmlns:a16="http://schemas.microsoft.com/office/drawing/2014/main" id="{43673CD0-DEB3-DF4B-BF4A-5AEDFA09A4B4}"/>
              </a:ext>
            </a:extLst>
          </p:cNvPr>
          <p:cNvSpPr/>
          <p:nvPr/>
        </p:nvSpPr>
        <p:spPr>
          <a:xfrm>
            <a:off x="2079956"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4" name="Rectangle 43">
            <a:extLst>
              <a:ext uri="{FF2B5EF4-FFF2-40B4-BE49-F238E27FC236}">
                <a16:creationId xmlns:a16="http://schemas.microsoft.com/office/drawing/2014/main" id="{A4B06E87-5540-BC5B-9DBD-6C4D55061745}"/>
              </a:ext>
            </a:extLst>
          </p:cNvPr>
          <p:cNvSpPr/>
          <p:nvPr/>
        </p:nvSpPr>
        <p:spPr>
          <a:xfrm>
            <a:off x="4158876"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5" name="Rectangle 44">
            <a:extLst>
              <a:ext uri="{FF2B5EF4-FFF2-40B4-BE49-F238E27FC236}">
                <a16:creationId xmlns:a16="http://schemas.microsoft.com/office/drawing/2014/main" id="{C6B6337B-C229-306E-CEAA-7EFFE3F735A4}"/>
              </a:ext>
            </a:extLst>
          </p:cNvPr>
          <p:cNvSpPr/>
          <p:nvPr/>
        </p:nvSpPr>
        <p:spPr>
          <a:xfrm>
            <a:off x="6226082" y="2955663"/>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7" name="TextBox 6">
            <a:extLst>
              <a:ext uri="{FF2B5EF4-FFF2-40B4-BE49-F238E27FC236}">
                <a16:creationId xmlns:a16="http://schemas.microsoft.com/office/drawing/2014/main" id="{DF4F96D9-E8C3-1B88-A68E-7AE34E05AACE}"/>
              </a:ext>
            </a:extLst>
          </p:cNvPr>
          <p:cNvSpPr txBox="1"/>
          <p:nvPr/>
        </p:nvSpPr>
        <p:spPr>
          <a:xfrm>
            <a:off x="77614" y="1374893"/>
            <a:ext cx="2007676" cy="338554"/>
          </a:xfrm>
          <a:prstGeom prst="rect">
            <a:avLst/>
          </a:prstGeom>
          <a:noFill/>
        </p:spPr>
        <p:txBody>
          <a:bodyPr wrap="square" rtlCol="0">
            <a:spAutoFit/>
          </a:bodyPr>
          <a:lstStyle/>
          <a:p>
            <a:pPr algn="ctr"/>
            <a:r>
              <a:rPr lang="en-US" sz="1600" b="1" dirty="0">
                <a:solidFill>
                  <a:schemeClr val="tx1">
                    <a:lumMod val="95000"/>
                    <a:lumOff val="5000"/>
                  </a:schemeClr>
                </a:solidFill>
              </a:rPr>
              <a:t>Reverse </a:t>
            </a:r>
          </a:p>
        </p:txBody>
      </p:sp>
      <p:sp>
        <p:nvSpPr>
          <p:cNvPr id="11" name="TextBox 10">
            <a:extLst>
              <a:ext uri="{FF2B5EF4-FFF2-40B4-BE49-F238E27FC236}">
                <a16:creationId xmlns:a16="http://schemas.microsoft.com/office/drawing/2014/main" id="{527C9054-E5C5-9055-C5E0-14795D3BA247}"/>
              </a:ext>
            </a:extLst>
          </p:cNvPr>
          <p:cNvSpPr txBox="1"/>
          <p:nvPr/>
        </p:nvSpPr>
        <p:spPr>
          <a:xfrm>
            <a:off x="2127290" y="861544"/>
            <a:ext cx="2007676" cy="338554"/>
          </a:xfrm>
          <a:prstGeom prst="rect">
            <a:avLst/>
          </a:prstGeom>
          <a:noFill/>
        </p:spPr>
        <p:txBody>
          <a:bodyPr wrap="square" rtlCol="0">
            <a:spAutoFit/>
          </a:bodyPr>
          <a:lstStyle/>
          <a:p>
            <a:pPr algn="ctr"/>
            <a:r>
              <a:rPr lang="en-US" sz="1600" b="1" dirty="0">
                <a:solidFill>
                  <a:schemeClr val="tx1">
                    <a:lumMod val="95000"/>
                    <a:lumOff val="5000"/>
                  </a:schemeClr>
                </a:solidFill>
              </a:rPr>
              <a:t>Draw and Share</a:t>
            </a:r>
          </a:p>
        </p:txBody>
      </p:sp>
      <p:sp>
        <p:nvSpPr>
          <p:cNvPr id="17" name="TextBox 16">
            <a:extLst>
              <a:ext uri="{FF2B5EF4-FFF2-40B4-BE49-F238E27FC236}">
                <a16:creationId xmlns:a16="http://schemas.microsoft.com/office/drawing/2014/main" id="{CE17EB24-90D7-4FF5-C088-293FA665F2EA}"/>
              </a:ext>
            </a:extLst>
          </p:cNvPr>
          <p:cNvSpPr txBox="1"/>
          <p:nvPr/>
        </p:nvSpPr>
        <p:spPr>
          <a:xfrm>
            <a:off x="2127291" y="1289152"/>
            <a:ext cx="2007676" cy="1292662"/>
          </a:xfrm>
          <a:prstGeom prst="rect">
            <a:avLst/>
          </a:prstGeom>
          <a:noFill/>
        </p:spPr>
        <p:txBody>
          <a:bodyPr wrap="square" rtlCol="0">
            <a:spAutoFit/>
          </a:bodyPr>
          <a:lstStyle/>
          <a:p>
            <a:pPr marL="114300" indent="-114300">
              <a:buFont typeface="Arial" panose="020B0604020202020204" pitchFamily="34" charset="0"/>
              <a:buChar char="•"/>
            </a:pPr>
            <a:r>
              <a:rPr lang="en-US" sz="1100" dirty="0">
                <a:solidFill>
                  <a:schemeClr val="accent2">
                    <a:lumMod val="50000"/>
                  </a:schemeClr>
                </a:solidFill>
              </a:rPr>
              <a:t>Pull two additional cards from the draw pile</a:t>
            </a:r>
          </a:p>
          <a:p>
            <a:pPr marL="114300" indent="-114300">
              <a:buFont typeface="Arial" panose="020B0604020202020204" pitchFamily="34" charset="0"/>
              <a:buChar char="•"/>
            </a:pPr>
            <a:endParaRPr lang="en-US" sz="600" dirty="0">
              <a:solidFill>
                <a:schemeClr val="accent2">
                  <a:lumMod val="50000"/>
                </a:schemeClr>
              </a:solidFill>
            </a:endParaRPr>
          </a:p>
          <a:p>
            <a:pPr marL="114300" indent="-114300">
              <a:buFont typeface="Arial" panose="020B0604020202020204" pitchFamily="34" charset="0"/>
              <a:buChar char="•"/>
            </a:pPr>
            <a:r>
              <a:rPr lang="en-US" sz="1100" dirty="0">
                <a:solidFill>
                  <a:schemeClr val="accent2">
                    <a:lumMod val="50000"/>
                  </a:schemeClr>
                </a:solidFill>
              </a:rPr>
              <a:t>Put them in your hand</a:t>
            </a:r>
          </a:p>
          <a:p>
            <a:pPr marL="114300" indent="-114300">
              <a:buFont typeface="Arial" panose="020B0604020202020204" pitchFamily="34" charset="0"/>
              <a:buChar char="•"/>
            </a:pPr>
            <a:endParaRPr lang="en-US" sz="600" dirty="0">
              <a:solidFill>
                <a:schemeClr val="accent2">
                  <a:lumMod val="50000"/>
                </a:schemeClr>
              </a:solidFill>
            </a:endParaRPr>
          </a:p>
          <a:p>
            <a:pPr marL="114300" indent="-114300">
              <a:buFont typeface="Arial" panose="020B0604020202020204" pitchFamily="34" charset="0"/>
              <a:buChar char="•"/>
            </a:pPr>
            <a:r>
              <a:rPr lang="en-US" sz="1100" dirty="0">
                <a:solidFill>
                  <a:schemeClr val="accent2">
                    <a:lumMod val="50000"/>
                  </a:schemeClr>
                </a:solidFill>
              </a:rPr>
              <a:t>Give any two cards from your hand away to other player(s)</a:t>
            </a:r>
          </a:p>
        </p:txBody>
      </p:sp>
      <p:sp>
        <p:nvSpPr>
          <p:cNvPr id="19" name="TextBox 18">
            <a:extLst>
              <a:ext uri="{FF2B5EF4-FFF2-40B4-BE49-F238E27FC236}">
                <a16:creationId xmlns:a16="http://schemas.microsoft.com/office/drawing/2014/main" id="{A3CE1713-465F-DD28-CD42-30AEF3EE6D2E}"/>
              </a:ext>
            </a:extLst>
          </p:cNvPr>
          <p:cNvSpPr txBox="1"/>
          <p:nvPr/>
        </p:nvSpPr>
        <p:spPr>
          <a:xfrm>
            <a:off x="4197686" y="859305"/>
            <a:ext cx="2007676" cy="338554"/>
          </a:xfrm>
          <a:prstGeom prst="rect">
            <a:avLst/>
          </a:prstGeom>
          <a:noFill/>
        </p:spPr>
        <p:txBody>
          <a:bodyPr wrap="square" rtlCol="0">
            <a:spAutoFit/>
          </a:bodyPr>
          <a:lstStyle/>
          <a:p>
            <a:pPr algn="ctr"/>
            <a:r>
              <a:rPr lang="en-US" sz="1600" b="1" dirty="0">
                <a:solidFill>
                  <a:schemeClr val="tx1">
                    <a:lumMod val="95000"/>
                    <a:lumOff val="5000"/>
                  </a:schemeClr>
                </a:solidFill>
              </a:rPr>
              <a:t>Break time</a:t>
            </a:r>
          </a:p>
        </p:txBody>
      </p:sp>
      <p:sp>
        <p:nvSpPr>
          <p:cNvPr id="23" name="TextBox 22">
            <a:extLst>
              <a:ext uri="{FF2B5EF4-FFF2-40B4-BE49-F238E27FC236}">
                <a16:creationId xmlns:a16="http://schemas.microsoft.com/office/drawing/2014/main" id="{9FF97441-6D35-012C-2320-AB6F53FB08DA}"/>
              </a:ext>
            </a:extLst>
          </p:cNvPr>
          <p:cNvSpPr txBox="1"/>
          <p:nvPr/>
        </p:nvSpPr>
        <p:spPr>
          <a:xfrm>
            <a:off x="4197687" y="1286913"/>
            <a:ext cx="1920634" cy="600164"/>
          </a:xfrm>
          <a:prstGeom prst="rect">
            <a:avLst/>
          </a:prstGeom>
          <a:noFill/>
        </p:spPr>
        <p:txBody>
          <a:bodyPr wrap="square" rtlCol="0">
            <a:spAutoFit/>
          </a:bodyPr>
          <a:lstStyle/>
          <a:p>
            <a:pPr marL="114300" indent="-114300">
              <a:buFont typeface="Arial" panose="020B0604020202020204" pitchFamily="34" charset="0"/>
              <a:buChar char="•"/>
            </a:pPr>
            <a:r>
              <a:rPr lang="en-US" sz="1100" dirty="0">
                <a:solidFill>
                  <a:schemeClr val="accent2">
                    <a:lumMod val="50000"/>
                  </a:schemeClr>
                </a:solidFill>
              </a:rPr>
              <a:t>Pick any player to lose their next turn</a:t>
            </a:r>
          </a:p>
          <a:p>
            <a:pPr marL="114300" indent="-114300">
              <a:buFont typeface="Arial" panose="020B0604020202020204" pitchFamily="34" charset="0"/>
              <a:buChar char="•"/>
            </a:pPr>
            <a:endParaRPr lang="en-US" sz="1100" dirty="0">
              <a:solidFill>
                <a:schemeClr val="accent2">
                  <a:lumMod val="50000"/>
                </a:schemeClr>
              </a:solidFill>
            </a:endParaRPr>
          </a:p>
        </p:txBody>
      </p:sp>
      <p:sp>
        <p:nvSpPr>
          <p:cNvPr id="28" name="TextBox 27">
            <a:extLst>
              <a:ext uri="{FF2B5EF4-FFF2-40B4-BE49-F238E27FC236}">
                <a16:creationId xmlns:a16="http://schemas.microsoft.com/office/drawing/2014/main" id="{C47E3671-9002-BA47-9FBB-14F62A368498}"/>
              </a:ext>
            </a:extLst>
          </p:cNvPr>
          <p:cNvSpPr txBox="1"/>
          <p:nvPr/>
        </p:nvSpPr>
        <p:spPr>
          <a:xfrm>
            <a:off x="6304431" y="859305"/>
            <a:ext cx="2007676" cy="338554"/>
          </a:xfrm>
          <a:prstGeom prst="rect">
            <a:avLst/>
          </a:prstGeom>
          <a:noFill/>
        </p:spPr>
        <p:txBody>
          <a:bodyPr wrap="square" rtlCol="0">
            <a:spAutoFit/>
          </a:bodyPr>
          <a:lstStyle/>
          <a:p>
            <a:pPr algn="ctr"/>
            <a:r>
              <a:rPr lang="en-US" sz="1600" b="1" dirty="0">
                <a:solidFill>
                  <a:schemeClr val="tx1">
                    <a:lumMod val="95000"/>
                    <a:lumOff val="5000"/>
                  </a:schemeClr>
                </a:solidFill>
              </a:rPr>
              <a:t>Double play</a:t>
            </a:r>
          </a:p>
        </p:txBody>
      </p:sp>
      <p:sp>
        <p:nvSpPr>
          <p:cNvPr id="61" name="TextBox 60">
            <a:extLst>
              <a:ext uri="{FF2B5EF4-FFF2-40B4-BE49-F238E27FC236}">
                <a16:creationId xmlns:a16="http://schemas.microsoft.com/office/drawing/2014/main" id="{DDCEB1D6-BCC8-F67B-B700-51ED38F980FC}"/>
              </a:ext>
            </a:extLst>
          </p:cNvPr>
          <p:cNvSpPr txBox="1"/>
          <p:nvPr/>
        </p:nvSpPr>
        <p:spPr>
          <a:xfrm>
            <a:off x="6304432" y="1286913"/>
            <a:ext cx="1881096" cy="769441"/>
          </a:xfrm>
          <a:prstGeom prst="rect">
            <a:avLst/>
          </a:prstGeom>
          <a:noFill/>
        </p:spPr>
        <p:txBody>
          <a:bodyPr wrap="square" rtlCol="0">
            <a:spAutoFit/>
          </a:bodyPr>
          <a:lstStyle/>
          <a:p>
            <a:pPr marL="114300" indent="-114300">
              <a:buFont typeface="Arial" panose="020B0604020202020204" pitchFamily="34" charset="0"/>
              <a:buChar char="•"/>
            </a:pPr>
            <a:r>
              <a:rPr lang="en-US" sz="1100" dirty="0">
                <a:solidFill>
                  <a:schemeClr val="accent2">
                    <a:lumMod val="50000"/>
                  </a:schemeClr>
                </a:solidFill>
              </a:rPr>
              <a:t>Playing this card allows you to take an extra turn</a:t>
            </a:r>
          </a:p>
          <a:p>
            <a:endParaRPr lang="en-US" sz="1100" dirty="0">
              <a:solidFill>
                <a:schemeClr val="accent2">
                  <a:lumMod val="50000"/>
                </a:schemeClr>
              </a:solidFill>
            </a:endParaRPr>
          </a:p>
          <a:p>
            <a:pPr marL="114300" indent="-114300">
              <a:buFont typeface="Arial" panose="020B0604020202020204" pitchFamily="34" charset="0"/>
              <a:buChar char="•"/>
            </a:pPr>
            <a:endParaRPr lang="en-US" sz="1100" dirty="0">
              <a:solidFill>
                <a:schemeClr val="accent2">
                  <a:lumMod val="50000"/>
                </a:schemeClr>
              </a:solidFill>
            </a:endParaRPr>
          </a:p>
        </p:txBody>
      </p:sp>
      <p:sp>
        <p:nvSpPr>
          <p:cNvPr id="87" name="TextBox 86">
            <a:extLst>
              <a:ext uri="{FF2B5EF4-FFF2-40B4-BE49-F238E27FC236}">
                <a16:creationId xmlns:a16="http://schemas.microsoft.com/office/drawing/2014/main" id="{7EC0AE97-8826-7EB1-A5ED-2EA4646CA28E}"/>
              </a:ext>
            </a:extLst>
          </p:cNvPr>
          <p:cNvSpPr txBox="1"/>
          <p:nvPr/>
        </p:nvSpPr>
        <p:spPr>
          <a:xfrm>
            <a:off x="2127290" y="3819206"/>
            <a:ext cx="2007676" cy="338554"/>
          </a:xfrm>
          <a:prstGeom prst="rect">
            <a:avLst/>
          </a:prstGeom>
          <a:noFill/>
        </p:spPr>
        <p:txBody>
          <a:bodyPr wrap="square" rtlCol="0">
            <a:spAutoFit/>
          </a:bodyPr>
          <a:lstStyle/>
          <a:p>
            <a:pPr algn="ctr"/>
            <a:r>
              <a:rPr lang="en-US" sz="1600" b="1" dirty="0">
                <a:solidFill>
                  <a:schemeClr val="tx1">
                    <a:lumMod val="95000"/>
                    <a:lumOff val="5000"/>
                  </a:schemeClr>
                </a:solidFill>
              </a:rPr>
              <a:t>Thievery</a:t>
            </a:r>
          </a:p>
        </p:txBody>
      </p:sp>
      <p:sp>
        <p:nvSpPr>
          <p:cNvPr id="89" name="TextBox 88">
            <a:extLst>
              <a:ext uri="{FF2B5EF4-FFF2-40B4-BE49-F238E27FC236}">
                <a16:creationId xmlns:a16="http://schemas.microsoft.com/office/drawing/2014/main" id="{7D84002D-ED48-A9D5-900F-6453B35D1E23}"/>
              </a:ext>
            </a:extLst>
          </p:cNvPr>
          <p:cNvSpPr txBox="1"/>
          <p:nvPr/>
        </p:nvSpPr>
        <p:spPr>
          <a:xfrm>
            <a:off x="2127291" y="4103939"/>
            <a:ext cx="1960341" cy="1769715"/>
          </a:xfrm>
          <a:prstGeom prst="rect">
            <a:avLst/>
          </a:prstGeom>
          <a:noFill/>
        </p:spPr>
        <p:txBody>
          <a:bodyPr wrap="square" rtlCol="0">
            <a:spAutoFit/>
          </a:bodyPr>
          <a:lstStyle/>
          <a:p>
            <a:pPr marL="114300" indent="-114300">
              <a:buFont typeface="Arial" panose="020B0604020202020204" pitchFamily="34" charset="0"/>
              <a:buChar char="•"/>
            </a:pPr>
            <a:r>
              <a:rPr lang="en-US" sz="1100" dirty="0">
                <a:solidFill>
                  <a:schemeClr val="accent2">
                    <a:lumMod val="50000"/>
                  </a:schemeClr>
                </a:solidFill>
              </a:rPr>
              <a:t>You may pick one player to steal a card from</a:t>
            </a:r>
          </a:p>
          <a:p>
            <a:pPr marL="114300" indent="-114300">
              <a:buFont typeface="Arial" panose="020B0604020202020204" pitchFamily="34" charset="0"/>
              <a:buChar char="•"/>
            </a:pPr>
            <a:endParaRPr lang="en-US" sz="500" dirty="0">
              <a:solidFill>
                <a:schemeClr val="accent2">
                  <a:lumMod val="50000"/>
                </a:schemeClr>
              </a:solidFill>
            </a:endParaRPr>
          </a:p>
          <a:p>
            <a:pPr marL="114300" indent="-114300">
              <a:buFont typeface="Arial" panose="020B0604020202020204" pitchFamily="34" charset="0"/>
              <a:buChar char="•"/>
            </a:pPr>
            <a:r>
              <a:rPr lang="en-US" sz="1100" dirty="0">
                <a:solidFill>
                  <a:schemeClr val="accent2">
                    <a:lumMod val="50000"/>
                  </a:schemeClr>
                </a:solidFill>
              </a:rPr>
              <a:t>They will fan out their cards, with the backs facing you.  You pick one of their cards without knowing what it is</a:t>
            </a:r>
          </a:p>
          <a:p>
            <a:pPr marL="114300" indent="-114300">
              <a:buFont typeface="Arial" panose="020B0604020202020204" pitchFamily="34" charset="0"/>
              <a:buChar char="•"/>
            </a:pPr>
            <a:endParaRPr lang="en-US" sz="500" dirty="0">
              <a:solidFill>
                <a:schemeClr val="accent2">
                  <a:lumMod val="50000"/>
                </a:schemeClr>
              </a:solidFill>
            </a:endParaRPr>
          </a:p>
          <a:p>
            <a:pPr marL="114300" indent="-114300">
              <a:buFont typeface="Arial" panose="020B0604020202020204" pitchFamily="34" charset="0"/>
              <a:buChar char="•"/>
            </a:pPr>
            <a:r>
              <a:rPr lang="en-US" sz="1100" dirty="0">
                <a:solidFill>
                  <a:schemeClr val="accent2">
                    <a:lumMod val="50000"/>
                  </a:schemeClr>
                </a:solidFill>
              </a:rPr>
              <a:t>Choose one of your cards to give to that player.</a:t>
            </a:r>
          </a:p>
        </p:txBody>
      </p:sp>
      <p:sp>
        <p:nvSpPr>
          <p:cNvPr id="90" name="TextBox 89">
            <a:extLst>
              <a:ext uri="{FF2B5EF4-FFF2-40B4-BE49-F238E27FC236}">
                <a16:creationId xmlns:a16="http://schemas.microsoft.com/office/drawing/2014/main" id="{DA4AAEEC-32C2-83E6-5EAA-F32D1A6E01BB}"/>
              </a:ext>
            </a:extLst>
          </p:cNvPr>
          <p:cNvSpPr txBox="1"/>
          <p:nvPr/>
        </p:nvSpPr>
        <p:spPr>
          <a:xfrm>
            <a:off x="4206721" y="3804206"/>
            <a:ext cx="2007676" cy="338554"/>
          </a:xfrm>
          <a:prstGeom prst="rect">
            <a:avLst/>
          </a:prstGeom>
          <a:noFill/>
        </p:spPr>
        <p:txBody>
          <a:bodyPr wrap="square" rtlCol="0">
            <a:spAutoFit/>
          </a:bodyPr>
          <a:lstStyle/>
          <a:p>
            <a:pPr algn="ctr"/>
            <a:r>
              <a:rPr lang="en-US" sz="1600" b="1" dirty="0">
                <a:solidFill>
                  <a:schemeClr val="tx1">
                    <a:lumMod val="95000"/>
                    <a:lumOff val="5000"/>
                  </a:schemeClr>
                </a:solidFill>
              </a:rPr>
              <a:t>Spread the love</a:t>
            </a:r>
          </a:p>
        </p:txBody>
      </p:sp>
      <p:sp>
        <p:nvSpPr>
          <p:cNvPr id="92" name="TextBox 91">
            <a:extLst>
              <a:ext uri="{FF2B5EF4-FFF2-40B4-BE49-F238E27FC236}">
                <a16:creationId xmlns:a16="http://schemas.microsoft.com/office/drawing/2014/main" id="{251A2A43-C37F-E8DA-95EA-685CD9011D74}"/>
              </a:ext>
            </a:extLst>
          </p:cNvPr>
          <p:cNvSpPr txBox="1"/>
          <p:nvPr/>
        </p:nvSpPr>
        <p:spPr>
          <a:xfrm>
            <a:off x="4206721" y="4231814"/>
            <a:ext cx="1970261" cy="769441"/>
          </a:xfrm>
          <a:prstGeom prst="rect">
            <a:avLst/>
          </a:prstGeom>
          <a:noFill/>
        </p:spPr>
        <p:txBody>
          <a:bodyPr wrap="square" rtlCol="0">
            <a:spAutoFit/>
          </a:bodyPr>
          <a:lstStyle/>
          <a:p>
            <a:pPr marL="114300" indent="-114300">
              <a:buFont typeface="Arial" panose="020B0604020202020204" pitchFamily="34" charset="0"/>
              <a:buChar char="•"/>
            </a:pPr>
            <a:r>
              <a:rPr lang="en-US" sz="1100" dirty="0">
                <a:solidFill>
                  <a:schemeClr val="accent2">
                    <a:lumMod val="50000"/>
                  </a:schemeClr>
                </a:solidFill>
              </a:rPr>
              <a:t>Choose one card from your hand and give it to a player on your left or right</a:t>
            </a:r>
          </a:p>
          <a:p>
            <a:pPr marL="114300" indent="-114300">
              <a:buFont typeface="Arial" panose="020B0604020202020204" pitchFamily="34" charset="0"/>
              <a:buChar char="•"/>
            </a:pPr>
            <a:endParaRPr lang="en-US" sz="1100" dirty="0">
              <a:solidFill>
                <a:schemeClr val="accent2">
                  <a:lumMod val="50000"/>
                </a:schemeClr>
              </a:solidFill>
            </a:endParaRPr>
          </a:p>
        </p:txBody>
      </p:sp>
      <p:sp>
        <p:nvSpPr>
          <p:cNvPr id="93" name="TextBox 92">
            <a:extLst>
              <a:ext uri="{FF2B5EF4-FFF2-40B4-BE49-F238E27FC236}">
                <a16:creationId xmlns:a16="http://schemas.microsoft.com/office/drawing/2014/main" id="{D83543FD-6E46-3232-6DCD-8550055B380B}"/>
              </a:ext>
            </a:extLst>
          </p:cNvPr>
          <p:cNvSpPr txBox="1"/>
          <p:nvPr/>
        </p:nvSpPr>
        <p:spPr>
          <a:xfrm>
            <a:off x="6313466" y="3804206"/>
            <a:ext cx="2007676" cy="338554"/>
          </a:xfrm>
          <a:prstGeom prst="rect">
            <a:avLst/>
          </a:prstGeom>
          <a:noFill/>
        </p:spPr>
        <p:txBody>
          <a:bodyPr wrap="square" rtlCol="0">
            <a:spAutoFit/>
          </a:bodyPr>
          <a:lstStyle/>
          <a:p>
            <a:pPr algn="ctr"/>
            <a:r>
              <a:rPr lang="en-US" sz="1600" b="1" dirty="0">
                <a:solidFill>
                  <a:schemeClr val="tx1">
                    <a:lumMod val="95000"/>
                    <a:lumOff val="5000"/>
                  </a:schemeClr>
                </a:solidFill>
              </a:rPr>
              <a:t>Trade</a:t>
            </a:r>
          </a:p>
        </p:txBody>
      </p:sp>
      <p:sp>
        <p:nvSpPr>
          <p:cNvPr id="95" name="TextBox 94">
            <a:extLst>
              <a:ext uri="{FF2B5EF4-FFF2-40B4-BE49-F238E27FC236}">
                <a16:creationId xmlns:a16="http://schemas.microsoft.com/office/drawing/2014/main" id="{874D5028-2A48-CD2E-CA7E-7A6AAA902C12}"/>
              </a:ext>
            </a:extLst>
          </p:cNvPr>
          <p:cNvSpPr txBox="1"/>
          <p:nvPr/>
        </p:nvSpPr>
        <p:spPr>
          <a:xfrm>
            <a:off x="6313467" y="4231814"/>
            <a:ext cx="1744684" cy="1538883"/>
          </a:xfrm>
          <a:prstGeom prst="rect">
            <a:avLst/>
          </a:prstGeom>
          <a:noFill/>
        </p:spPr>
        <p:txBody>
          <a:bodyPr wrap="square" rtlCol="0">
            <a:spAutoFit/>
          </a:bodyPr>
          <a:lstStyle/>
          <a:p>
            <a:pPr marL="114300" indent="-114300">
              <a:buFont typeface="Arial" panose="020B0604020202020204" pitchFamily="34" charset="0"/>
              <a:buChar char="•"/>
            </a:pPr>
            <a:r>
              <a:rPr lang="en-US" sz="1100" dirty="0">
                <a:solidFill>
                  <a:schemeClr val="accent2">
                    <a:lumMod val="50000"/>
                  </a:schemeClr>
                </a:solidFill>
              </a:rPr>
              <a:t>Take one of your cards and put it on top of the deck</a:t>
            </a:r>
          </a:p>
          <a:p>
            <a:pPr marL="114300" indent="-114300">
              <a:buFont typeface="Arial" panose="020B0604020202020204" pitchFamily="34" charset="0"/>
              <a:buChar char="•"/>
            </a:pPr>
            <a:endParaRPr lang="en-US" sz="600" dirty="0">
              <a:solidFill>
                <a:schemeClr val="accent2">
                  <a:lumMod val="50000"/>
                </a:schemeClr>
              </a:solidFill>
            </a:endParaRPr>
          </a:p>
          <a:p>
            <a:pPr marL="114300" indent="-114300">
              <a:buFont typeface="Arial" panose="020B0604020202020204" pitchFamily="34" charset="0"/>
              <a:buChar char="•"/>
            </a:pPr>
            <a:r>
              <a:rPr lang="en-US" sz="1100" dirty="0">
                <a:solidFill>
                  <a:schemeClr val="accent2">
                    <a:lumMod val="50000"/>
                  </a:schemeClr>
                </a:solidFill>
              </a:rPr>
              <a:t>Take the card from the bottom of the deck and put it in your hand</a:t>
            </a:r>
          </a:p>
          <a:p>
            <a:endParaRPr lang="en-US" sz="1100" dirty="0">
              <a:solidFill>
                <a:schemeClr val="accent2">
                  <a:lumMod val="50000"/>
                </a:schemeClr>
              </a:solidFill>
            </a:endParaRPr>
          </a:p>
          <a:p>
            <a:pPr marL="114300" indent="-114300">
              <a:buFont typeface="Arial" panose="020B0604020202020204" pitchFamily="34" charset="0"/>
              <a:buChar char="•"/>
            </a:pPr>
            <a:endParaRPr lang="en-US" sz="1100" dirty="0">
              <a:solidFill>
                <a:schemeClr val="accent2">
                  <a:lumMod val="50000"/>
                </a:schemeClr>
              </a:solidFill>
            </a:endParaRPr>
          </a:p>
        </p:txBody>
      </p:sp>
      <p:sp>
        <p:nvSpPr>
          <p:cNvPr id="100" name="TextBox 99">
            <a:extLst>
              <a:ext uri="{FF2B5EF4-FFF2-40B4-BE49-F238E27FC236}">
                <a16:creationId xmlns:a16="http://schemas.microsoft.com/office/drawing/2014/main" id="{68FEF544-2EC5-C84C-B845-3F8E74487C24}"/>
              </a:ext>
            </a:extLst>
          </p:cNvPr>
          <p:cNvSpPr txBox="1"/>
          <p:nvPr/>
        </p:nvSpPr>
        <p:spPr>
          <a:xfrm>
            <a:off x="40920" y="3819206"/>
            <a:ext cx="2007676" cy="338554"/>
          </a:xfrm>
          <a:prstGeom prst="rect">
            <a:avLst/>
          </a:prstGeom>
          <a:noFill/>
        </p:spPr>
        <p:txBody>
          <a:bodyPr wrap="square" rtlCol="0">
            <a:spAutoFit/>
          </a:bodyPr>
          <a:lstStyle/>
          <a:p>
            <a:pPr algn="ctr"/>
            <a:r>
              <a:rPr lang="en-US" sz="1600" b="1" dirty="0">
                <a:solidFill>
                  <a:schemeClr val="tx1">
                    <a:lumMod val="95000"/>
                    <a:lumOff val="5000"/>
                  </a:schemeClr>
                </a:solidFill>
              </a:rPr>
              <a:t>Pass one to the left</a:t>
            </a:r>
          </a:p>
        </p:txBody>
      </p:sp>
      <p:sp>
        <p:nvSpPr>
          <p:cNvPr id="101" name="TextBox 100">
            <a:extLst>
              <a:ext uri="{FF2B5EF4-FFF2-40B4-BE49-F238E27FC236}">
                <a16:creationId xmlns:a16="http://schemas.microsoft.com/office/drawing/2014/main" id="{8DF2F4D8-8E5F-8D98-684C-CBAC89AD7518}"/>
              </a:ext>
            </a:extLst>
          </p:cNvPr>
          <p:cNvSpPr txBox="1"/>
          <p:nvPr/>
        </p:nvSpPr>
        <p:spPr>
          <a:xfrm>
            <a:off x="40921" y="4246814"/>
            <a:ext cx="1842709" cy="1107996"/>
          </a:xfrm>
          <a:prstGeom prst="rect">
            <a:avLst/>
          </a:prstGeom>
          <a:noFill/>
        </p:spPr>
        <p:txBody>
          <a:bodyPr wrap="square" rtlCol="0">
            <a:spAutoFit/>
          </a:bodyPr>
          <a:lstStyle/>
          <a:p>
            <a:pPr marL="114300" indent="-114300">
              <a:buFont typeface="Arial" panose="020B0604020202020204" pitchFamily="34" charset="0"/>
              <a:buChar char="•"/>
            </a:pPr>
            <a:r>
              <a:rPr lang="en-US" sz="1100" dirty="0">
                <a:solidFill>
                  <a:schemeClr val="accent2">
                    <a:lumMod val="50000"/>
                  </a:schemeClr>
                </a:solidFill>
              </a:rPr>
              <a:t>Every player passes a card from their hand, of their choosing, to the left</a:t>
            </a:r>
          </a:p>
          <a:p>
            <a:pPr marL="114300" indent="-114300">
              <a:buFont typeface="Arial" panose="020B0604020202020204" pitchFamily="34" charset="0"/>
              <a:buChar char="•"/>
            </a:pPr>
            <a:endParaRPr lang="en-US" sz="1100" dirty="0">
              <a:solidFill>
                <a:schemeClr val="accent2">
                  <a:lumMod val="50000"/>
                </a:schemeClr>
              </a:solidFill>
            </a:endParaRPr>
          </a:p>
          <a:p>
            <a:pPr marL="114300" indent="-114300">
              <a:buFont typeface="Arial" panose="020B0604020202020204" pitchFamily="34" charset="0"/>
              <a:buChar char="•"/>
            </a:pPr>
            <a:r>
              <a:rPr lang="en-US" sz="1100" dirty="0">
                <a:solidFill>
                  <a:schemeClr val="accent2">
                    <a:lumMod val="50000"/>
                  </a:schemeClr>
                </a:solidFill>
              </a:rPr>
              <a:t>Cards should all be passed at the same time</a:t>
            </a:r>
          </a:p>
        </p:txBody>
      </p:sp>
      <p:sp>
        <p:nvSpPr>
          <p:cNvPr id="6" name="Rectangle: Diagonal Corners Snipped 5">
            <a:extLst>
              <a:ext uri="{FF2B5EF4-FFF2-40B4-BE49-F238E27FC236}">
                <a16:creationId xmlns:a16="http://schemas.microsoft.com/office/drawing/2014/main" id="{5E236A82-6A90-E883-5D24-F9FD4760C2BD}"/>
              </a:ext>
            </a:extLst>
          </p:cNvPr>
          <p:cNvSpPr/>
          <p:nvPr/>
        </p:nvSpPr>
        <p:spPr>
          <a:xfrm>
            <a:off x="257406" y="287646"/>
            <a:ext cx="1613042" cy="338555"/>
          </a:xfrm>
          <a:prstGeom prst="snip2Diag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chemeClr val="bg1"/>
                </a:solidFill>
                <a:latin typeface="Ink Free" panose="03080402000500000000" pitchFamily="66" charset="0"/>
              </a:rPr>
              <a:t>Action!</a:t>
            </a:r>
          </a:p>
        </p:txBody>
      </p:sp>
      <p:sp>
        <p:nvSpPr>
          <p:cNvPr id="8" name="Rectangle: Diagonal Corners Snipped 7">
            <a:extLst>
              <a:ext uri="{FF2B5EF4-FFF2-40B4-BE49-F238E27FC236}">
                <a16:creationId xmlns:a16="http://schemas.microsoft.com/office/drawing/2014/main" id="{58EEDB70-261C-6344-AB1B-A5660C54BC1E}"/>
              </a:ext>
            </a:extLst>
          </p:cNvPr>
          <p:cNvSpPr/>
          <p:nvPr/>
        </p:nvSpPr>
        <p:spPr>
          <a:xfrm>
            <a:off x="2294798" y="287646"/>
            <a:ext cx="1613042" cy="338555"/>
          </a:xfrm>
          <a:prstGeom prst="snip2Diag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chemeClr val="bg1"/>
                </a:solidFill>
                <a:latin typeface="Ink Free" panose="03080402000500000000" pitchFamily="66" charset="0"/>
              </a:rPr>
              <a:t>Action!</a:t>
            </a:r>
          </a:p>
        </p:txBody>
      </p:sp>
      <p:sp>
        <p:nvSpPr>
          <p:cNvPr id="9" name="Rectangle: Diagonal Corners Snipped 8">
            <a:extLst>
              <a:ext uri="{FF2B5EF4-FFF2-40B4-BE49-F238E27FC236}">
                <a16:creationId xmlns:a16="http://schemas.microsoft.com/office/drawing/2014/main" id="{A987F29E-7FB5-F3E6-B696-0B9E1437C5EC}"/>
              </a:ext>
            </a:extLst>
          </p:cNvPr>
          <p:cNvSpPr/>
          <p:nvPr/>
        </p:nvSpPr>
        <p:spPr>
          <a:xfrm>
            <a:off x="4407717" y="287646"/>
            <a:ext cx="1613042" cy="338555"/>
          </a:xfrm>
          <a:prstGeom prst="snip2Diag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chemeClr val="bg1"/>
                </a:solidFill>
                <a:latin typeface="Ink Free" panose="03080402000500000000" pitchFamily="66" charset="0"/>
              </a:rPr>
              <a:t>Action!</a:t>
            </a:r>
          </a:p>
        </p:txBody>
      </p:sp>
      <p:sp>
        <p:nvSpPr>
          <p:cNvPr id="10" name="Rectangle: Diagonal Corners Snipped 9">
            <a:extLst>
              <a:ext uri="{FF2B5EF4-FFF2-40B4-BE49-F238E27FC236}">
                <a16:creationId xmlns:a16="http://schemas.microsoft.com/office/drawing/2014/main" id="{BEBCBFB8-CF4F-6309-9CED-4E7DF27E8B3C}"/>
              </a:ext>
            </a:extLst>
          </p:cNvPr>
          <p:cNvSpPr/>
          <p:nvPr/>
        </p:nvSpPr>
        <p:spPr>
          <a:xfrm>
            <a:off x="6445109" y="287646"/>
            <a:ext cx="1613042" cy="338555"/>
          </a:xfrm>
          <a:prstGeom prst="snip2Diag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chemeClr val="bg1"/>
                </a:solidFill>
                <a:latin typeface="Ink Free" panose="03080402000500000000" pitchFamily="66" charset="0"/>
              </a:rPr>
              <a:t>Action!</a:t>
            </a:r>
          </a:p>
        </p:txBody>
      </p:sp>
      <p:sp>
        <p:nvSpPr>
          <p:cNvPr id="14" name="Rectangle: Diagonal Corners Snipped 13">
            <a:extLst>
              <a:ext uri="{FF2B5EF4-FFF2-40B4-BE49-F238E27FC236}">
                <a16:creationId xmlns:a16="http://schemas.microsoft.com/office/drawing/2014/main" id="{A14C3E88-ED5C-72F7-1B30-C99360D9D9E6}"/>
              </a:ext>
            </a:extLst>
          </p:cNvPr>
          <p:cNvSpPr/>
          <p:nvPr/>
        </p:nvSpPr>
        <p:spPr>
          <a:xfrm>
            <a:off x="257406" y="3260205"/>
            <a:ext cx="1613042" cy="338555"/>
          </a:xfrm>
          <a:prstGeom prst="snip2Diag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chemeClr val="bg1"/>
                </a:solidFill>
                <a:latin typeface="Ink Free" panose="03080402000500000000" pitchFamily="66" charset="0"/>
              </a:rPr>
              <a:t>Action!</a:t>
            </a:r>
          </a:p>
        </p:txBody>
      </p:sp>
      <p:sp>
        <p:nvSpPr>
          <p:cNvPr id="15" name="Rectangle: Diagonal Corners Snipped 14">
            <a:extLst>
              <a:ext uri="{FF2B5EF4-FFF2-40B4-BE49-F238E27FC236}">
                <a16:creationId xmlns:a16="http://schemas.microsoft.com/office/drawing/2014/main" id="{9FC562F4-D0A5-6A26-3479-5214B2556769}"/>
              </a:ext>
            </a:extLst>
          </p:cNvPr>
          <p:cNvSpPr/>
          <p:nvPr/>
        </p:nvSpPr>
        <p:spPr>
          <a:xfrm>
            <a:off x="2294798" y="3260205"/>
            <a:ext cx="1613042" cy="338555"/>
          </a:xfrm>
          <a:prstGeom prst="snip2Diag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chemeClr val="bg1"/>
                </a:solidFill>
                <a:latin typeface="Ink Free" panose="03080402000500000000" pitchFamily="66" charset="0"/>
              </a:rPr>
              <a:t>Action!</a:t>
            </a:r>
          </a:p>
        </p:txBody>
      </p:sp>
      <p:sp>
        <p:nvSpPr>
          <p:cNvPr id="16" name="Rectangle: Diagonal Corners Snipped 15">
            <a:extLst>
              <a:ext uri="{FF2B5EF4-FFF2-40B4-BE49-F238E27FC236}">
                <a16:creationId xmlns:a16="http://schemas.microsoft.com/office/drawing/2014/main" id="{42CCEFF0-F2F6-A89A-DF6F-26616B60CE4B}"/>
              </a:ext>
            </a:extLst>
          </p:cNvPr>
          <p:cNvSpPr/>
          <p:nvPr/>
        </p:nvSpPr>
        <p:spPr>
          <a:xfrm>
            <a:off x="4407717" y="3260205"/>
            <a:ext cx="1613042" cy="338555"/>
          </a:xfrm>
          <a:prstGeom prst="snip2Diag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chemeClr val="bg1"/>
                </a:solidFill>
                <a:latin typeface="Ink Free" panose="03080402000500000000" pitchFamily="66" charset="0"/>
              </a:rPr>
              <a:t>Action!</a:t>
            </a:r>
          </a:p>
        </p:txBody>
      </p:sp>
      <p:sp>
        <p:nvSpPr>
          <p:cNvPr id="20" name="Rectangle: Diagonal Corners Snipped 19">
            <a:extLst>
              <a:ext uri="{FF2B5EF4-FFF2-40B4-BE49-F238E27FC236}">
                <a16:creationId xmlns:a16="http://schemas.microsoft.com/office/drawing/2014/main" id="{B9922555-E6B2-5FF0-C25A-EB2F80589884}"/>
              </a:ext>
            </a:extLst>
          </p:cNvPr>
          <p:cNvSpPr/>
          <p:nvPr/>
        </p:nvSpPr>
        <p:spPr>
          <a:xfrm>
            <a:off x="6445109" y="3260205"/>
            <a:ext cx="1613042" cy="338555"/>
          </a:xfrm>
          <a:prstGeom prst="snip2Diag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chemeClr val="bg1"/>
                </a:solidFill>
                <a:latin typeface="Ink Free" panose="03080402000500000000" pitchFamily="66" charset="0"/>
              </a:rPr>
              <a:t>Action!</a:t>
            </a:r>
          </a:p>
        </p:txBody>
      </p:sp>
    </p:spTree>
    <p:extLst>
      <p:ext uri="{BB962C8B-B14F-4D97-AF65-F5344CB8AC3E}">
        <p14:creationId xmlns:p14="http://schemas.microsoft.com/office/powerpoint/2010/main" val="706907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30E2C-C167-5349-EA4D-033418573223}"/>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A794D8EE-707A-97E3-4BAC-2F249BEE0CEA}"/>
              </a:ext>
            </a:extLst>
          </p:cNvPr>
          <p:cNvSpPr/>
          <p:nvPr/>
        </p:nvSpPr>
        <p:spPr>
          <a:xfrm>
            <a:off x="9560"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cxnSp>
        <p:nvCxnSpPr>
          <p:cNvPr id="21" name="Straight Connector 20">
            <a:extLst>
              <a:ext uri="{FF2B5EF4-FFF2-40B4-BE49-F238E27FC236}">
                <a16:creationId xmlns:a16="http://schemas.microsoft.com/office/drawing/2014/main" id="{D0DDC4E3-95DD-87EA-B89A-FF7C63597CA2}"/>
              </a:ext>
            </a:extLst>
          </p:cNvPr>
          <p:cNvCxnSpPr/>
          <p:nvPr/>
        </p:nvCxnSpPr>
        <p:spPr>
          <a:xfrm>
            <a:off x="-4482928" y="99168"/>
            <a:ext cx="0" cy="2683566"/>
          </a:xfrm>
          <a:prstGeom prst="line">
            <a:avLst/>
          </a:prstGeom>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201B06D6-999B-1C34-BD72-D6994BD421E6}"/>
              </a:ext>
            </a:extLst>
          </p:cNvPr>
          <p:cNvSpPr/>
          <p:nvPr/>
        </p:nvSpPr>
        <p:spPr>
          <a:xfrm>
            <a:off x="207995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 name="Rectangle 3">
            <a:extLst>
              <a:ext uri="{FF2B5EF4-FFF2-40B4-BE49-F238E27FC236}">
                <a16:creationId xmlns:a16="http://schemas.microsoft.com/office/drawing/2014/main" id="{ABFB9287-008B-86FE-37E9-DB4CC9C04A08}"/>
              </a:ext>
            </a:extLst>
          </p:cNvPr>
          <p:cNvSpPr/>
          <p:nvPr/>
        </p:nvSpPr>
        <p:spPr>
          <a:xfrm>
            <a:off x="415887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3" name="Rectangle 12">
            <a:extLst>
              <a:ext uri="{FF2B5EF4-FFF2-40B4-BE49-F238E27FC236}">
                <a16:creationId xmlns:a16="http://schemas.microsoft.com/office/drawing/2014/main" id="{BBA31FC0-7846-1E7A-BC67-595726C890B3}"/>
              </a:ext>
            </a:extLst>
          </p:cNvPr>
          <p:cNvSpPr/>
          <p:nvPr/>
        </p:nvSpPr>
        <p:spPr>
          <a:xfrm>
            <a:off x="6226082" y="-7609"/>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0" name="Rectangle 29">
            <a:extLst>
              <a:ext uri="{FF2B5EF4-FFF2-40B4-BE49-F238E27FC236}">
                <a16:creationId xmlns:a16="http://schemas.microsoft.com/office/drawing/2014/main" id="{95D00B58-FF8F-6F67-753F-60864BC89092}"/>
              </a:ext>
            </a:extLst>
          </p:cNvPr>
          <p:cNvSpPr/>
          <p:nvPr/>
        </p:nvSpPr>
        <p:spPr>
          <a:xfrm>
            <a:off x="9560"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3" name="Rectangle 42">
            <a:extLst>
              <a:ext uri="{FF2B5EF4-FFF2-40B4-BE49-F238E27FC236}">
                <a16:creationId xmlns:a16="http://schemas.microsoft.com/office/drawing/2014/main" id="{A4428159-F690-1D55-B49D-A395FEEF378A}"/>
              </a:ext>
            </a:extLst>
          </p:cNvPr>
          <p:cNvSpPr/>
          <p:nvPr/>
        </p:nvSpPr>
        <p:spPr>
          <a:xfrm>
            <a:off x="2079956"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4" name="Rectangle 43">
            <a:extLst>
              <a:ext uri="{FF2B5EF4-FFF2-40B4-BE49-F238E27FC236}">
                <a16:creationId xmlns:a16="http://schemas.microsoft.com/office/drawing/2014/main" id="{A8CC639B-4288-7DC5-B668-7A08753224FD}"/>
              </a:ext>
            </a:extLst>
          </p:cNvPr>
          <p:cNvSpPr/>
          <p:nvPr/>
        </p:nvSpPr>
        <p:spPr>
          <a:xfrm>
            <a:off x="4158876"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57" name="Diagonal Stripe 56">
            <a:extLst>
              <a:ext uri="{FF2B5EF4-FFF2-40B4-BE49-F238E27FC236}">
                <a16:creationId xmlns:a16="http://schemas.microsoft.com/office/drawing/2014/main" id="{0A811E2D-1F8A-9B80-72A3-A182E5977A9F}"/>
              </a:ext>
            </a:extLst>
          </p:cNvPr>
          <p:cNvSpPr/>
          <p:nvPr/>
        </p:nvSpPr>
        <p:spPr>
          <a:xfrm>
            <a:off x="2093961" y="12531"/>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8" name="Diagonal Stripe 57">
            <a:extLst>
              <a:ext uri="{FF2B5EF4-FFF2-40B4-BE49-F238E27FC236}">
                <a16:creationId xmlns:a16="http://schemas.microsoft.com/office/drawing/2014/main" id="{03CFABE5-0B40-C251-8006-53ECD1658AC3}"/>
              </a:ext>
            </a:extLst>
          </p:cNvPr>
          <p:cNvSpPr/>
          <p:nvPr/>
        </p:nvSpPr>
        <p:spPr>
          <a:xfrm>
            <a:off x="4180789" y="0"/>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9" name="Diagonal Stripe 58">
            <a:extLst>
              <a:ext uri="{FF2B5EF4-FFF2-40B4-BE49-F238E27FC236}">
                <a16:creationId xmlns:a16="http://schemas.microsoft.com/office/drawing/2014/main" id="{408C7632-C221-F110-185D-0ADF0B981881}"/>
              </a:ext>
            </a:extLst>
          </p:cNvPr>
          <p:cNvSpPr/>
          <p:nvPr/>
        </p:nvSpPr>
        <p:spPr>
          <a:xfrm rot="10800000">
            <a:off x="3583530" y="2367056"/>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Diagonal Stripe 59">
            <a:extLst>
              <a:ext uri="{FF2B5EF4-FFF2-40B4-BE49-F238E27FC236}">
                <a16:creationId xmlns:a16="http://schemas.microsoft.com/office/drawing/2014/main" id="{6219A6F5-8642-9DCB-2E05-8D09DC593F42}"/>
              </a:ext>
            </a:extLst>
          </p:cNvPr>
          <p:cNvSpPr/>
          <p:nvPr/>
        </p:nvSpPr>
        <p:spPr>
          <a:xfrm rot="10800000">
            <a:off x="5650711" y="2367056"/>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1" name="Diagonal Stripe 60">
            <a:extLst>
              <a:ext uri="{FF2B5EF4-FFF2-40B4-BE49-F238E27FC236}">
                <a16:creationId xmlns:a16="http://schemas.microsoft.com/office/drawing/2014/main" id="{14F22AE1-AAA2-18DE-67B2-259CC01099E5}"/>
              </a:ext>
            </a:extLst>
          </p:cNvPr>
          <p:cNvSpPr/>
          <p:nvPr/>
        </p:nvSpPr>
        <p:spPr>
          <a:xfrm>
            <a:off x="6247969" y="12531"/>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3" name="Diagonal Stripe 62">
            <a:extLst>
              <a:ext uri="{FF2B5EF4-FFF2-40B4-BE49-F238E27FC236}">
                <a16:creationId xmlns:a16="http://schemas.microsoft.com/office/drawing/2014/main" id="{8293AAB4-2F12-D421-52D0-76F74C315CD6}"/>
              </a:ext>
            </a:extLst>
          </p:cNvPr>
          <p:cNvSpPr/>
          <p:nvPr/>
        </p:nvSpPr>
        <p:spPr>
          <a:xfrm rot="10800000">
            <a:off x="7737538" y="2367056"/>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5" name="Diagonal Stripe 64">
            <a:extLst>
              <a:ext uri="{FF2B5EF4-FFF2-40B4-BE49-F238E27FC236}">
                <a16:creationId xmlns:a16="http://schemas.microsoft.com/office/drawing/2014/main" id="{B728D16C-2AFD-2F1D-1ECF-E22D7B0F49BF}"/>
              </a:ext>
            </a:extLst>
          </p:cNvPr>
          <p:cNvSpPr/>
          <p:nvPr/>
        </p:nvSpPr>
        <p:spPr>
          <a:xfrm>
            <a:off x="7133" y="2965955"/>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6" name="Diagonal Stripe 65">
            <a:extLst>
              <a:ext uri="{FF2B5EF4-FFF2-40B4-BE49-F238E27FC236}">
                <a16:creationId xmlns:a16="http://schemas.microsoft.com/office/drawing/2014/main" id="{8304397D-BCB7-6D29-C50A-5BD962A44C12}"/>
              </a:ext>
            </a:extLst>
          </p:cNvPr>
          <p:cNvSpPr/>
          <p:nvPr/>
        </p:nvSpPr>
        <p:spPr>
          <a:xfrm>
            <a:off x="2093961" y="2953424"/>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7" name="Diagonal Stripe 66">
            <a:extLst>
              <a:ext uri="{FF2B5EF4-FFF2-40B4-BE49-F238E27FC236}">
                <a16:creationId xmlns:a16="http://schemas.microsoft.com/office/drawing/2014/main" id="{16A32700-85EF-881F-02D5-483CC95CC4E5}"/>
              </a:ext>
            </a:extLst>
          </p:cNvPr>
          <p:cNvSpPr/>
          <p:nvPr/>
        </p:nvSpPr>
        <p:spPr>
          <a:xfrm>
            <a:off x="4161141" y="2965955"/>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9" name="Diagonal Stripe 68">
            <a:extLst>
              <a:ext uri="{FF2B5EF4-FFF2-40B4-BE49-F238E27FC236}">
                <a16:creationId xmlns:a16="http://schemas.microsoft.com/office/drawing/2014/main" id="{078F6A47-18E4-3191-DA4D-BB52D980ADD0}"/>
              </a:ext>
            </a:extLst>
          </p:cNvPr>
          <p:cNvSpPr/>
          <p:nvPr/>
        </p:nvSpPr>
        <p:spPr>
          <a:xfrm rot="10800000">
            <a:off x="1496702" y="5339244"/>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0" name="Diagonal Stripe 69">
            <a:extLst>
              <a:ext uri="{FF2B5EF4-FFF2-40B4-BE49-F238E27FC236}">
                <a16:creationId xmlns:a16="http://schemas.microsoft.com/office/drawing/2014/main" id="{49DCEE3E-6D41-FA5B-3A31-16CBD01E0600}"/>
              </a:ext>
            </a:extLst>
          </p:cNvPr>
          <p:cNvSpPr/>
          <p:nvPr/>
        </p:nvSpPr>
        <p:spPr>
          <a:xfrm rot="10800000">
            <a:off x="3563883" y="5339244"/>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1" name="Diagonal Stripe 70">
            <a:extLst>
              <a:ext uri="{FF2B5EF4-FFF2-40B4-BE49-F238E27FC236}">
                <a16:creationId xmlns:a16="http://schemas.microsoft.com/office/drawing/2014/main" id="{D2C8024B-815B-3A95-7BAD-540D2626EA20}"/>
              </a:ext>
            </a:extLst>
          </p:cNvPr>
          <p:cNvSpPr/>
          <p:nvPr/>
        </p:nvSpPr>
        <p:spPr>
          <a:xfrm rot="10800000">
            <a:off x="5650710" y="5339244"/>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2" name="TextBox 31">
            <a:extLst>
              <a:ext uri="{FF2B5EF4-FFF2-40B4-BE49-F238E27FC236}">
                <a16:creationId xmlns:a16="http://schemas.microsoft.com/office/drawing/2014/main" id="{6671E9E1-9B58-016A-7BEC-65E435A9AF50}"/>
              </a:ext>
            </a:extLst>
          </p:cNvPr>
          <p:cNvSpPr txBox="1"/>
          <p:nvPr/>
        </p:nvSpPr>
        <p:spPr>
          <a:xfrm>
            <a:off x="309993" y="6324206"/>
            <a:ext cx="4350871" cy="261610"/>
          </a:xfrm>
          <a:prstGeom prst="rect">
            <a:avLst/>
          </a:prstGeom>
          <a:noFill/>
        </p:spPr>
        <p:txBody>
          <a:bodyPr wrap="none" rtlCol="0">
            <a:spAutoFit/>
          </a:bodyPr>
          <a:lstStyle/>
          <a:p>
            <a:r>
              <a:rPr lang="en-US" sz="1100" dirty="0"/>
              <a:t>Help Sheet (print one for each player/team on regular paper and fold)</a:t>
            </a:r>
          </a:p>
        </p:txBody>
      </p:sp>
      <p:sp>
        <p:nvSpPr>
          <p:cNvPr id="33" name="TextBox 32">
            <a:extLst>
              <a:ext uri="{FF2B5EF4-FFF2-40B4-BE49-F238E27FC236}">
                <a16:creationId xmlns:a16="http://schemas.microsoft.com/office/drawing/2014/main" id="{72E8136B-1AF6-F64D-40E6-B3502F209650}"/>
              </a:ext>
            </a:extLst>
          </p:cNvPr>
          <p:cNvSpPr txBox="1"/>
          <p:nvPr/>
        </p:nvSpPr>
        <p:spPr>
          <a:xfrm>
            <a:off x="148958" y="3382405"/>
            <a:ext cx="1949695" cy="276999"/>
          </a:xfrm>
          <a:prstGeom prst="rect">
            <a:avLst/>
          </a:prstGeom>
          <a:noFill/>
        </p:spPr>
        <p:txBody>
          <a:bodyPr wrap="square" rtlCol="0">
            <a:spAutoFit/>
          </a:bodyPr>
          <a:lstStyle/>
          <a:p>
            <a:pPr algn="ctr"/>
            <a:r>
              <a:rPr lang="en-US" sz="1200" b="1" dirty="0">
                <a:solidFill>
                  <a:srgbClr val="0070C0"/>
                </a:solidFill>
              </a:rPr>
              <a:t>Position vs time graph</a:t>
            </a:r>
          </a:p>
        </p:txBody>
      </p:sp>
      <p:sp>
        <p:nvSpPr>
          <p:cNvPr id="34" name="TextBox 33">
            <a:extLst>
              <a:ext uri="{FF2B5EF4-FFF2-40B4-BE49-F238E27FC236}">
                <a16:creationId xmlns:a16="http://schemas.microsoft.com/office/drawing/2014/main" id="{48C63FF2-77F1-8C9A-540E-70B988D45FF0}"/>
              </a:ext>
            </a:extLst>
          </p:cNvPr>
          <p:cNvSpPr txBox="1"/>
          <p:nvPr/>
        </p:nvSpPr>
        <p:spPr>
          <a:xfrm>
            <a:off x="158040" y="857592"/>
            <a:ext cx="1754595" cy="646331"/>
          </a:xfrm>
          <a:prstGeom prst="rect">
            <a:avLst/>
          </a:prstGeom>
          <a:noFill/>
        </p:spPr>
        <p:txBody>
          <a:bodyPr wrap="square" rtlCol="0">
            <a:spAutoFit/>
          </a:bodyPr>
          <a:lstStyle/>
          <a:p>
            <a:pPr algn="ctr"/>
            <a:r>
              <a:rPr lang="en-US" sz="3600" b="1" dirty="0">
                <a:solidFill>
                  <a:schemeClr val="accent5">
                    <a:lumMod val="75000"/>
                  </a:schemeClr>
                </a:solidFill>
                <a:latin typeface="Ink Free" panose="03080402000500000000" pitchFamily="66" charset="0"/>
              </a:rPr>
              <a:t>Help!</a:t>
            </a:r>
          </a:p>
        </p:txBody>
      </p:sp>
      <p:sp>
        <p:nvSpPr>
          <p:cNvPr id="35" name="TextBox 34">
            <a:extLst>
              <a:ext uri="{FF2B5EF4-FFF2-40B4-BE49-F238E27FC236}">
                <a16:creationId xmlns:a16="http://schemas.microsoft.com/office/drawing/2014/main" id="{FA3D5FC2-5792-EFCC-1496-272CB73DA0B2}"/>
              </a:ext>
            </a:extLst>
          </p:cNvPr>
          <p:cNvSpPr txBox="1"/>
          <p:nvPr/>
        </p:nvSpPr>
        <p:spPr>
          <a:xfrm>
            <a:off x="93605" y="3732687"/>
            <a:ext cx="1895730" cy="2015936"/>
          </a:xfrm>
          <a:prstGeom prst="rect">
            <a:avLst/>
          </a:prstGeom>
          <a:noFill/>
        </p:spPr>
        <p:txBody>
          <a:bodyPr wrap="square" rtlCol="0">
            <a:spAutoFit/>
          </a:bodyPr>
          <a:lstStyle/>
          <a:p>
            <a:pPr marL="114300" indent="-114300">
              <a:buFont typeface="Arial" panose="020B0604020202020204" pitchFamily="34" charset="0"/>
              <a:buChar char="•"/>
            </a:pPr>
            <a:r>
              <a:rPr lang="en-US" sz="1100" dirty="0"/>
              <a:t>The slope of the position vs time graph is equal to the velocity</a:t>
            </a:r>
          </a:p>
          <a:p>
            <a:pPr marL="114300" indent="-114300">
              <a:buFont typeface="Arial" panose="020B0604020202020204" pitchFamily="34" charset="0"/>
              <a:buChar char="•"/>
            </a:pPr>
            <a:endParaRPr lang="en-US" sz="500" dirty="0"/>
          </a:p>
          <a:p>
            <a:pPr marL="114300" indent="-114300">
              <a:buFont typeface="Arial" panose="020B0604020202020204" pitchFamily="34" charset="0"/>
              <a:buChar char="•"/>
            </a:pPr>
            <a:r>
              <a:rPr lang="en-US" sz="1100" dirty="0"/>
              <a:t>Look at the slope of the graph near the beginning</a:t>
            </a:r>
          </a:p>
          <a:p>
            <a:pPr marL="114300" indent="-114300">
              <a:buFont typeface="Arial" panose="020B0604020202020204" pitchFamily="34" charset="0"/>
              <a:buChar char="•"/>
            </a:pPr>
            <a:endParaRPr lang="en-US" sz="500" dirty="0"/>
          </a:p>
          <a:p>
            <a:pPr marL="114300" indent="-114300">
              <a:buFont typeface="Arial" panose="020B0604020202020204" pitchFamily="34" charset="0"/>
              <a:buChar char="•"/>
            </a:pPr>
            <a:r>
              <a:rPr lang="en-US" sz="1100" dirty="0"/>
              <a:t>Look at the slope of the graph near the end</a:t>
            </a:r>
          </a:p>
          <a:p>
            <a:pPr marL="114300" indent="-114300">
              <a:buFont typeface="Arial" panose="020B0604020202020204" pitchFamily="34" charset="0"/>
              <a:buChar char="•"/>
            </a:pPr>
            <a:endParaRPr lang="en-US" sz="500" dirty="0"/>
          </a:p>
          <a:p>
            <a:pPr marL="114300" indent="-114300">
              <a:buFont typeface="Arial" panose="020B0604020202020204" pitchFamily="34" charset="0"/>
              <a:buChar char="•"/>
            </a:pPr>
            <a:r>
              <a:rPr lang="en-US" sz="1100" dirty="0"/>
              <a:t>Think about how the slope (velocity) changes over time</a:t>
            </a:r>
          </a:p>
        </p:txBody>
      </p:sp>
      <p:sp>
        <p:nvSpPr>
          <p:cNvPr id="36" name="TextBox 35">
            <a:extLst>
              <a:ext uri="{FF2B5EF4-FFF2-40B4-BE49-F238E27FC236}">
                <a16:creationId xmlns:a16="http://schemas.microsoft.com/office/drawing/2014/main" id="{8E0794BF-4F96-614C-DC78-A113D471B768}"/>
              </a:ext>
            </a:extLst>
          </p:cNvPr>
          <p:cNvSpPr txBox="1"/>
          <p:nvPr/>
        </p:nvSpPr>
        <p:spPr>
          <a:xfrm>
            <a:off x="2123608" y="3382405"/>
            <a:ext cx="1840260" cy="276999"/>
          </a:xfrm>
          <a:prstGeom prst="rect">
            <a:avLst/>
          </a:prstGeom>
          <a:noFill/>
        </p:spPr>
        <p:txBody>
          <a:bodyPr wrap="square" rtlCol="0">
            <a:spAutoFit/>
          </a:bodyPr>
          <a:lstStyle/>
          <a:p>
            <a:pPr algn="ctr"/>
            <a:r>
              <a:rPr lang="en-US" sz="1200" b="1" dirty="0">
                <a:solidFill>
                  <a:srgbClr val="0070C0"/>
                </a:solidFill>
              </a:rPr>
              <a:t>Velocity vs time graph</a:t>
            </a:r>
          </a:p>
        </p:txBody>
      </p:sp>
      <p:sp>
        <p:nvSpPr>
          <p:cNvPr id="38" name="TextBox 37">
            <a:extLst>
              <a:ext uri="{FF2B5EF4-FFF2-40B4-BE49-F238E27FC236}">
                <a16:creationId xmlns:a16="http://schemas.microsoft.com/office/drawing/2014/main" id="{1CE5C821-378A-2280-B031-6E92CD7BA16E}"/>
              </a:ext>
            </a:extLst>
          </p:cNvPr>
          <p:cNvSpPr txBox="1"/>
          <p:nvPr/>
        </p:nvSpPr>
        <p:spPr>
          <a:xfrm>
            <a:off x="2096830" y="3704112"/>
            <a:ext cx="1988286" cy="2015936"/>
          </a:xfrm>
          <a:prstGeom prst="rect">
            <a:avLst/>
          </a:prstGeom>
          <a:noFill/>
        </p:spPr>
        <p:txBody>
          <a:bodyPr wrap="square" rtlCol="0">
            <a:spAutoFit/>
          </a:bodyPr>
          <a:lstStyle/>
          <a:p>
            <a:pPr marL="114300" indent="-114300">
              <a:buFont typeface="Arial" panose="020B0604020202020204" pitchFamily="34" charset="0"/>
              <a:buChar char="•"/>
            </a:pPr>
            <a:r>
              <a:rPr lang="en-US" sz="1100" dirty="0"/>
              <a:t>The slope of the velocity vs time graph is equal to the acceleration</a:t>
            </a:r>
          </a:p>
          <a:p>
            <a:pPr marL="114300" indent="-114300">
              <a:buFont typeface="Arial" panose="020B0604020202020204" pitchFamily="34" charset="0"/>
              <a:buChar char="•"/>
            </a:pPr>
            <a:endParaRPr lang="en-US" sz="500" dirty="0"/>
          </a:p>
          <a:p>
            <a:pPr marL="114300" indent="-114300">
              <a:buFont typeface="Arial" panose="020B0604020202020204" pitchFamily="34" charset="0"/>
              <a:buChar char="•"/>
            </a:pPr>
            <a:r>
              <a:rPr lang="en-US" sz="1100" dirty="0"/>
              <a:t>Look at the slope of the graph near the beginning</a:t>
            </a:r>
          </a:p>
          <a:p>
            <a:pPr marL="114300" indent="-114300">
              <a:buFont typeface="Arial" panose="020B0604020202020204" pitchFamily="34" charset="0"/>
              <a:buChar char="•"/>
            </a:pPr>
            <a:endParaRPr lang="en-US" sz="500" dirty="0"/>
          </a:p>
          <a:p>
            <a:pPr marL="114300" indent="-114300">
              <a:buFont typeface="Arial" panose="020B0604020202020204" pitchFamily="34" charset="0"/>
              <a:buChar char="•"/>
            </a:pPr>
            <a:r>
              <a:rPr lang="en-US" sz="1100" dirty="0"/>
              <a:t>Look at the slope of the graph near the end</a:t>
            </a:r>
          </a:p>
          <a:p>
            <a:pPr marL="114300" indent="-114300">
              <a:buFont typeface="Arial" panose="020B0604020202020204" pitchFamily="34" charset="0"/>
              <a:buChar char="•"/>
            </a:pPr>
            <a:endParaRPr lang="en-US" sz="500" dirty="0"/>
          </a:p>
          <a:p>
            <a:pPr marL="114300" indent="-114300">
              <a:buFont typeface="Arial" panose="020B0604020202020204" pitchFamily="34" charset="0"/>
              <a:buChar char="•"/>
            </a:pPr>
            <a:r>
              <a:rPr lang="en-US" sz="1100" dirty="0"/>
              <a:t>Think about how the slope (acceleration) changes over time</a:t>
            </a:r>
          </a:p>
        </p:txBody>
      </p:sp>
      <p:sp>
        <p:nvSpPr>
          <p:cNvPr id="46" name="TextBox 45">
            <a:extLst>
              <a:ext uri="{FF2B5EF4-FFF2-40B4-BE49-F238E27FC236}">
                <a16:creationId xmlns:a16="http://schemas.microsoft.com/office/drawing/2014/main" id="{2C02B514-FCAC-FEF4-C38C-51D765B5C1D7}"/>
              </a:ext>
            </a:extLst>
          </p:cNvPr>
          <p:cNvSpPr txBox="1"/>
          <p:nvPr/>
        </p:nvSpPr>
        <p:spPr>
          <a:xfrm>
            <a:off x="4184253" y="3391785"/>
            <a:ext cx="2169168" cy="276999"/>
          </a:xfrm>
          <a:prstGeom prst="rect">
            <a:avLst/>
          </a:prstGeom>
          <a:noFill/>
        </p:spPr>
        <p:txBody>
          <a:bodyPr wrap="square" rtlCol="0">
            <a:spAutoFit/>
          </a:bodyPr>
          <a:lstStyle/>
          <a:p>
            <a:pPr algn="ctr"/>
            <a:r>
              <a:rPr lang="en-US" sz="1200" b="1" dirty="0">
                <a:solidFill>
                  <a:srgbClr val="0070C0"/>
                </a:solidFill>
              </a:rPr>
              <a:t>Acceleration vs time graph</a:t>
            </a:r>
          </a:p>
        </p:txBody>
      </p:sp>
      <p:sp>
        <p:nvSpPr>
          <p:cNvPr id="74" name="TextBox 73">
            <a:extLst>
              <a:ext uri="{FF2B5EF4-FFF2-40B4-BE49-F238E27FC236}">
                <a16:creationId xmlns:a16="http://schemas.microsoft.com/office/drawing/2014/main" id="{3FD158CA-794F-EF21-C5DE-099D072001F3}"/>
              </a:ext>
            </a:extLst>
          </p:cNvPr>
          <p:cNvSpPr txBox="1"/>
          <p:nvPr/>
        </p:nvSpPr>
        <p:spPr>
          <a:xfrm>
            <a:off x="4196166" y="3713492"/>
            <a:ext cx="2016553" cy="1938992"/>
          </a:xfrm>
          <a:prstGeom prst="rect">
            <a:avLst/>
          </a:prstGeom>
          <a:noFill/>
        </p:spPr>
        <p:txBody>
          <a:bodyPr wrap="square" rtlCol="0">
            <a:spAutoFit/>
          </a:bodyPr>
          <a:lstStyle/>
          <a:p>
            <a:pPr marL="114300" indent="-114300">
              <a:buFont typeface="Arial" panose="020B0604020202020204" pitchFamily="34" charset="0"/>
              <a:buChar char="•"/>
            </a:pPr>
            <a:r>
              <a:rPr lang="en-US" sz="1100" dirty="0"/>
              <a:t>Are the values of acceleration positive, negative, or zero?</a:t>
            </a:r>
          </a:p>
          <a:p>
            <a:pPr marL="114300" indent="-114300">
              <a:buFont typeface="Arial" panose="020B0604020202020204" pitchFamily="34" charset="0"/>
              <a:buChar char="•"/>
            </a:pPr>
            <a:endParaRPr lang="en-US" sz="500" dirty="0"/>
          </a:p>
          <a:p>
            <a:pPr marL="114300" indent="-114300">
              <a:buFont typeface="Arial" panose="020B0604020202020204" pitchFamily="34" charset="0"/>
              <a:buChar char="•"/>
            </a:pPr>
            <a:r>
              <a:rPr lang="en-US" sz="1100" dirty="0"/>
              <a:t>The sign of the acceleration does not tell you if the object is speeding up or slowing down</a:t>
            </a:r>
          </a:p>
          <a:p>
            <a:pPr marL="114300" indent="-114300">
              <a:buFont typeface="Arial" panose="020B0604020202020204" pitchFamily="34" charset="0"/>
              <a:buChar char="•"/>
            </a:pPr>
            <a:endParaRPr lang="en-US" sz="500" dirty="0"/>
          </a:p>
          <a:p>
            <a:pPr marL="114300" indent="-114300">
              <a:buFont typeface="Arial" panose="020B0604020202020204" pitchFamily="34" charset="0"/>
              <a:buChar char="•"/>
            </a:pPr>
            <a:r>
              <a:rPr lang="en-US" sz="1100" dirty="0"/>
              <a:t>The direction of acceleration and the direction of net force are always the same</a:t>
            </a:r>
          </a:p>
        </p:txBody>
      </p:sp>
      <p:sp>
        <p:nvSpPr>
          <p:cNvPr id="75" name="TextBox 74">
            <a:extLst>
              <a:ext uri="{FF2B5EF4-FFF2-40B4-BE49-F238E27FC236}">
                <a16:creationId xmlns:a16="http://schemas.microsoft.com/office/drawing/2014/main" id="{BFFDC557-2E00-D9A0-CC3B-D2677C440ED8}"/>
              </a:ext>
            </a:extLst>
          </p:cNvPr>
          <p:cNvSpPr txBox="1"/>
          <p:nvPr/>
        </p:nvSpPr>
        <p:spPr>
          <a:xfrm>
            <a:off x="6289505" y="435185"/>
            <a:ext cx="2025052" cy="276999"/>
          </a:xfrm>
          <a:prstGeom prst="rect">
            <a:avLst/>
          </a:prstGeom>
          <a:noFill/>
        </p:spPr>
        <p:txBody>
          <a:bodyPr wrap="square" rtlCol="0">
            <a:spAutoFit/>
          </a:bodyPr>
          <a:lstStyle/>
          <a:p>
            <a:pPr algn="ctr"/>
            <a:r>
              <a:rPr lang="en-US" sz="1200" b="1" dirty="0">
                <a:solidFill>
                  <a:srgbClr val="0070C0"/>
                </a:solidFill>
              </a:rPr>
              <a:t>Acceleration and Velocity</a:t>
            </a:r>
          </a:p>
        </p:txBody>
      </p:sp>
      <p:sp>
        <p:nvSpPr>
          <p:cNvPr id="77" name="TextBox 76">
            <a:extLst>
              <a:ext uri="{FF2B5EF4-FFF2-40B4-BE49-F238E27FC236}">
                <a16:creationId xmlns:a16="http://schemas.microsoft.com/office/drawing/2014/main" id="{1E5FBAEC-6B87-257B-8B31-F881F406D609}"/>
              </a:ext>
            </a:extLst>
          </p:cNvPr>
          <p:cNvSpPr txBox="1"/>
          <p:nvPr/>
        </p:nvSpPr>
        <p:spPr>
          <a:xfrm>
            <a:off x="6301418" y="766417"/>
            <a:ext cx="2012042" cy="1862048"/>
          </a:xfrm>
          <a:prstGeom prst="rect">
            <a:avLst/>
          </a:prstGeom>
          <a:noFill/>
        </p:spPr>
        <p:txBody>
          <a:bodyPr wrap="square" rtlCol="0">
            <a:spAutoFit/>
          </a:bodyPr>
          <a:lstStyle/>
          <a:p>
            <a:pPr marL="114300" indent="-114300">
              <a:buFont typeface="Arial" panose="020B0604020202020204" pitchFamily="34" charset="0"/>
              <a:buChar char="•"/>
            </a:pPr>
            <a:r>
              <a:rPr lang="en-US" sz="1100" dirty="0"/>
              <a:t>When velocity and acceleration are in the same direction (and have the same sign), the object is speeding up</a:t>
            </a:r>
          </a:p>
          <a:p>
            <a:pPr marL="114300" indent="-114300">
              <a:buFont typeface="Arial" panose="020B0604020202020204" pitchFamily="34" charset="0"/>
              <a:buChar char="•"/>
            </a:pPr>
            <a:endParaRPr lang="en-US" sz="500" dirty="0"/>
          </a:p>
          <a:p>
            <a:pPr marL="114300" indent="-114300">
              <a:buFont typeface="Arial" panose="020B0604020202020204" pitchFamily="34" charset="0"/>
              <a:buChar char="•"/>
            </a:pPr>
            <a:r>
              <a:rPr lang="en-US" sz="1100" dirty="0"/>
              <a:t>When velocity and acceleration are in opposite directions (and have opposite signs), the object is slowing down</a:t>
            </a:r>
          </a:p>
        </p:txBody>
      </p:sp>
      <p:sp>
        <p:nvSpPr>
          <p:cNvPr id="81" name="TextBox 80">
            <a:extLst>
              <a:ext uri="{FF2B5EF4-FFF2-40B4-BE49-F238E27FC236}">
                <a16:creationId xmlns:a16="http://schemas.microsoft.com/office/drawing/2014/main" id="{C25DB3C3-4770-B3A3-11DD-EB6B4F385427}"/>
              </a:ext>
            </a:extLst>
          </p:cNvPr>
          <p:cNvSpPr txBox="1"/>
          <p:nvPr/>
        </p:nvSpPr>
        <p:spPr>
          <a:xfrm>
            <a:off x="6356713" y="3398003"/>
            <a:ext cx="1840260" cy="276999"/>
          </a:xfrm>
          <a:prstGeom prst="rect">
            <a:avLst/>
          </a:prstGeom>
          <a:noFill/>
        </p:spPr>
        <p:txBody>
          <a:bodyPr wrap="square" rtlCol="0">
            <a:spAutoFit/>
          </a:bodyPr>
          <a:lstStyle/>
          <a:p>
            <a:pPr algn="ctr"/>
            <a:r>
              <a:rPr lang="en-US" sz="1200" b="1" dirty="0">
                <a:solidFill>
                  <a:srgbClr val="0070C0"/>
                </a:solidFill>
              </a:rPr>
              <a:t>Free Body Diagrams</a:t>
            </a:r>
          </a:p>
        </p:txBody>
      </p:sp>
      <p:sp>
        <p:nvSpPr>
          <p:cNvPr id="83" name="TextBox 82">
            <a:extLst>
              <a:ext uri="{FF2B5EF4-FFF2-40B4-BE49-F238E27FC236}">
                <a16:creationId xmlns:a16="http://schemas.microsoft.com/office/drawing/2014/main" id="{FD453623-D4CA-1C89-2F88-A48D015E274A}"/>
              </a:ext>
            </a:extLst>
          </p:cNvPr>
          <p:cNvSpPr txBox="1"/>
          <p:nvPr/>
        </p:nvSpPr>
        <p:spPr>
          <a:xfrm>
            <a:off x="6356713" y="3750001"/>
            <a:ext cx="1988286" cy="1938992"/>
          </a:xfrm>
          <a:prstGeom prst="rect">
            <a:avLst/>
          </a:prstGeom>
          <a:noFill/>
        </p:spPr>
        <p:txBody>
          <a:bodyPr wrap="square" rtlCol="0">
            <a:spAutoFit/>
          </a:bodyPr>
          <a:lstStyle/>
          <a:p>
            <a:r>
              <a:rPr lang="en-US" sz="1100" dirty="0"/>
              <a:t>Newton’s 1</a:t>
            </a:r>
            <a:r>
              <a:rPr lang="en-US" sz="1100" baseline="30000" dirty="0"/>
              <a:t>st</a:t>
            </a:r>
            <a:r>
              <a:rPr lang="en-US" sz="1100" dirty="0"/>
              <a:t> Law:</a:t>
            </a:r>
          </a:p>
          <a:p>
            <a:pPr marL="114300" indent="-114300">
              <a:buFont typeface="Arial" panose="020B0604020202020204" pitchFamily="34" charset="0"/>
              <a:buChar char="•"/>
            </a:pPr>
            <a:endParaRPr lang="en-US" sz="700" dirty="0"/>
          </a:p>
          <a:p>
            <a:pPr marL="114300" indent="-114300">
              <a:buFont typeface="Arial" panose="020B0604020202020204" pitchFamily="34" charset="0"/>
              <a:buChar char="•"/>
            </a:pPr>
            <a:r>
              <a:rPr lang="en-US" sz="1100" dirty="0"/>
              <a:t>When net force is zero, the velocity is constant</a:t>
            </a:r>
          </a:p>
          <a:p>
            <a:pPr marL="114300" indent="-114300">
              <a:buFont typeface="Arial" panose="020B0604020202020204" pitchFamily="34" charset="0"/>
              <a:buChar char="•"/>
            </a:pPr>
            <a:endParaRPr lang="en-US" sz="700" dirty="0"/>
          </a:p>
          <a:p>
            <a:pPr marL="114300" indent="-114300">
              <a:buFont typeface="Arial" panose="020B0604020202020204" pitchFamily="34" charset="0"/>
              <a:buChar char="•"/>
            </a:pPr>
            <a:r>
              <a:rPr lang="en-US" sz="1100" dirty="0"/>
              <a:t>When net force is not zero, the velocity is changing</a:t>
            </a:r>
          </a:p>
          <a:p>
            <a:pPr marL="114300" indent="-114300">
              <a:buFont typeface="Arial" panose="020B0604020202020204" pitchFamily="34" charset="0"/>
              <a:buChar char="•"/>
            </a:pPr>
            <a:endParaRPr lang="en-US" sz="700" dirty="0"/>
          </a:p>
          <a:p>
            <a:r>
              <a:rPr lang="en-US" sz="1100" dirty="0"/>
              <a:t>Newton’s 2</a:t>
            </a:r>
            <a:r>
              <a:rPr lang="en-US" sz="1100" baseline="30000" dirty="0"/>
              <a:t>nd</a:t>
            </a:r>
            <a:r>
              <a:rPr lang="en-US" sz="1100" dirty="0"/>
              <a:t> Law: The direction of acceleration and the direction of net force are always the same</a:t>
            </a:r>
          </a:p>
        </p:txBody>
      </p:sp>
      <p:sp>
        <p:nvSpPr>
          <p:cNvPr id="7" name="TextBox 6">
            <a:extLst>
              <a:ext uri="{FF2B5EF4-FFF2-40B4-BE49-F238E27FC236}">
                <a16:creationId xmlns:a16="http://schemas.microsoft.com/office/drawing/2014/main" id="{EF69523F-ECC4-078A-4FB6-ADE1706BDAAD}"/>
              </a:ext>
            </a:extLst>
          </p:cNvPr>
          <p:cNvSpPr txBox="1"/>
          <p:nvPr/>
        </p:nvSpPr>
        <p:spPr>
          <a:xfrm>
            <a:off x="2186748" y="389341"/>
            <a:ext cx="2007676" cy="276999"/>
          </a:xfrm>
          <a:prstGeom prst="rect">
            <a:avLst/>
          </a:prstGeom>
          <a:noFill/>
        </p:spPr>
        <p:txBody>
          <a:bodyPr wrap="square" rtlCol="0">
            <a:spAutoFit/>
          </a:bodyPr>
          <a:lstStyle/>
          <a:p>
            <a:pPr algn="ctr"/>
            <a:r>
              <a:rPr lang="en-US" sz="1200" b="1" dirty="0">
                <a:solidFill>
                  <a:srgbClr val="0070C0"/>
                </a:solidFill>
              </a:rPr>
              <a:t>Motion Diagrams</a:t>
            </a:r>
          </a:p>
        </p:txBody>
      </p:sp>
      <p:sp>
        <p:nvSpPr>
          <p:cNvPr id="8" name="TextBox 7">
            <a:extLst>
              <a:ext uri="{FF2B5EF4-FFF2-40B4-BE49-F238E27FC236}">
                <a16:creationId xmlns:a16="http://schemas.microsoft.com/office/drawing/2014/main" id="{00651529-4A73-3E90-6448-9BE8B161A35E}"/>
              </a:ext>
            </a:extLst>
          </p:cNvPr>
          <p:cNvSpPr txBox="1"/>
          <p:nvPr/>
        </p:nvSpPr>
        <p:spPr>
          <a:xfrm>
            <a:off x="2159970" y="695173"/>
            <a:ext cx="1958740" cy="2015936"/>
          </a:xfrm>
          <a:prstGeom prst="rect">
            <a:avLst/>
          </a:prstGeom>
          <a:noFill/>
        </p:spPr>
        <p:txBody>
          <a:bodyPr wrap="square" rtlCol="0">
            <a:spAutoFit/>
          </a:bodyPr>
          <a:lstStyle/>
          <a:p>
            <a:pPr marL="114300" indent="-114300">
              <a:buFont typeface="Arial" panose="020B0604020202020204" pitchFamily="34" charset="0"/>
              <a:buChar char="•"/>
            </a:pPr>
            <a:r>
              <a:rPr lang="en-US" sz="1100" dirty="0"/>
              <a:t>The dots are always equally amounts of time apart</a:t>
            </a:r>
          </a:p>
          <a:p>
            <a:pPr marL="114300" indent="-114300">
              <a:buFont typeface="Arial" panose="020B0604020202020204" pitchFamily="34" charset="0"/>
              <a:buChar char="•"/>
            </a:pPr>
            <a:endParaRPr lang="en-US" sz="500" dirty="0"/>
          </a:p>
          <a:p>
            <a:pPr marL="114300" indent="-114300">
              <a:buFont typeface="Arial" panose="020B0604020202020204" pitchFamily="34" charset="0"/>
              <a:buChar char="•"/>
            </a:pPr>
            <a:r>
              <a:rPr lang="en-US" sz="1100" dirty="0"/>
              <a:t>Use the numbers to determine which direction the object is going</a:t>
            </a:r>
          </a:p>
          <a:p>
            <a:pPr marL="114300" indent="-114300">
              <a:buFont typeface="Arial" panose="020B0604020202020204" pitchFamily="34" charset="0"/>
              <a:buChar char="•"/>
            </a:pPr>
            <a:endParaRPr lang="en-US" sz="500" dirty="0"/>
          </a:p>
          <a:p>
            <a:pPr marL="114300" indent="-114300">
              <a:buFont typeface="Arial" panose="020B0604020202020204" pitchFamily="34" charset="0"/>
              <a:buChar char="•"/>
            </a:pPr>
            <a:r>
              <a:rPr lang="en-US" sz="1100" dirty="0"/>
              <a:t>Look at the spacing of the first two dots and the last two dots</a:t>
            </a:r>
          </a:p>
          <a:p>
            <a:pPr marL="114300" indent="-114300">
              <a:buFont typeface="Arial" panose="020B0604020202020204" pitchFamily="34" charset="0"/>
              <a:buChar char="•"/>
            </a:pPr>
            <a:endParaRPr lang="en-US" sz="500" dirty="0"/>
          </a:p>
          <a:p>
            <a:pPr marL="114300" indent="-114300">
              <a:buFont typeface="Arial" panose="020B0604020202020204" pitchFamily="34" charset="0"/>
              <a:buChar char="•"/>
            </a:pPr>
            <a:r>
              <a:rPr lang="en-US" sz="1100" dirty="0"/>
              <a:t>Think about how the speed is changing (or not)</a:t>
            </a:r>
          </a:p>
        </p:txBody>
      </p:sp>
      <p:sp>
        <p:nvSpPr>
          <p:cNvPr id="15" name="Rectangle 14">
            <a:extLst>
              <a:ext uri="{FF2B5EF4-FFF2-40B4-BE49-F238E27FC236}">
                <a16:creationId xmlns:a16="http://schemas.microsoft.com/office/drawing/2014/main" id="{5F7E6F7D-7A3E-BDF3-B8C3-5DFA4EDE134F}"/>
              </a:ext>
            </a:extLst>
          </p:cNvPr>
          <p:cNvSpPr/>
          <p:nvPr/>
        </p:nvSpPr>
        <p:spPr>
          <a:xfrm>
            <a:off x="6226082" y="2955663"/>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6" name="TextBox 15">
            <a:extLst>
              <a:ext uri="{FF2B5EF4-FFF2-40B4-BE49-F238E27FC236}">
                <a16:creationId xmlns:a16="http://schemas.microsoft.com/office/drawing/2014/main" id="{91E93AC9-AC6A-D265-AB93-7C6D7DDFDEA6}"/>
              </a:ext>
            </a:extLst>
          </p:cNvPr>
          <p:cNvSpPr txBox="1"/>
          <p:nvPr/>
        </p:nvSpPr>
        <p:spPr>
          <a:xfrm>
            <a:off x="4203588" y="435185"/>
            <a:ext cx="2025052" cy="276999"/>
          </a:xfrm>
          <a:prstGeom prst="rect">
            <a:avLst/>
          </a:prstGeom>
          <a:noFill/>
        </p:spPr>
        <p:txBody>
          <a:bodyPr wrap="square" rtlCol="0">
            <a:spAutoFit/>
          </a:bodyPr>
          <a:lstStyle/>
          <a:p>
            <a:pPr algn="ctr"/>
            <a:r>
              <a:rPr lang="en-US" sz="1200" b="1" dirty="0">
                <a:solidFill>
                  <a:srgbClr val="0070C0"/>
                </a:solidFill>
              </a:rPr>
              <a:t>Velocity</a:t>
            </a:r>
          </a:p>
        </p:txBody>
      </p:sp>
      <p:sp>
        <p:nvSpPr>
          <p:cNvPr id="17" name="TextBox 16">
            <a:extLst>
              <a:ext uri="{FF2B5EF4-FFF2-40B4-BE49-F238E27FC236}">
                <a16:creationId xmlns:a16="http://schemas.microsoft.com/office/drawing/2014/main" id="{3B0E0CF5-A274-ABC1-8353-2C3D59169CDF}"/>
              </a:ext>
            </a:extLst>
          </p:cNvPr>
          <p:cNvSpPr txBox="1"/>
          <p:nvPr/>
        </p:nvSpPr>
        <p:spPr>
          <a:xfrm>
            <a:off x="4215501" y="766417"/>
            <a:ext cx="2012042" cy="1184940"/>
          </a:xfrm>
          <a:prstGeom prst="rect">
            <a:avLst/>
          </a:prstGeom>
          <a:noFill/>
        </p:spPr>
        <p:txBody>
          <a:bodyPr wrap="square" rtlCol="0">
            <a:spAutoFit/>
          </a:bodyPr>
          <a:lstStyle/>
          <a:p>
            <a:pPr marL="114300" indent="-114300">
              <a:buFont typeface="Arial" panose="020B0604020202020204" pitchFamily="34" charset="0"/>
              <a:buChar char="•"/>
            </a:pPr>
            <a:r>
              <a:rPr lang="en-US" sz="1100" dirty="0"/>
              <a:t>When an object moves in the positive direction, the velocity is positive</a:t>
            </a:r>
          </a:p>
          <a:p>
            <a:pPr marL="114300" indent="-114300">
              <a:buFont typeface="Arial" panose="020B0604020202020204" pitchFamily="34" charset="0"/>
              <a:buChar char="•"/>
            </a:pPr>
            <a:endParaRPr lang="en-US" sz="500" dirty="0"/>
          </a:p>
          <a:p>
            <a:pPr marL="114300" indent="-114300">
              <a:buFont typeface="Arial" panose="020B0604020202020204" pitchFamily="34" charset="0"/>
              <a:buChar char="•"/>
            </a:pPr>
            <a:r>
              <a:rPr lang="en-US" sz="1100" dirty="0"/>
              <a:t>When an object moves in the negative direction, the velocity is negative</a:t>
            </a:r>
          </a:p>
        </p:txBody>
      </p:sp>
      <p:sp>
        <p:nvSpPr>
          <p:cNvPr id="19" name="TextBox 18">
            <a:extLst>
              <a:ext uri="{FF2B5EF4-FFF2-40B4-BE49-F238E27FC236}">
                <a16:creationId xmlns:a16="http://schemas.microsoft.com/office/drawing/2014/main" id="{0BBF5D3A-EDAD-AB29-B3C7-91490D56C312}"/>
              </a:ext>
            </a:extLst>
          </p:cNvPr>
          <p:cNvSpPr txBox="1"/>
          <p:nvPr/>
        </p:nvSpPr>
        <p:spPr>
          <a:xfrm>
            <a:off x="483058" y="1717436"/>
            <a:ext cx="1958740" cy="261610"/>
          </a:xfrm>
          <a:prstGeom prst="rect">
            <a:avLst/>
          </a:prstGeom>
          <a:noFill/>
        </p:spPr>
        <p:txBody>
          <a:bodyPr wrap="square" rtlCol="0">
            <a:spAutoFit/>
          </a:bodyPr>
          <a:lstStyle/>
          <a:p>
            <a:r>
              <a:rPr lang="en-US" sz="1100" dirty="0"/>
              <a:t>Reference guide</a:t>
            </a:r>
          </a:p>
        </p:txBody>
      </p:sp>
    </p:spTree>
    <p:extLst>
      <p:ext uri="{BB962C8B-B14F-4D97-AF65-F5344CB8AC3E}">
        <p14:creationId xmlns:p14="http://schemas.microsoft.com/office/powerpoint/2010/main" val="557448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6C071-F05D-0AE7-2FEF-BD641C7E193E}"/>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36734214-DC8C-B938-9B54-83F60FACDAD2}"/>
              </a:ext>
            </a:extLst>
          </p:cNvPr>
          <p:cNvSpPr/>
          <p:nvPr/>
        </p:nvSpPr>
        <p:spPr>
          <a:xfrm>
            <a:off x="9560"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cxnSp>
        <p:nvCxnSpPr>
          <p:cNvPr id="21" name="Straight Connector 20">
            <a:extLst>
              <a:ext uri="{FF2B5EF4-FFF2-40B4-BE49-F238E27FC236}">
                <a16:creationId xmlns:a16="http://schemas.microsoft.com/office/drawing/2014/main" id="{B50FFEEB-1225-1A9A-C9D9-EA5AC1262582}"/>
              </a:ext>
            </a:extLst>
          </p:cNvPr>
          <p:cNvCxnSpPr/>
          <p:nvPr/>
        </p:nvCxnSpPr>
        <p:spPr>
          <a:xfrm>
            <a:off x="-4482928" y="99168"/>
            <a:ext cx="0" cy="2683566"/>
          </a:xfrm>
          <a:prstGeom prst="line">
            <a:avLst/>
          </a:prstGeom>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B642643E-44F2-BA55-A99B-6EBCD3B8B121}"/>
              </a:ext>
            </a:extLst>
          </p:cNvPr>
          <p:cNvSpPr/>
          <p:nvPr/>
        </p:nvSpPr>
        <p:spPr>
          <a:xfrm>
            <a:off x="2079956" y="-9848"/>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0" name="Rectangle 29">
            <a:extLst>
              <a:ext uri="{FF2B5EF4-FFF2-40B4-BE49-F238E27FC236}">
                <a16:creationId xmlns:a16="http://schemas.microsoft.com/office/drawing/2014/main" id="{65522D2A-5C5B-5FE3-DAB8-66AD7F07D499}"/>
              </a:ext>
            </a:extLst>
          </p:cNvPr>
          <p:cNvSpPr/>
          <p:nvPr/>
        </p:nvSpPr>
        <p:spPr>
          <a:xfrm>
            <a:off x="9560"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3" name="Rectangle 42">
            <a:extLst>
              <a:ext uri="{FF2B5EF4-FFF2-40B4-BE49-F238E27FC236}">
                <a16:creationId xmlns:a16="http://schemas.microsoft.com/office/drawing/2014/main" id="{7BDF35C7-23C5-82DA-BDC9-2796868FA21B}"/>
              </a:ext>
            </a:extLst>
          </p:cNvPr>
          <p:cNvSpPr/>
          <p:nvPr/>
        </p:nvSpPr>
        <p:spPr>
          <a:xfrm>
            <a:off x="2079956" y="2953424"/>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57" name="Diagonal Stripe 56">
            <a:extLst>
              <a:ext uri="{FF2B5EF4-FFF2-40B4-BE49-F238E27FC236}">
                <a16:creationId xmlns:a16="http://schemas.microsoft.com/office/drawing/2014/main" id="{CA8B134B-315E-EB99-E1BD-9BF30D35E0A9}"/>
              </a:ext>
            </a:extLst>
          </p:cNvPr>
          <p:cNvSpPr/>
          <p:nvPr/>
        </p:nvSpPr>
        <p:spPr>
          <a:xfrm>
            <a:off x="7133" y="12531"/>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8" name="Diagonal Stripe 57">
            <a:extLst>
              <a:ext uri="{FF2B5EF4-FFF2-40B4-BE49-F238E27FC236}">
                <a16:creationId xmlns:a16="http://schemas.microsoft.com/office/drawing/2014/main" id="{280795F9-C663-712A-2305-70A94B1FBC4E}"/>
              </a:ext>
            </a:extLst>
          </p:cNvPr>
          <p:cNvSpPr/>
          <p:nvPr/>
        </p:nvSpPr>
        <p:spPr>
          <a:xfrm>
            <a:off x="2093961" y="0"/>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9" name="Diagonal Stripe 58">
            <a:extLst>
              <a:ext uri="{FF2B5EF4-FFF2-40B4-BE49-F238E27FC236}">
                <a16:creationId xmlns:a16="http://schemas.microsoft.com/office/drawing/2014/main" id="{7843D3E9-5537-BA87-A04E-D52EF5A7C81E}"/>
              </a:ext>
            </a:extLst>
          </p:cNvPr>
          <p:cNvSpPr/>
          <p:nvPr/>
        </p:nvSpPr>
        <p:spPr>
          <a:xfrm rot="10800000">
            <a:off x="1496702" y="2367056"/>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Diagonal Stripe 59">
            <a:extLst>
              <a:ext uri="{FF2B5EF4-FFF2-40B4-BE49-F238E27FC236}">
                <a16:creationId xmlns:a16="http://schemas.microsoft.com/office/drawing/2014/main" id="{6CC24874-E7DF-5E43-EFBE-AED9A2DB3C7B}"/>
              </a:ext>
            </a:extLst>
          </p:cNvPr>
          <p:cNvSpPr/>
          <p:nvPr/>
        </p:nvSpPr>
        <p:spPr>
          <a:xfrm rot="10800000">
            <a:off x="3563883" y="2367056"/>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5" name="Diagonal Stripe 64">
            <a:extLst>
              <a:ext uri="{FF2B5EF4-FFF2-40B4-BE49-F238E27FC236}">
                <a16:creationId xmlns:a16="http://schemas.microsoft.com/office/drawing/2014/main" id="{6126C751-116C-8707-591D-31C33200896B}"/>
              </a:ext>
            </a:extLst>
          </p:cNvPr>
          <p:cNvSpPr/>
          <p:nvPr/>
        </p:nvSpPr>
        <p:spPr>
          <a:xfrm>
            <a:off x="7133" y="2965955"/>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6" name="Diagonal Stripe 65">
            <a:extLst>
              <a:ext uri="{FF2B5EF4-FFF2-40B4-BE49-F238E27FC236}">
                <a16:creationId xmlns:a16="http://schemas.microsoft.com/office/drawing/2014/main" id="{1EFB19CB-A412-6B35-2E9D-6C8B8D546706}"/>
              </a:ext>
            </a:extLst>
          </p:cNvPr>
          <p:cNvSpPr/>
          <p:nvPr/>
        </p:nvSpPr>
        <p:spPr>
          <a:xfrm>
            <a:off x="2093961" y="2953424"/>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9" name="Diagonal Stripe 68">
            <a:extLst>
              <a:ext uri="{FF2B5EF4-FFF2-40B4-BE49-F238E27FC236}">
                <a16:creationId xmlns:a16="http://schemas.microsoft.com/office/drawing/2014/main" id="{801FEF98-4171-8BBD-F187-4AA7EA763B86}"/>
              </a:ext>
            </a:extLst>
          </p:cNvPr>
          <p:cNvSpPr/>
          <p:nvPr/>
        </p:nvSpPr>
        <p:spPr>
          <a:xfrm rot="10800000">
            <a:off x="1496702" y="5339244"/>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0" name="Diagonal Stripe 69">
            <a:extLst>
              <a:ext uri="{FF2B5EF4-FFF2-40B4-BE49-F238E27FC236}">
                <a16:creationId xmlns:a16="http://schemas.microsoft.com/office/drawing/2014/main" id="{B992B829-3B57-A47C-0AF1-52F240EDD964}"/>
              </a:ext>
            </a:extLst>
          </p:cNvPr>
          <p:cNvSpPr/>
          <p:nvPr/>
        </p:nvSpPr>
        <p:spPr>
          <a:xfrm rot="10800000">
            <a:off x="3563883" y="5339244"/>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EFF63C0F-5285-8074-08AA-16216DF560A2}"/>
              </a:ext>
            </a:extLst>
          </p:cNvPr>
          <p:cNvSpPr txBox="1"/>
          <p:nvPr/>
        </p:nvSpPr>
        <p:spPr>
          <a:xfrm>
            <a:off x="303034" y="6324206"/>
            <a:ext cx="1537600" cy="261610"/>
          </a:xfrm>
          <a:prstGeom prst="rect">
            <a:avLst/>
          </a:prstGeom>
          <a:noFill/>
        </p:spPr>
        <p:txBody>
          <a:bodyPr wrap="none" rtlCol="0">
            <a:spAutoFit/>
          </a:bodyPr>
          <a:lstStyle/>
          <a:p>
            <a:r>
              <a:rPr lang="en-US" sz="1100" dirty="0"/>
              <a:t>Rules Summary Cards</a:t>
            </a:r>
          </a:p>
        </p:txBody>
      </p:sp>
      <p:sp>
        <p:nvSpPr>
          <p:cNvPr id="5" name="TextBox 4">
            <a:extLst>
              <a:ext uri="{FF2B5EF4-FFF2-40B4-BE49-F238E27FC236}">
                <a16:creationId xmlns:a16="http://schemas.microsoft.com/office/drawing/2014/main" id="{E60EFDBD-D5FB-9AED-77BB-3EF4ED000495}"/>
              </a:ext>
            </a:extLst>
          </p:cNvPr>
          <p:cNvSpPr txBox="1"/>
          <p:nvPr/>
        </p:nvSpPr>
        <p:spPr>
          <a:xfrm>
            <a:off x="87303" y="3143857"/>
            <a:ext cx="2007676" cy="276999"/>
          </a:xfrm>
          <a:prstGeom prst="rect">
            <a:avLst/>
          </a:prstGeom>
          <a:noFill/>
        </p:spPr>
        <p:txBody>
          <a:bodyPr wrap="square" rtlCol="0">
            <a:spAutoFit/>
          </a:bodyPr>
          <a:lstStyle/>
          <a:p>
            <a:pPr algn="ctr"/>
            <a:r>
              <a:rPr lang="en-US" sz="1200" b="1" dirty="0">
                <a:cs typeface="Arial" panose="020B0604020202020204" pitchFamily="34" charset="0"/>
              </a:rPr>
              <a:t>Rules Summary</a:t>
            </a:r>
          </a:p>
        </p:txBody>
      </p:sp>
      <p:sp>
        <p:nvSpPr>
          <p:cNvPr id="15" name="TextBox 14">
            <a:extLst>
              <a:ext uri="{FF2B5EF4-FFF2-40B4-BE49-F238E27FC236}">
                <a16:creationId xmlns:a16="http://schemas.microsoft.com/office/drawing/2014/main" id="{8C27851C-8215-CBC6-4D67-AB8ED43EA638}"/>
              </a:ext>
            </a:extLst>
          </p:cNvPr>
          <p:cNvSpPr txBox="1"/>
          <p:nvPr/>
        </p:nvSpPr>
        <p:spPr>
          <a:xfrm>
            <a:off x="87303" y="191844"/>
            <a:ext cx="2007676" cy="276999"/>
          </a:xfrm>
          <a:prstGeom prst="rect">
            <a:avLst/>
          </a:prstGeom>
          <a:noFill/>
        </p:spPr>
        <p:txBody>
          <a:bodyPr wrap="square" rtlCol="0">
            <a:spAutoFit/>
          </a:bodyPr>
          <a:lstStyle/>
          <a:p>
            <a:pPr algn="ctr"/>
            <a:r>
              <a:rPr lang="en-US" sz="1200" b="1" dirty="0">
                <a:cs typeface="Arial" panose="020B0604020202020204" pitchFamily="34" charset="0"/>
              </a:rPr>
              <a:t>Rules Summary</a:t>
            </a:r>
          </a:p>
        </p:txBody>
      </p:sp>
      <p:sp>
        <p:nvSpPr>
          <p:cNvPr id="16" name="TextBox 15">
            <a:extLst>
              <a:ext uri="{FF2B5EF4-FFF2-40B4-BE49-F238E27FC236}">
                <a16:creationId xmlns:a16="http://schemas.microsoft.com/office/drawing/2014/main" id="{EFD59D7C-D8D9-4DD8-E261-540D0538AB7E}"/>
              </a:ext>
            </a:extLst>
          </p:cNvPr>
          <p:cNvSpPr txBox="1"/>
          <p:nvPr/>
        </p:nvSpPr>
        <p:spPr>
          <a:xfrm>
            <a:off x="7856" y="531722"/>
            <a:ext cx="2007676" cy="2177519"/>
          </a:xfrm>
          <a:prstGeom prst="rect">
            <a:avLst/>
          </a:prstGeom>
          <a:noFill/>
        </p:spPr>
        <p:txBody>
          <a:bodyPr wrap="square" rtlCol="0">
            <a:spAutoFit/>
          </a:bodyPr>
          <a:lstStyle/>
          <a:p>
            <a:pPr marL="114300" indent="-114300">
              <a:buFont typeface="Arial" panose="020B0604020202020204" pitchFamily="34" charset="0"/>
              <a:buChar char="•"/>
            </a:pPr>
            <a:r>
              <a:rPr lang="en-US" sz="1050" dirty="0"/>
              <a:t>Each player is dealt 7 cards (8 cards for 2-player game)</a:t>
            </a:r>
          </a:p>
          <a:p>
            <a:pPr marL="114300" indent="-114300">
              <a:buFont typeface="Arial" panose="020B0604020202020204" pitchFamily="34" charset="0"/>
              <a:buChar char="•"/>
            </a:pPr>
            <a:endParaRPr lang="en-US" sz="400" dirty="0"/>
          </a:p>
          <a:p>
            <a:pPr marL="114300" indent="-114300">
              <a:buFont typeface="Arial" panose="020B0604020202020204" pitchFamily="34" charset="0"/>
              <a:buChar char="•"/>
            </a:pPr>
            <a:r>
              <a:rPr lang="en-US" sz="1050" dirty="0"/>
              <a:t>Each turn, you draw a card or pick up the top card, play a card (or cards) if you are able, and end your turn by discarding one card</a:t>
            </a:r>
          </a:p>
          <a:p>
            <a:pPr marL="114300" indent="-114300">
              <a:buFont typeface="Arial" panose="020B0604020202020204" pitchFamily="34" charset="0"/>
              <a:buChar char="•"/>
            </a:pPr>
            <a:endParaRPr lang="en-US" sz="400" dirty="0"/>
          </a:p>
          <a:p>
            <a:pPr marL="114300" indent="-114300">
              <a:buFont typeface="Arial" panose="020B0604020202020204" pitchFamily="34" charset="0"/>
              <a:buChar char="•"/>
            </a:pPr>
            <a:r>
              <a:rPr lang="en-US" sz="1050" dirty="0"/>
              <a:t>Playing an Action card counts as a discard</a:t>
            </a:r>
          </a:p>
          <a:p>
            <a:pPr marL="114300" indent="-114300">
              <a:buFont typeface="Arial" panose="020B0604020202020204" pitchFamily="34" charset="0"/>
              <a:buChar char="•"/>
            </a:pPr>
            <a:endParaRPr lang="en-US" sz="400" dirty="0"/>
          </a:p>
          <a:p>
            <a:pPr marL="114300" indent="-114300">
              <a:buFont typeface="Arial" panose="020B0604020202020204" pitchFamily="34" charset="0"/>
              <a:buChar char="•"/>
            </a:pPr>
            <a:endParaRPr lang="en-US" sz="400" dirty="0"/>
          </a:p>
          <a:p>
            <a:pPr marL="114300" indent="-114300">
              <a:buFont typeface="Arial" panose="020B0604020202020204" pitchFamily="34" charset="0"/>
              <a:buChar char="•"/>
            </a:pPr>
            <a:r>
              <a:rPr lang="en-US" sz="1050" dirty="0"/>
              <a:t>The first person with no cards remaining in their hand wins</a:t>
            </a:r>
          </a:p>
          <a:p>
            <a:pPr marL="114300" indent="-114300">
              <a:buFont typeface="Arial" panose="020B0604020202020204" pitchFamily="34" charset="0"/>
              <a:buChar char="•"/>
            </a:pPr>
            <a:endParaRPr lang="en-US" sz="400" dirty="0"/>
          </a:p>
        </p:txBody>
      </p:sp>
      <p:sp>
        <p:nvSpPr>
          <p:cNvPr id="17" name="TextBox 16">
            <a:extLst>
              <a:ext uri="{FF2B5EF4-FFF2-40B4-BE49-F238E27FC236}">
                <a16:creationId xmlns:a16="http://schemas.microsoft.com/office/drawing/2014/main" id="{5BDF6EC0-005D-78BF-64C8-A1F0832676A4}"/>
              </a:ext>
            </a:extLst>
          </p:cNvPr>
          <p:cNvSpPr txBox="1"/>
          <p:nvPr/>
        </p:nvSpPr>
        <p:spPr>
          <a:xfrm>
            <a:off x="2170473" y="476987"/>
            <a:ext cx="1915455" cy="800219"/>
          </a:xfrm>
          <a:prstGeom prst="rect">
            <a:avLst/>
          </a:prstGeom>
          <a:noFill/>
        </p:spPr>
        <p:txBody>
          <a:bodyPr wrap="square" rtlCol="0">
            <a:spAutoFit/>
          </a:bodyPr>
          <a:lstStyle/>
          <a:p>
            <a:pPr marL="114300" indent="-114300">
              <a:buFont typeface="Arial" panose="020B0604020202020204" pitchFamily="34" charset="0"/>
              <a:buChar char="•"/>
            </a:pPr>
            <a:r>
              <a:rPr lang="en-US" sz="1050" dirty="0"/>
              <a:t>Once you have 3 corresponding cards in your hand, you can lay them down</a:t>
            </a:r>
          </a:p>
          <a:p>
            <a:pPr marL="114300" indent="-114300">
              <a:buFont typeface="Arial" panose="020B0604020202020204" pitchFamily="34" charset="0"/>
              <a:buChar char="•"/>
            </a:pPr>
            <a:endParaRPr lang="en-US" sz="400" dirty="0"/>
          </a:p>
        </p:txBody>
      </p:sp>
      <p:sp>
        <p:nvSpPr>
          <p:cNvPr id="4" name="Rectangle 3">
            <a:extLst>
              <a:ext uri="{FF2B5EF4-FFF2-40B4-BE49-F238E27FC236}">
                <a16:creationId xmlns:a16="http://schemas.microsoft.com/office/drawing/2014/main" id="{F2C002C9-1AB2-7014-3434-9A283ACF61C7}"/>
              </a:ext>
            </a:extLst>
          </p:cNvPr>
          <p:cNvSpPr/>
          <p:nvPr/>
        </p:nvSpPr>
        <p:spPr>
          <a:xfrm>
            <a:off x="6226082" y="-7609"/>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8" name="Diagonal Stripe 7">
            <a:extLst>
              <a:ext uri="{FF2B5EF4-FFF2-40B4-BE49-F238E27FC236}">
                <a16:creationId xmlns:a16="http://schemas.microsoft.com/office/drawing/2014/main" id="{D7FD8674-A015-9E8F-DBBE-3209624BB956}"/>
              </a:ext>
            </a:extLst>
          </p:cNvPr>
          <p:cNvSpPr/>
          <p:nvPr/>
        </p:nvSpPr>
        <p:spPr>
          <a:xfrm>
            <a:off x="6247969" y="0"/>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Diagonal Stripe 8">
            <a:extLst>
              <a:ext uri="{FF2B5EF4-FFF2-40B4-BE49-F238E27FC236}">
                <a16:creationId xmlns:a16="http://schemas.microsoft.com/office/drawing/2014/main" id="{EB53585D-F6EA-38E9-6C19-F926455FD8E9}"/>
              </a:ext>
            </a:extLst>
          </p:cNvPr>
          <p:cNvSpPr/>
          <p:nvPr/>
        </p:nvSpPr>
        <p:spPr>
          <a:xfrm rot="10800000">
            <a:off x="7717891" y="2367056"/>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0" name="Straight Arrow Connector 9">
            <a:extLst>
              <a:ext uri="{FF2B5EF4-FFF2-40B4-BE49-F238E27FC236}">
                <a16:creationId xmlns:a16="http://schemas.microsoft.com/office/drawing/2014/main" id="{55651CEB-88B3-5B18-883E-DC12AAAA4FC5}"/>
              </a:ext>
            </a:extLst>
          </p:cNvPr>
          <p:cNvCxnSpPr>
            <a:cxnSpLocks/>
          </p:cNvCxnSpPr>
          <p:nvPr/>
        </p:nvCxnSpPr>
        <p:spPr>
          <a:xfrm flipV="1">
            <a:off x="7141341" y="1429416"/>
            <a:ext cx="0" cy="5522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87B58034-E3C7-763C-318D-726CB570080C}"/>
              </a:ext>
            </a:extLst>
          </p:cNvPr>
          <p:cNvSpPr txBox="1"/>
          <p:nvPr/>
        </p:nvSpPr>
        <p:spPr>
          <a:xfrm>
            <a:off x="6822494" y="1289157"/>
            <a:ext cx="322524" cy="261610"/>
          </a:xfrm>
          <a:prstGeom prst="rect">
            <a:avLst/>
          </a:prstGeom>
          <a:noFill/>
        </p:spPr>
        <p:txBody>
          <a:bodyPr wrap="none" rtlCol="0">
            <a:spAutoFit/>
          </a:bodyPr>
          <a:lstStyle/>
          <a:p>
            <a:r>
              <a:rPr lang="en-US" sz="1100" dirty="0"/>
              <a:t>+y</a:t>
            </a:r>
          </a:p>
        </p:txBody>
      </p:sp>
      <p:cxnSp>
        <p:nvCxnSpPr>
          <p:cNvPr id="12" name="Straight Arrow Connector 11">
            <a:extLst>
              <a:ext uri="{FF2B5EF4-FFF2-40B4-BE49-F238E27FC236}">
                <a16:creationId xmlns:a16="http://schemas.microsoft.com/office/drawing/2014/main" id="{694EBB69-0A15-A844-DF7E-545607205658}"/>
              </a:ext>
            </a:extLst>
          </p:cNvPr>
          <p:cNvCxnSpPr>
            <a:cxnSpLocks/>
          </p:cNvCxnSpPr>
          <p:nvPr/>
        </p:nvCxnSpPr>
        <p:spPr>
          <a:xfrm>
            <a:off x="7140597" y="1972642"/>
            <a:ext cx="59678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7D303179-D6C8-54C4-9076-EC02B917FAA2}"/>
              </a:ext>
            </a:extLst>
          </p:cNvPr>
          <p:cNvSpPr txBox="1"/>
          <p:nvPr/>
        </p:nvSpPr>
        <p:spPr>
          <a:xfrm>
            <a:off x="7480684" y="1689443"/>
            <a:ext cx="322524" cy="261610"/>
          </a:xfrm>
          <a:prstGeom prst="rect">
            <a:avLst/>
          </a:prstGeom>
          <a:noFill/>
        </p:spPr>
        <p:txBody>
          <a:bodyPr wrap="none" rtlCol="0">
            <a:spAutoFit/>
          </a:bodyPr>
          <a:lstStyle/>
          <a:p>
            <a:r>
              <a:rPr lang="en-US" sz="1100" dirty="0"/>
              <a:t>+x</a:t>
            </a:r>
          </a:p>
        </p:txBody>
      </p:sp>
      <p:sp>
        <p:nvSpPr>
          <p:cNvPr id="14" name="TextBox 13">
            <a:extLst>
              <a:ext uri="{FF2B5EF4-FFF2-40B4-BE49-F238E27FC236}">
                <a16:creationId xmlns:a16="http://schemas.microsoft.com/office/drawing/2014/main" id="{5D0D1B78-9324-4E96-2A68-813C34FF14D1}"/>
              </a:ext>
            </a:extLst>
          </p:cNvPr>
          <p:cNvSpPr txBox="1"/>
          <p:nvPr/>
        </p:nvSpPr>
        <p:spPr>
          <a:xfrm>
            <a:off x="6248017" y="591803"/>
            <a:ext cx="2007676" cy="307777"/>
          </a:xfrm>
          <a:prstGeom prst="rect">
            <a:avLst/>
          </a:prstGeom>
          <a:noFill/>
        </p:spPr>
        <p:txBody>
          <a:bodyPr wrap="square" rtlCol="0">
            <a:spAutoFit/>
          </a:bodyPr>
          <a:lstStyle/>
          <a:p>
            <a:pPr algn="ctr"/>
            <a:r>
              <a:rPr lang="en-US" sz="1400" dirty="0">
                <a:solidFill>
                  <a:srgbClr val="0070C0"/>
                </a:solidFill>
              </a:rPr>
              <a:t>Coordinate System</a:t>
            </a:r>
          </a:p>
        </p:txBody>
      </p:sp>
      <p:sp>
        <p:nvSpPr>
          <p:cNvPr id="19" name="Rectangle 18">
            <a:extLst>
              <a:ext uri="{FF2B5EF4-FFF2-40B4-BE49-F238E27FC236}">
                <a16:creationId xmlns:a16="http://schemas.microsoft.com/office/drawing/2014/main" id="{E4B430D2-7F05-7DE4-C3B6-2E6782A9A772}"/>
              </a:ext>
            </a:extLst>
          </p:cNvPr>
          <p:cNvSpPr/>
          <p:nvPr/>
        </p:nvSpPr>
        <p:spPr>
          <a:xfrm>
            <a:off x="6226082" y="2964580"/>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20" name="Diagonal Stripe 19">
            <a:extLst>
              <a:ext uri="{FF2B5EF4-FFF2-40B4-BE49-F238E27FC236}">
                <a16:creationId xmlns:a16="http://schemas.microsoft.com/office/drawing/2014/main" id="{010AA279-7125-02A1-C25F-E73FA28BC656}"/>
              </a:ext>
            </a:extLst>
          </p:cNvPr>
          <p:cNvSpPr/>
          <p:nvPr/>
        </p:nvSpPr>
        <p:spPr>
          <a:xfrm>
            <a:off x="6247969" y="2972189"/>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Diagonal Stripe 21">
            <a:extLst>
              <a:ext uri="{FF2B5EF4-FFF2-40B4-BE49-F238E27FC236}">
                <a16:creationId xmlns:a16="http://schemas.microsoft.com/office/drawing/2014/main" id="{6997A443-535E-FE79-AF78-CAF7FE2066D2}"/>
              </a:ext>
            </a:extLst>
          </p:cNvPr>
          <p:cNvSpPr/>
          <p:nvPr/>
        </p:nvSpPr>
        <p:spPr>
          <a:xfrm rot="10800000">
            <a:off x="7717891" y="5339245"/>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3" name="Straight Arrow Connector 22">
            <a:extLst>
              <a:ext uri="{FF2B5EF4-FFF2-40B4-BE49-F238E27FC236}">
                <a16:creationId xmlns:a16="http://schemas.microsoft.com/office/drawing/2014/main" id="{9838E2DC-A065-7CC5-FB4C-F9E8D7D00012}"/>
              </a:ext>
            </a:extLst>
          </p:cNvPr>
          <p:cNvCxnSpPr>
            <a:cxnSpLocks/>
          </p:cNvCxnSpPr>
          <p:nvPr/>
        </p:nvCxnSpPr>
        <p:spPr>
          <a:xfrm flipV="1">
            <a:off x="7141341" y="4401605"/>
            <a:ext cx="0" cy="5522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D77153F5-2144-3590-F5FC-1792DB26A267}"/>
              </a:ext>
            </a:extLst>
          </p:cNvPr>
          <p:cNvSpPr txBox="1"/>
          <p:nvPr/>
        </p:nvSpPr>
        <p:spPr>
          <a:xfrm>
            <a:off x="6822494" y="4261346"/>
            <a:ext cx="322524" cy="261610"/>
          </a:xfrm>
          <a:prstGeom prst="rect">
            <a:avLst/>
          </a:prstGeom>
          <a:noFill/>
        </p:spPr>
        <p:txBody>
          <a:bodyPr wrap="none" rtlCol="0">
            <a:spAutoFit/>
          </a:bodyPr>
          <a:lstStyle/>
          <a:p>
            <a:r>
              <a:rPr lang="en-US" sz="1100" dirty="0"/>
              <a:t>+y</a:t>
            </a:r>
          </a:p>
        </p:txBody>
      </p:sp>
      <p:cxnSp>
        <p:nvCxnSpPr>
          <p:cNvPr id="25" name="Straight Arrow Connector 24">
            <a:extLst>
              <a:ext uri="{FF2B5EF4-FFF2-40B4-BE49-F238E27FC236}">
                <a16:creationId xmlns:a16="http://schemas.microsoft.com/office/drawing/2014/main" id="{79F5C9E9-1259-1C06-D0B0-EC573253722F}"/>
              </a:ext>
            </a:extLst>
          </p:cNvPr>
          <p:cNvCxnSpPr>
            <a:cxnSpLocks/>
          </p:cNvCxnSpPr>
          <p:nvPr/>
        </p:nvCxnSpPr>
        <p:spPr>
          <a:xfrm>
            <a:off x="7140597" y="4944831"/>
            <a:ext cx="59678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4C8DAC5B-FAF4-1D31-A88E-504CD54C206A}"/>
              </a:ext>
            </a:extLst>
          </p:cNvPr>
          <p:cNvSpPr txBox="1"/>
          <p:nvPr/>
        </p:nvSpPr>
        <p:spPr>
          <a:xfrm>
            <a:off x="7480684" y="4661632"/>
            <a:ext cx="322524" cy="261610"/>
          </a:xfrm>
          <a:prstGeom prst="rect">
            <a:avLst/>
          </a:prstGeom>
          <a:noFill/>
        </p:spPr>
        <p:txBody>
          <a:bodyPr wrap="none" rtlCol="0">
            <a:spAutoFit/>
          </a:bodyPr>
          <a:lstStyle/>
          <a:p>
            <a:r>
              <a:rPr lang="en-US" sz="1100" dirty="0"/>
              <a:t>+x</a:t>
            </a:r>
          </a:p>
        </p:txBody>
      </p:sp>
      <p:sp>
        <p:nvSpPr>
          <p:cNvPr id="27" name="TextBox 26">
            <a:extLst>
              <a:ext uri="{FF2B5EF4-FFF2-40B4-BE49-F238E27FC236}">
                <a16:creationId xmlns:a16="http://schemas.microsoft.com/office/drawing/2014/main" id="{BF5D913A-B7C2-A6DF-640D-F391802C76C1}"/>
              </a:ext>
            </a:extLst>
          </p:cNvPr>
          <p:cNvSpPr txBox="1"/>
          <p:nvPr/>
        </p:nvSpPr>
        <p:spPr>
          <a:xfrm>
            <a:off x="6248017" y="3563992"/>
            <a:ext cx="2007676" cy="307777"/>
          </a:xfrm>
          <a:prstGeom prst="rect">
            <a:avLst/>
          </a:prstGeom>
          <a:noFill/>
        </p:spPr>
        <p:txBody>
          <a:bodyPr wrap="square" rtlCol="0">
            <a:spAutoFit/>
          </a:bodyPr>
          <a:lstStyle/>
          <a:p>
            <a:pPr algn="ctr"/>
            <a:r>
              <a:rPr lang="en-US" sz="1400" dirty="0">
                <a:solidFill>
                  <a:srgbClr val="0070C0"/>
                </a:solidFill>
              </a:rPr>
              <a:t>Coordinate System</a:t>
            </a:r>
          </a:p>
        </p:txBody>
      </p:sp>
    </p:spTree>
    <p:extLst>
      <p:ext uri="{BB962C8B-B14F-4D97-AF65-F5344CB8AC3E}">
        <p14:creationId xmlns:p14="http://schemas.microsoft.com/office/powerpoint/2010/main" val="16764620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D6D4E-A637-03FA-FFC6-31521BBCABDF}"/>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5BECB344-3BB1-86F7-80E6-4D5D0E785D32}"/>
              </a:ext>
            </a:extLst>
          </p:cNvPr>
          <p:cNvSpPr/>
          <p:nvPr/>
        </p:nvSpPr>
        <p:spPr>
          <a:xfrm>
            <a:off x="9560" y="914310"/>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cxnSp>
        <p:nvCxnSpPr>
          <p:cNvPr id="21" name="Straight Connector 20">
            <a:extLst>
              <a:ext uri="{FF2B5EF4-FFF2-40B4-BE49-F238E27FC236}">
                <a16:creationId xmlns:a16="http://schemas.microsoft.com/office/drawing/2014/main" id="{DBB68E77-25B3-E90F-7F0D-FCF02446A304}"/>
              </a:ext>
            </a:extLst>
          </p:cNvPr>
          <p:cNvCxnSpPr/>
          <p:nvPr/>
        </p:nvCxnSpPr>
        <p:spPr>
          <a:xfrm>
            <a:off x="-4482928" y="99168"/>
            <a:ext cx="0" cy="2683566"/>
          </a:xfrm>
          <a:prstGeom prst="line">
            <a:avLst/>
          </a:prstGeom>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0B635287-EF51-AD53-55B1-BA67F0FFFFF8}"/>
              </a:ext>
            </a:extLst>
          </p:cNvPr>
          <p:cNvSpPr/>
          <p:nvPr/>
        </p:nvSpPr>
        <p:spPr>
          <a:xfrm>
            <a:off x="2079956" y="914310"/>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0" name="Rectangle 29">
            <a:extLst>
              <a:ext uri="{FF2B5EF4-FFF2-40B4-BE49-F238E27FC236}">
                <a16:creationId xmlns:a16="http://schemas.microsoft.com/office/drawing/2014/main" id="{2C8E09DC-4AB2-1B72-D334-0940060090E2}"/>
              </a:ext>
            </a:extLst>
          </p:cNvPr>
          <p:cNvSpPr/>
          <p:nvPr/>
        </p:nvSpPr>
        <p:spPr>
          <a:xfrm>
            <a:off x="9560" y="3877582"/>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3" name="Rectangle 42">
            <a:extLst>
              <a:ext uri="{FF2B5EF4-FFF2-40B4-BE49-F238E27FC236}">
                <a16:creationId xmlns:a16="http://schemas.microsoft.com/office/drawing/2014/main" id="{38EC0C44-0038-6E7F-4DA6-8ACE2B6200E8}"/>
              </a:ext>
            </a:extLst>
          </p:cNvPr>
          <p:cNvSpPr/>
          <p:nvPr/>
        </p:nvSpPr>
        <p:spPr>
          <a:xfrm>
            <a:off x="2079956" y="3877582"/>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57" name="Diagonal Stripe 56">
            <a:extLst>
              <a:ext uri="{FF2B5EF4-FFF2-40B4-BE49-F238E27FC236}">
                <a16:creationId xmlns:a16="http://schemas.microsoft.com/office/drawing/2014/main" id="{16B7AA01-9132-5084-F5D7-275E59E7E410}"/>
              </a:ext>
            </a:extLst>
          </p:cNvPr>
          <p:cNvSpPr/>
          <p:nvPr/>
        </p:nvSpPr>
        <p:spPr>
          <a:xfrm>
            <a:off x="7133" y="936689"/>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8" name="Diagonal Stripe 57">
            <a:extLst>
              <a:ext uri="{FF2B5EF4-FFF2-40B4-BE49-F238E27FC236}">
                <a16:creationId xmlns:a16="http://schemas.microsoft.com/office/drawing/2014/main" id="{504B3813-AFFA-21C7-548A-9286BD35B0BB}"/>
              </a:ext>
            </a:extLst>
          </p:cNvPr>
          <p:cNvSpPr/>
          <p:nvPr/>
        </p:nvSpPr>
        <p:spPr>
          <a:xfrm>
            <a:off x="2093961" y="924158"/>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9" name="Diagonal Stripe 58">
            <a:extLst>
              <a:ext uri="{FF2B5EF4-FFF2-40B4-BE49-F238E27FC236}">
                <a16:creationId xmlns:a16="http://schemas.microsoft.com/office/drawing/2014/main" id="{9AB7389B-51EB-ACDD-0CA7-2DB40CC02111}"/>
              </a:ext>
            </a:extLst>
          </p:cNvPr>
          <p:cNvSpPr/>
          <p:nvPr/>
        </p:nvSpPr>
        <p:spPr>
          <a:xfrm rot="10800000">
            <a:off x="1496702" y="3291214"/>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Diagonal Stripe 59">
            <a:extLst>
              <a:ext uri="{FF2B5EF4-FFF2-40B4-BE49-F238E27FC236}">
                <a16:creationId xmlns:a16="http://schemas.microsoft.com/office/drawing/2014/main" id="{93D67907-CA07-D63A-DCB0-B48CB7F28734}"/>
              </a:ext>
            </a:extLst>
          </p:cNvPr>
          <p:cNvSpPr/>
          <p:nvPr/>
        </p:nvSpPr>
        <p:spPr>
          <a:xfrm rot="10800000">
            <a:off x="3563883" y="3291214"/>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5" name="Diagonal Stripe 64">
            <a:extLst>
              <a:ext uri="{FF2B5EF4-FFF2-40B4-BE49-F238E27FC236}">
                <a16:creationId xmlns:a16="http://schemas.microsoft.com/office/drawing/2014/main" id="{7DFE58F7-1444-D73E-7122-B8E29D7D745F}"/>
              </a:ext>
            </a:extLst>
          </p:cNvPr>
          <p:cNvSpPr/>
          <p:nvPr/>
        </p:nvSpPr>
        <p:spPr>
          <a:xfrm>
            <a:off x="7133" y="3890113"/>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6" name="Diagonal Stripe 65">
            <a:extLst>
              <a:ext uri="{FF2B5EF4-FFF2-40B4-BE49-F238E27FC236}">
                <a16:creationId xmlns:a16="http://schemas.microsoft.com/office/drawing/2014/main" id="{01E091C1-A3A7-CD8A-08E9-B1EB8ADC835A}"/>
              </a:ext>
            </a:extLst>
          </p:cNvPr>
          <p:cNvSpPr/>
          <p:nvPr/>
        </p:nvSpPr>
        <p:spPr>
          <a:xfrm>
            <a:off x="2093961" y="3877582"/>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9" name="Diagonal Stripe 68">
            <a:extLst>
              <a:ext uri="{FF2B5EF4-FFF2-40B4-BE49-F238E27FC236}">
                <a16:creationId xmlns:a16="http://schemas.microsoft.com/office/drawing/2014/main" id="{2891E1D2-9C85-7E6F-F3E3-DF69C1C54EA7}"/>
              </a:ext>
            </a:extLst>
          </p:cNvPr>
          <p:cNvSpPr/>
          <p:nvPr/>
        </p:nvSpPr>
        <p:spPr>
          <a:xfrm rot="10800000">
            <a:off x="1496702" y="6263402"/>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0" name="Diagonal Stripe 69">
            <a:extLst>
              <a:ext uri="{FF2B5EF4-FFF2-40B4-BE49-F238E27FC236}">
                <a16:creationId xmlns:a16="http://schemas.microsoft.com/office/drawing/2014/main" id="{4AC08AF5-21B8-3BF0-7BBD-440AD0D415A1}"/>
              </a:ext>
            </a:extLst>
          </p:cNvPr>
          <p:cNvSpPr/>
          <p:nvPr/>
        </p:nvSpPr>
        <p:spPr>
          <a:xfrm rot="10800000">
            <a:off x="3563883" y="6263402"/>
            <a:ext cx="591803" cy="591803"/>
          </a:xfrm>
          <a:prstGeom prst="diagStripe">
            <a:avLst>
              <a:gd name="adj" fmla="val 67704"/>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E76A1CCB-6B80-B9AA-3C3C-BD547C4EB044}"/>
              </a:ext>
            </a:extLst>
          </p:cNvPr>
          <p:cNvSpPr txBox="1"/>
          <p:nvPr/>
        </p:nvSpPr>
        <p:spPr>
          <a:xfrm>
            <a:off x="7508979" y="207336"/>
            <a:ext cx="1537600" cy="261610"/>
          </a:xfrm>
          <a:prstGeom prst="rect">
            <a:avLst/>
          </a:prstGeom>
          <a:noFill/>
        </p:spPr>
        <p:txBody>
          <a:bodyPr wrap="none" rtlCol="0">
            <a:spAutoFit/>
          </a:bodyPr>
          <a:lstStyle/>
          <a:p>
            <a:r>
              <a:rPr lang="en-US" sz="1100" dirty="0"/>
              <a:t>Rules Summary Cards</a:t>
            </a:r>
          </a:p>
        </p:txBody>
      </p:sp>
      <p:sp>
        <p:nvSpPr>
          <p:cNvPr id="11" name="TextBox 10">
            <a:extLst>
              <a:ext uri="{FF2B5EF4-FFF2-40B4-BE49-F238E27FC236}">
                <a16:creationId xmlns:a16="http://schemas.microsoft.com/office/drawing/2014/main" id="{F7EF3096-21FF-4C4F-3A63-51ABE30CF1E3}"/>
              </a:ext>
            </a:extLst>
          </p:cNvPr>
          <p:cNvSpPr txBox="1"/>
          <p:nvPr/>
        </p:nvSpPr>
        <p:spPr>
          <a:xfrm rot="10800000">
            <a:off x="2132359" y="6363806"/>
            <a:ext cx="2007676" cy="276999"/>
          </a:xfrm>
          <a:prstGeom prst="rect">
            <a:avLst/>
          </a:prstGeom>
          <a:noFill/>
        </p:spPr>
        <p:txBody>
          <a:bodyPr wrap="square" rtlCol="0">
            <a:spAutoFit/>
          </a:bodyPr>
          <a:lstStyle/>
          <a:p>
            <a:pPr algn="ctr"/>
            <a:r>
              <a:rPr lang="en-US" sz="1200" b="1" dirty="0">
                <a:cs typeface="Arial" panose="020B0604020202020204" pitchFamily="34" charset="0"/>
              </a:rPr>
              <a:t>Rules Summary</a:t>
            </a:r>
          </a:p>
        </p:txBody>
      </p:sp>
      <p:sp>
        <p:nvSpPr>
          <p:cNvPr id="12" name="TextBox 11">
            <a:extLst>
              <a:ext uri="{FF2B5EF4-FFF2-40B4-BE49-F238E27FC236}">
                <a16:creationId xmlns:a16="http://schemas.microsoft.com/office/drawing/2014/main" id="{FBBB45AD-1DCC-0EDA-CA09-178CD29BD133}"/>
              </a:ext>
            </a:extLst>
          </p:cNvPr>
          <p:cNvSpPr txBox="1"/>
          <p:nvPr/>
        </p:nvSpPr>
        <p:spPr>
          <a:xfrm rot="10800000">
            <a:off x="2109612" y="4337591"/>
            <a:ext cx="2007676" cy="2054409"/>
          </a:xfrm>
          <a:prstGeom prst="rect">
            <a:avLst/>
          </a:prstGeom>
          <a:noFill/>
        </p:spPr>
        <p:txBody>
          <a:bodyPr wrap="square" rtlCol="0">
            <a:spAutoFit/>
          </a:bodyPr>
          <a:lstStyle/>
          <a:p>
            <a:pPr marL="114300" indent="-114300">
              <a:buFont typeface="Arial" panose="020B0604020202020204" pitchFamily="34" charset="0"/>
              <a:buChar char="•"/>
            </a:pPr>
            <a:r>
              <a:rPr lang="en-US" sz="1050" dirty="0"/>
              <a:t>Each player is dealt 7 cards (8 cards for 2-player game)</a:t>
            </a:r>
          </a:p>
          <a:p>
            <a:pPr marL="114300" indent="-114300">
              <a:buFont typeface="Arial" panose="020B0604020202020204" pitchFamily="34" charset="0"/>
              <a:buChar char="•"/>
            </a:pPr>
            <a:endParaRPr lang="en-US" sz="400" dirty="0"/>
          </a:p>
          <a:p>
            <a:pPr marL="114300" indent="-114300">
              <a:buFont typeface="Arial" panose="020B0604020202020204" pitchFamily="34" charset="0"/>
              <a:buChar char="•"/>
            </a:pPr>
            <a:r>
              <a:rPr lang="en-US" sz="1050" dirty="0"/>
              <a:t>Each turn, you draw a card or pick up the top card, play a card (or cards) and end your turn by discarding one card</a:t>
            </a:r>
          </a:p>
          <a:p>
            <a:pPr marL="114300" indent="-114300">
              <a:buFont typeface="Arial" panose="020B0604020202020204" pitchFamily="34" charset="0"/>
              <a:buChar char="•"/>
            </a:pPr>
            <a:endParaRPr lang="en-US" sz="400" dirty="0"/>
          </a:p>
          <a:p>
            <a:pPr marL="114300" indent="-114300">
              <a:buFont typeface="Arial" panose="020B0604020202020204" pitchFamily="34" charset="0"/>
              <a:buChar char="•"/>
            </a:pPr>
            <a:r>
              <a:rPr lang="en-US" sz="1050" dirty="0"/>
              <a:t>The first person with no cards remaining in their hand wins</a:t>
            </a:r>
          </a:p>
          <a:p>
            <a:pPr marL="114300" indent="-114300">
              <a:buFont typeface="Arial" panose="020B0604020202020204" pitchFamily="34" charset="0"/>
              <a:buChar char="•"/>
            </a:pPr>
            <a:endParaRPr lang="en-US" sz="400" dirty="0"/>
          </a:p>
          <a:p>
            <a:pPr marL="114300" indent="-114300">
              <a:buFont typeface="Arial" panose="020B0604020202020204" pitchFamily="34" charset="0"/>
              <a:buChar char="•"/>
            </a:pPr>
            <a:r>
              <a:rPr lang="en-US" sz="1050" dirty="0"/>
              <a:t>Once you have 3 corresponding cards in your hand, you can lay them down</a:t>
            </a:r>
          </a:p>
        </p:txBody>
      </p:sp>
      <p:sp>
        <p:nvSpPr>
          <p:cNvPr id="14" name="TextBox 13">
            <a:extLst>
              <a:ext uri="{FF2B5EF4-FFF2-40B4-BE49-F238E27FC236}">
                <a16:creationId xmlns:a16="http://schemas.microsoft.com/office/drawing/2014/main" id="{4C1A9C57-CAB5-0734-11E5-1302034A88BF}"/>
              </a:ext>
            </a:extLst>
          </p:cNvPr>
          <p:cNvSpPr txBox="1"/>
          <p:nvPr/>
        </p:nvSpPr>
        <p:spPr>
          <a:xfrm rot="10800000">
            <a:off x="119420" y="4242308"/>
            <a:ext cx="1837151" cy="2316019"/>
          </a:xfrm>
          <a:prstGeom prst="rect">
            <a:avLst/>
          </a:prstGeom>
          <a:noFill/>
        </p:spPr>
        <p:txBody>
          <a:bodyPr wrap="square" rtlCol="0">
            <a:spAutoFit/>
          </a:bodyPr>
          <a:lstStyle/>
          <a:p>
            <a:pPr marL="114300" indent="-114300">
              <a:buFont typeface="Arial" panose="020B0604020202020204" pitchFamily="34" charset="0"/>
              <a:buChar char="•"/>
            </a:pPr>
            <a:r>
              <a:rPr lang="en-US" sz="1050" dirty="0"/>
              <a:t>Once you lay down a set of 4 (or more) cards, the next 4 game turns may only be used to play more cards that match that set</a:t>
            </a:r>
          </a:p>
          <a:p>
            <a:pPr marL="114300" indent="-114300">
              <a:buFont typeface="Arial" panose="020B0604020202020204" pitchFamily="34" charset="0"/>
              <a:buChar char="•"/>
            </a:pPr>
            <a:endParaRPr lang="en-US" sz="400" dirty="0"/>
          </a:p>
          <a:p>
            <a:pPr marL="114300" indent="-114300">
              <a:buFont typeface="Arial" panose="020B0604020202020204" pitchFamily="34" charset="0"/>
              <a:buChar char="•"/>
            </a:pPr>
            <a:r>
              <a:rPr lang="en-US" sz="1050" dirty="0"/>
              <a:t>After 4 game turns, players may choose to lay down their own set of 4 (or more cards) or may continue to play on any sets previously played</a:t>
            </a:r>
          </a:p>
          <a:p>
            <a:pPr marL="114300" indent="-114300">
              <a:buFont typeface="Arial" panose="020B0604020202020204" pitchFamily="34" charset="0"/>
              <a:buChar char="•"/>
            </a:pPr>
            <a:endParaRPr lang="en-US" sz="400" dirty="0"/>
          </a:p>
          <a:p>
            <a:pPr marL="114300" indent="-114300">
              <a:buFont typeface="Arial" panose="020B0604020202020204" pitchFamily="34" charset="0"/>
              <a:buChar char="•"/>
            </a:pPr>
            <a:r>
              <a:rPr lang="en-US" sz="1050" dirty="0"/>
              <a:t>Playing an Action card counts as a discard</a:t>
            </a:r>
          </a:p>
        </p:txBody>
      </p:sp>
      <p:sp>
        <p:nvSpPr>
          <p:cNvPr id="23" name="TextBox 22">
            <a:extLst>
              <a:ext uri="{FF2B5EF4-FFF2-40B4-BE49-F238E27FC236}">
                <a16:creationId xmlns:a16="http://schemas.microsoft.com/office/drawing/2014/main" id="{12A73A14-F456-D436-6DC6-A6EC3B37937B}"/>
              </a:ext>
            </a:extLst>
          </p:cNvPr>
          <p:cNvSpPr txBox="1"/>
          <p:nvPr/>
        </p:nvSpPr>
        <p:spPr>
          <a:xfrm rot="10800000">
            <a:off x="2132359" y="3388529"/>
            <a:ext cx="2007676" cy="276999"/>
          </a:xfrm>
          <a:prstGeom prst="rect">
            <a:avLst/>
          </a:prstGeom>
          <a:noFill/>
        </p:spPr>
        <p:txBody>
          <a:bodyPr wrap="square" rtlCol="0">
            <a:spAutoFit/>
          </a:bodyPr>
          <a:lstStyle/>
          <a:p>
            <a:pPr algn="ctr"/>
            <a:r>
              <a:rPr lang="en-US" sz="1200" b="1" dirty="0">
                <a:cs typeface="Arial" panose="020B0604020202020204" pitchFamily="34" charset="0"/>
              </a:rPr>
              <a:t>Rules Summary</a:t>
            </a:r>
          </a:p>
        </p:txBody>
      </p:sp>
      <p:sp>
        <p:nvSpPr>
          <p:cNvPr id="24" name="TextBox 23">
            <a:extLst>
              <a:ext uri="{FF2B5EF4-FFF2-40B4-BE49-F238E27FC236}">
                <a16:creationId xmlns:a16="http://schemas.microsoft.com/office/drawing/2014/main" id="{0E119954-7284-49CA-B571-A616F3A1D47F}"/>
              </a:ext>
            </a:extLst>
          </p:cNvPr>
          <p:cNvSpPr txBox="1"/>
          <p:nvPr/>
        </p:nvSpPr>
        <p:spPr>
          <a:xfrm rot="10800000">
            <a:off x="2109612" y="1362314"/>
            <a:ext cx="2007676" cy="2054409"/>
          </a:xfrm>
          <a:prstGeom prst="rect">
            <a:avLst/>
          </a:prstGeom>
          <a:noFill/>
        </p:spPr>
        <p:txBody>
          <a:bodyPr wrap="square" rtlCol="0">
            <a:spAutoFit/>
          </a:bodyPr>
          <a:lstStyle/>
          <a:p>
            <a:pPr marL="114300" indent="-114300">
              <a:buFont typeface="Arial" panose="020B0604020202020204" pitchFamily="34" charset="0"/>
              <a:buChar char="•"/>
            </a:pPr>
            <a:r>
              <a:rPr lang="en-US" sz="1050" dirty="0"/>
              <a:t>Each player is dealt 7 cards (8 cards for 2-player game)</a:t>
            </a:r>
          </a:p>
          <a:p>
            <a:pPr marL="114300" indent="-114300">
              <a:buFont typeface="Arial" panose="020B0604020202020204" pitchFamily="34" charset="0"/>
              <a:buChar char="•"/>
            </a:pPr>
            <a:endParaRPr lang="en-US" sz="400" dirty="0"/>
          </a:p>
          <a:p>
            <a:pPr marL="114300" indent="-114300">
              <a:buFont typeface="Arial" panose="020B0604020202020204" pitchFamily="34" charset="0"/>
              <a:buChar char="•"/>
            </a:pPr>
            <a:r>
              <a:rPr lang="en-US" sz="1050" dirty="0"/>
              <a:t>Each turn, you draw a card or pick up the top card, play a card (or cards) and end your turn by discarding one card</a:t>
            </a:r>
          </a:p>
          <a:p>
            <a:pPr marL="114300" indent="-114300">
              <a:buFont typeface="Arial" panose="020B0604020202020204" pitchFamily="34" charset="0"/>
              <a:buChar char="•"/>
            </a:pPr>
            <a:endParaRPr lang="en-US" sz="400" dirty="0"/>
          </a:p>
          <a:p>
            <a:pPr marL="114300" indent="-114300">
              <a:buFont typeface="Arial" panose="020B0604020202020204" pitchFamily="34" charset="0"/>
              <a:buChar char="•"/>
            </a:pPr>
            <a:r>
              <a:rPr lang="en-US" sz="1050" dirty="0"/>
              <a:t>The first person with no cards remaining in their hand wins</a:t>
            </a:r>
          </a:p>
          <a:p>
            <a:pPr marL="114300" indent="-114300">
              <a:buFont typeface="Arial" panose="020B0604020202020204" pitchFamily="34" charset="0"/>
              <a:buChar char="•"/>
            </a:pPr>
            <a:endParaRPr lang="en-US" sz="400" dirty="0"/>
          </a:p>
          <a:p>
            <a:pPr marL="114300" indent="-114300">
              <a:buFont typeface="Arial" panose="020B0604020202020204" pitchFamily="34" charset="0"/>
              <a:buChar char="•"/>
            </a:pPr>
            <a:r>
              <a:rPr lang="en-US" sz="1050" dirty="0"/>
              <a:t>Once you have 3 corresponding cards in your hand, you can lay them down</a:t>
            </a:r>
          </a:p>
        </p:txBody>
      </p:sp>
      <p:sp>
        <p:nvSpPr>
          <p:cNvPr id="25" name="TextBox 24">
            <a:extLst>
              <a:ext uri="{FF2B5EF4-FFF2-40B4-BE49-F238E27FC236}">
                <a16:creationId xmlns:a16="http://schemas.microsoft.com/office/drawing/2014/main" id="{F2F35EF7-EA01-13AA-4333-DAF2772FE31A}"/>
              </a:ext>
            </a:extLst>
          </p:cNvPr>
          <p:cNvSpPr txBox="1"/>
          <p:nvPr/>
        </p:nvSpPr>
        <p:spPr>
          <a:xfrm rot="10800000">
            <a:off x="119420" y="1267031"/>
            <a:ext cx="1837151" cy="2316019"/>
          </a:xfrm>
          <a:prstGeom prst="rect">
            <a:avLst/>
          </a:prstGeom>
          <a:noFill/>
        </p:spPr>
        <p:txBody>
          <a:bodyPr wrap="square" rtlCol="0">
            <a:spAutoFit/>
          </a:bodyPr>
          <a:lstStyle/>
          <a:p>
            <a:pPr marL="114300" indent="-114300">
              <a:buFont typeface="Arial" panose="020B0604020202020204" pitchFamily="34" charset="0"/>
              <a:buChar char="•"/>
            </a:pPr>
            <a:r>
              <a:rPr lang="en-US" sz="1050" dirty="0"/>
              <a:t>Once you lay down a set of 4 (or more) cards, the next 4 game turns may only be used to play more cards that match that set</a:t>
            </a:r>
          </a:p>
          <a:p>
            <a:pPr marL="114300" indent="-114300">
              <a:buFont typeface="Arial" panose="020B0604020202020204" pitchFamily="34" charset="0"/>
              <a:buChar char="•"/>
            </a:pPr>
            <a:endParaRPr lang="en-US" sz="400" dirty="0"/>
          </a:p>
          <a:p>
            <a:pPr marL="114300" indent="-114300">
              <a:buFont typeface="Arial" panose="020B0604020202020204" pitchFamily="34" charset="0"/>
              <a:buChar char="•"/>
            </a:pPr>
            <a:r>
              <a:rPr lang="en-US" sz="1050" dirty="0"/>
              <a:t>After 4 game turns, players may choose to lay down their own set of 4 (or more cards) or may continue to play on any sets previously played</a:t>
            </a:r>
          </a:p>
          <a:p>
            <a:pPr marL="114300" indent="-114300">
              <a:buFont typeface="Arial" panose="020B0604020202020204" pitchFamily="34" charset="0"/>
              <a:buChar char="•"/>
            </a:pPr>
            <a:endParaRPr lang="en-US" sz="400" dirty="0"/>
          </a:p>
          <a:p>
            <a:pPr marL="114300" indent="-114300">
              <a:buFont typeface="Arial" panose="020B0604020202020204" pitchFamily="34" charset="0"/>
              <a:buChar char="•"/>
            </a:pPr>
            <a:r>
              <a:rPr lang="en-US" sz="1050" dirty="0"/>
              <a:t>Playing an Action card counts as a discard</a:t>
            </a:r>
          </a:p>
        </p:txBody>
      </p:sp>
      <p:sp>
        <p:nvSpPr>
          <p:cNvPr id="4" name="Rectangle: Rounded Corners 3">
            <a:extLst>
              <a:ext uri="{FF2B5EF4-FFF2-40B4-BE49-F238E27FC236}">
                <a16:creationId xmlns:a16="http://schemas.microsoft.com/office/drawing/2014/main" id="{4596EE97-2A84-51CA-93AE-FA3602245262}"/>
              </a:ext>
            </a:extLst>
          </p:cNvPr>
          <p:cNvSpPr/>
          <p:nvPr/>
        </p:nvSpPr>
        <p:spPr>
          <a:xfrm>
            <a:off x="6234606" y="3891036"/>
            <a:ext cx="2070396" cy="2953424"/>
          </a:xfrm>
          <a:prstGeom prst="roundRect">
            <a:avLst>
              <a:gd name="adj" fmla="val 7203"/>
            </a:avLst>
          </a:prstGeom>
          <a:gradFill flip="none" rotWithShape="1">
            <a:gsLst>
              <a:gs pos="0">
                <a:srgbClr val="33CCFF">
                  <a:shade val="30000"/>
                  <a:satMod val="115000"/>
                </a:srgbClr>
              </a:gs>
              <a:gs pos="50000">
                <a:srgbClr val="33CCFF">
                  <a:shade val="67500"/>
                  <a:satMod val="115000"/>
                </a:srgbClr>
              </a:gs>
              <a:gs pos="100000">
                <a:srgbClr val="33CCFF">
                  <a:shade val="100000"/>
                  <a:satMod val="115000"/>
                </a:srgbClr>
              </a:gs>
            </a:gsLst>
            <a:path path="circle">
              <a:fillToRect t="100000" r="100000"/>
            </a:path>
            <a:tileRect l="-100000" b="-100000"/>
          </a:gra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2F3AA61C-A9EC-1BD1-4A52-5B71C2935CDE}"/>
              </a:ext>
            </a:extLst>
          </p:cNvPr>
          <p:cNvSpPr/>
          <p:nvPr/>
        </p:nvSpPr>
        <p:spPr>
          <a:xfrm>
            <a:off x="6427599" y="4054737"/>
            <a:ext cx="1733550" cy="2630334"/>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91D2A36D-931B-EA42-F0BB-8A33264C7894}"/>
              </a:ext>
            </a:extLst>
          </p:cNvPr>
          <p:cNvSpPr/>
          <p:nvPr/>
        </p:nvSpPr>
        <p:spPr>
          <a:xfrm>
            <a:off x="6226082" y="3883572"/>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pic>
        <p:nvPicPr>
          <p:cNvPr id="7" name="Picture 6">
            <a:extLst>
              <a:ext uri="{FF2B5EF4-FFF2-40B4-BE49-F238E27FC236}">
                <a16:creationId xmlns:a16="http://schemas.microsoft.com/office/drawing/2014/main" id="{B4B34064-AD27-CDE9-BEF5-6D66D2C2CE1A}"/>
              </a:ext>
            </a:extLst>
          </p:cNvPr>
          <p:cNvPicPr>
            <a:picLocks noChangeAspect="1"/>
          </p:cNvPicPr>
          <p:nvPr/>
        </p:nvPicPr>
        <p:blipFill>
          <a:blip r:embed="rId2"/>
          <a:stretch>
            <a:fillRect/>
          </a:stretch>
        </p:blipFill>
        <p:spPr>
          <a:xfrm rot="10800000">
            <a:off x="6533503" y="5192320"/>
            <a:ext cx="1505160" cy="724001"/>
          </a:xfrm>
          <a:prstGeom prst="rect">
            <a:avLst/>
          </a:prstGeom>
        </p:spPr>
      </p:pic>
      <p:sp>
        <p:nvSpPr>
          <p:cNvPr id="8" name="Rectangle: Rounded Corners 7">
            <a:extLst>
              <a:ext uri="{FF2B5EF4-FFF2-40B4-BE49-F238E27FC236}">
                <a16:creationId xmlns:a16="http://schemas.microsoft.com/office/drawing/2014/main" id="{D79FCDB9-852A-A494-DF34-270C8C3B6DCC}"/>
              </a:ext>
            </a:extLst>
          </p:cNvPr>
          <p:cNvSpPr/>
          <p:nvPr/>
        </p:nvSpPr>
        <p:spPr>
          <a:xfrm>
            <a:off x="6234606" y="940014"/>
            <a:ext cx="2070396" cy="2953424"/>
          </a:xfrm>
          <a:prstGeom prst="roundRect">
            <a:avLst>
              <a:gd name="adj" fmla="val 7203"/>
            </a:avLst>
          </a:prstGeom>
          <a:gradFill flip="none" rotWithShape="1">
            <a:gsLst>
              <a:gs pos="0">
                <a:srgbClr val="33CCFF">
                  <a:shade val="30000"/>
                  <a:satMod val="115000"/>
                </a:srgbClr>
              </a:gs>
              <a:gs pos="50000">
                <a:srgbClr val="33CCFF">
                  <a:shade val="67500"/>
                  <a:satMod val="115000"/>
                </a:srgbClr>
              </a:gs>
              <a:gs pos="100000">
                <a:srgbClr val="33CCFF">
                  <a:shade val="100000"/>
                  <a:satMod val="115000"/>
                </a:srgbClr>
              </a:gs>
            </a:gsLst>
            <a:path path="circle">
              <a:fillToRect t="100000" r="100000"/>
            </a:path>
            <a:tileRect l="-100000" b="-100000"/>
          </a:gra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62D5CEA4-B906-52CE-C288-042DFAA41851}"/>
              </a:ext>
            </a:extLst>
          </p:cNvPr>
          <p:cNvSpPr/>
          <p:nvPr/>
        </p:nvSpPr>
        <p:spPr>
          <a:xfrm>
            <a:off x="6427599" y="1103715"/>
            <a:ext cx="1733550" cy="2630334"/>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531C689F-3A50-8DE7-9A46-D7C39C38AAB8}"/>
              </a:ext>
            </a:extLst>
          </p:cNvPr>
          <p:cNvSpPr/>
          <p:nvPr/>
        </p:nvSpPr>
        <p:spPr>
          <a:xfrm>
            <a:off x="6226082" y="932550"/>
            <a:ext cx="2075730" cy="2974428"/>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pic>
        <p:nvPicPr>
          <p:cNvPr id="13" name="Picture 12">
            <a:extLst>
              <a:ext uri="{FF2B5EF4-FFF2-40B4-BE49-F238E27FC236}">
                <a16:creationId xmlns:a16="http://schemas.microsoft.com/office/drawing/2014/main" id="{0C066134-924A-0876-2568-F9210864A831}"/>
              </a:ext>
            </a:extLst>
          </p:cNvPr>
          <p:cNvPicPr>
            <a:picLocks noChangeAspect="1"/>
          </p:cNvPicPr>
          <p:nvPr/>
        </p:nvPicPr>
        <p:blipFill>
          <a:blip r:embed="rId2"/>
          <a:stretch>
            <a:fillRect/>
          </a:stretch>
        </p:blipFill>
        <p:spPr>
          <a:xfrm rot="10800000">
            <a:off x="6533503" y="2241298"/>
            <a:ext cx="1505160" cy="724001"/>
          </a:xfrm>
          <a:prstGeom prst="rect">
            <a:avLst/>
          </a:prstGeom>
        </p:spPr>
      </p:pic>
    </p:spTree>
    <p:extLst>
      <p:ext uri="{BB962C8B-B14F-4D97-AF65-F5344CB8AC3E}">
        <p14:creationId xmlns:p14="http://schemas.microsoft.com/office/powerpoint/2010/main" val="242823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E349B12-9048-70F5-9F1F-99C732B6DFCC}"/>
              </a:ext>
            </a:extLst>
          </p:cNvPr>
          <p:cNvSpPr txBox="1"/>
          <p:nvPr/>
        </p:nvSpPr>
        <p:spPr>
          <a:xfrm>
            <a:off x="0" y="502377"/>
            <a:ext cx="8985380" cy="8217634"/>
          </a:xfrm>
          <a:prstGeom prst="rect">
            <a:avLst/>
          </a:prstGeom>
          <a:noFill/>
        </p:spPr>
        <p:txBody>
          <a:bodyPr wrap="square" numCol="3" rtlCol="0">
            <a:spAutoFit/>
          </a:bodyPr>
          <a:lstStyle/>
          <a:p>
            <a:r>
              <a:rPr lang="en-US" sz="1100" dirty="0"/>
              <a:t>The main idea </a:t>
            </a:r>
          </a:p>
          <a:p>
            <a:pPr marL="114300" indent="-114300">
              <a:buFont typeface="Arial" panose="020B0604020202020204" pitchFamily="34" charset="0"/>
              <a:buChar char="•"/>
            </a:pPr>
            <a:r>
              <a:rPr lang="en-US" sz="1100" dirty="0"/>
              <a:t>Players practice their  knowledge of kinematics, interpreting graphs, and Newton’s Laws by creating sets of cards that all describe the same scenario</a:t>
            </a:r>
          </a:p>
          <a:p>
            <a:pPr marL="114300" indent="-114300">
              <a:buFont typeface="Arial" panose="020B0604020202020204" pitchFamily="34" charset="0"/>
              <a:buChar char="•"/>
            </a:pPr>
            <a:r>
              <a:rPr lang="en-US" sz="1100" dirty="0"/>
              <a:t>Best suited for high school or college age students, with some physics knowledge</a:t>
            </a:r>
          </a:p>
          <a:p>
            <a:pPr marL="114300" indent="-114300">
              <a:buFont typeface="Arial" panose="020B0604020202020204" pitchFamily="34" charset="0"/>
              <a:buChar char="•"/>
            </a:pPr>
            <a:r>
              <a:rPr lang="en-US" sz="1100" dirty="0"/>
              <a:t>This game is ideal for a practice or review activity for high school or college physics students.</a:t>
            </a:r>
          </a:p>
          <a:p>
            <a:pPr marL="114300" indent="-114300">
              <a:buFont typeface="Arial" panose="020B0604020202020204" pitchFamily="34" charset="0"/>
              <a:buChar char="•"/>
            </a:pPr>
            <a:r>
              <a:rPr lang="en-US" sz="1100" dirty="0"/>
              <a:t>Can be played in solitaire mode at home</a:t>
            </a:r>
          </a:p>
          <a:p>
            <a:pPr marL="114300" indent="-114300">
              <a:buFont typeface="Arial" panose="020B0604020202020204" pitchFamily="34" charset="0"/>
              <a:buChar char="•"/>
            </a:pPr>
            <a:r>
              <a:rPr lang="en-US" sz="1100" dirty="0"/>
              <a:t>Free body diagram cards can be removed from the deck to focus purely on kinematics</a:t>
            </a:r>
          </a:p>
          <a:p>
            <a:pPr marL="114300" indent="-114300">
              <a:buFont typeface="Arial" panose="020B0604020202020204" pitchFamily="34" charset="0"/>
              <a:buChar char="•"/>
            </a:pPr>
            <a:r>
              <a:rPr lang="en-US" sz="1100" dirty="0"/>
              <a:t>Motion diagrams and/or free body diagrams for  vertical motion can be added in, for more advanced students</a:t>
            </a:r>
          </a:p>
          <a:p>
            <a:pPr marL="114300" indent="-114300">
              <a:buFont typeface="Arial" panose="020B0604020202020204" pitchFamily="34" charset="0"/>
              <a:buChar char="•"/>
            </a:pPr>
            <a:r>
              <a:rPr lang="en-US" sz="1100" dirty="0"/>
              <a:t>Extra position versus time and velocity versus time graphs for each scenario are provided for more advanced students</a:t>
            </a:r>
          </a:p>
          <a:p>
            <a:pPr marL="114300" indent="-114300">
              <a:buFont typeface="Arial" panose="020B0604020202020204" pitchFamily="34" charset="0"/>
              <a:buChar char="•"/>
            </a:pPr>
            <a:r>
              <a:rPr lang="en-US" sz="1100" dirty="0"/>
              <a:t>It is recommended that all cards marked ‘Advanced’ should be left out initially</a:t>
            </a:r>
          </a:p>
          <a:p>
            <a:pPr marL="114300" indent="-114300">
              <a:buFont typeface="Arial" panose="020B0604020202020204" pitchFamily="34" charset="0"/>
              <a:buChar char="•"/>
            </a:pPr>
            <a:endParaRPr lang="en-US" sz="800" dirty="0"/>
          </a:p>
          <a:p>
            <a:r>
              <a:rPr lang="en-US" sz="1100" dirty="0"/>
              <a:t>Technical notes</a:t>
            </a:r>
          </a:p>
          <a:p>
            <a:pPr marL="114300" indent="-114300">
              <a:buFont typeface="Arial" panose="020B0604020202020204" pitchFamily="34" charset="0"/>
              <a:buChar char="•"/>
            </a:pPr>
            <a:r>
              <a:rPr lang="en-US" sz="1100" dirty="0"/>
              <a:t>A standard Cartesian coordinate system is used throughout the game, with right at the positive x-direction and upward as the positive y-direction. Note that position versus time graphs are intentionally generic and could be x vs t graphs or y vs t graphs.  Velocity versus time and acceleration versus time graphs are also intentionally generic.   </a:t>
            </a:r>
          </a:p>
          <a:p>
            <a:pPr marL="114300" indent="-114300">
              <a:buFont typeface="Arial" panose="020B0604020202020204" pitchFamily="34" charset="0"/>
              <a:buChar char="•"/>
            </a:pPr>
            <a:endParaRPr lang="en-US" sz="800" dirty="0"/>
          </a:p>
          <a:p>
            <a:r>
              <a:rPr lang="en-US" sz="1100" b="1" dirty="0"/>
              <a:t>Rules for two to three players (or teams)</a:t>
            </a:r>
          </a:p>
          <a:p>
            <a:endParaRPr lang="en-US" sz="500" dirty="0"/>
          </a:p>
          <a:p>
            <a:r>
              <a:rPr lang="en-US" sz="1100" dirty="0"/>
              <a:t>How to win</a:t>
            </a:r>
          </a:p>
          <a:p>
            <a:pPr marL="282575" lvl="1" indent="-114300">
              <a:buFont typeface="Arial" panose="020B0604020202020204" pitchFamily="34" charset="0"/>
              <a:buChar char="•"/>
            </a:pPr>
            <a:r>
              <a:rPr lang="en-US" sz="1100" dirty="0"/>
              <a:t>Be the first person to get rid of all your cards by creating sets of 3 or more cards or playing on other players’ sets</a:t>
            </a:r>
          </a:p>
          <a:p>
            <a:pPr marL="119063"/>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r>
              <a:rPr lang="en-US" sz="1100" dirty="0"/>
              <a:t>Getting started</a:t>
            </a:r>
          </a:p>
          <a:p>
            <a:pPr marL="282575" lvl="1" indent="-114300">
              <a:buFont typeface="Arial" panose="020B0604020202020204" pitchFamily="34" charset="0"/>
              <a:buChar char="•"/>
            </a:pPr>
            <a:r>
              <a:rPr lang="en-US" sz="1100" dirty="0"/>
              <a:t>All players should be on the same side of the table, so they can always view played cards upright.  </a:t>
            </a:r>
          </a:p>
          <a:p>
            <a:pPr marL="282575" lvl="1" indent="-114300">
              <a:buFont typeface="Arial" panose="020B0604020202020204" pitchFamily="34" charset="0"/>
              <a:buChar char="•"/>
            </a:pPr>
            <a:r>
              <a:rPr lang="en-US" sz="1100" dirty="0"/>
              <a:t>Lay out the Scenario Cards in a column, on the left side of the playing area.</a:t>
            </a:r>
          </a:p>
          <a:p>
            <a:pPr marL="282575" lvl="1" indent="-114300">
              <a:buFont typeface="Arial" panose="020B0604020202020204" pitchFamily="34" charset="0"/>
              <a:buChar char="•"/>
            </a:pPr>
            <a:r>
              <a:rPr lang="en-US" sz="1100" dirty="0"/>
              <a:t>Place a coordinate system card on the table</a:t>
            </a:r>
          </a:p>
          <a:p>
            <a:pPr marL="282575" lvl="1" indent="-114300">
              <a:buFont typeface="Arial" panose="020B0604020202020204" pitchFamily="34" charset="0"/>
              <a:buChar char="•"/>
            </a:pPr>
            <a:r>
              <a:rPr lang="en-US" sz="1100" dirty="0"/>
              <a:t>Distribute a help sheet to each player</a:t>
            </a:r>
          </a:p>
          <a:p>
            <a:pPr marL="282575" lvl="1" indent="-114300">
              <a:buFont typeface="Arial" panose="020B0604020202020204" pitchFamily="34" charset="0"/>
              <a:buChar char="•"/>
            </a:pPr>
            <a:r>
              <a:rPr lang="en-US" sz="1100" dirty="0"/>
              <a:t>Deal 7 cards to each player (8 for 2 player game)</a:t>
            </a:r>
          </a:p>
          <a:p>
            <a:pPr marL="282575" lvl="1" indent="-114300">
              <a:buFont typeface="Arial" panose="020B0604020202020204" pitchFamily="34" charset="0"/>
              <a:buChar char="•"/>
            </a:pPr>
            <a:r>
              <a:rPr lang="en-US" sz="1100" dirty="0"/>
              <a:t>Place the deck in the center of the table and turn over the top card to begin the discard pile</a:t>
            </a:r>
          </a:p>
          <a:p>
            <a:pPr marL="282575" lvl="1" indent="-114300">
              <a:buFont typeface="Arial" panose="020B0604020202020204" pitchFamily="34" charset="0"/>
              <a:buChar char="•"/>
            </a:pPr>
            <a:r>
              <a:rPr lang="en-US" sz="1100" dirty="0"/>
              <a:t>The player whose birthday is closest to Galileo Galilei’s birthday of February 15 goes first</a:t>
            </a:r>
          </a:p>
          <a:p>
            <a:pPr marL="282575" lvl="1" indent="-114300"/>
            <a:endParaRPr lang="en-US" sz="1100" dirty="0"/>
          </a:p>
          <a:p>
            <a:pPr marL="282575" lvl="1" indent="-114300"/>
            <a:r>
              <a:rPr lang="en-US" sz="1100" dirty="0"/>
              <a:t>On your turn, you will</a:t>
            </a:r>
          </a:p>
          <a:p>
            <a:pPr marL="282575" lvl="2" indent="-114300">
              <a:buFont typeface="Arial" panose="020B0604020202020204" pitchFamily="34" charset="0"/>
              <a:buChar char="•"/>
            </a:pPr>
            <a:r>
              <a:rPr lang="en-US" sz="1100" dirty="0"/>
              <a:t>Draw a card or pick up the top card in the discard pile</a:t>
            </a:r>
          </a:p>
          <a:p>
            <a:pPr marL="282575" lvl="2" indent="-114300">
              <a:buFont typeface="Arial" panose="020B0604020202020204" pitchFamily="34" charset="0"/>
              <a:buChar char="•"/>
            </a:pPr>
            <a:r>
              <a:rPr lang="en-US" sz="1100" dirty="0"/>
              <a:t>Play a new set of cards of 3 or more cards and/or play on sets already on the table</a:t>
            </a:r>
          </a:p>
          <a:p>
            <a:pPr marL="282575" lvl="2" indent="-114300">
              <a:buFont typeface="Arial" panose="020B0604020202020204" pitchFamily="34" charset="0"/>
              <a:buChar char="•"/>
            </a:pPr>
            <a:r>
              <a:rPr lang="en-US" sz="1100" dirty="0"/>
              <a:t>Discard (either a card you want to get rid of or an Action card you want to play)</a:t>
            </a:r>
          </a:p>
          <a:p>
            <a:pPr marL="282575" indent="-114300">
              <a:buFont typeface="Arial" panose="020B0604020202020204" pitchFamily="34" charset="0"/>
              <a:buChar char="•"/>
            </a:pPr>
            <a:endParaRPr lang="en-US" sz="1100" dirty="0"/>
          </a:p>
          <a:p>
            <a:pPr marL="282575" indent="-114300"/>
            <a:r>
              <a:rPr lang="en-US" sz="1100" dirty="0"/>
              <a:t>What can you play</a:t>
            </a:r>
          </a:p>
          <a:p>
            <a:pPr marL="282575" indent="-114300">
              <a:buFont typeface="Arial" panose="020B0604020202020204" pitchFamily="34" charset="0"/>
              <a:buChar char="•"/>
            </a:pPr>
            <a:r>
              <a:rPr lang="en-US" sz="1100" dirty="0"/>
              <a:t>A set consists of 3 or more cards that be grouped together to describe a single scenario</a:t>
            </a:r>
          </a:p>
          <a:p>
            <a:pPr marL="282575" indent="-114300">
              <a:buFont typeface="Arial" panose="020B0604020202020204" pitchFamily="34" charset="0"/>
              <a:buChar char="•"/>
            </a:pPr>
            <a:r>
              <a:rPr lang="en-US" sz="1100" dirty="0"/>
              <a:t>You may not play two identical cards (e.g. two “positive acceleration” cards) on the same set</a:t>
            </a:r>
          </a:p>
          <a:p>
            <a:pPr marL="282575" indent="-114300">
              <a:buFont typeface="Arial" panose="020B0604020202020204" pitchFamily="34" charset="0"/>
              <a:buChar char="•"/>
            </a:pPr>
            <a:r>
              <a:rPr lang="en-US" sz="1100" dirty="0"/>
              <a:t>You may not play two of the same type of card (e.g. two position vs time graphs) on one set. </a:t>
            </a:r>
          </a:p>
          <a:p>
            <a:pPr marL="282575" indent="-114300">
              <a:buFont typeface="Arial" panose="020B0604020202020204" pitchFamily="34" charset="0"/>
              <a:buChar char="•"/>
            </a:pPr>
            <a:endParaRPr lang="en-US" sz="1100" dirty="0"/>
          </a:p>
          <a:p>
            <a:pPr marL="282575" indent="-114300">
              <a:buFont typeface="Arial" panose="020B0604020202020204" pitchFamily="34" charset="0"/>
              <a:buChar char="•"/>
            </a:pPr>
            <a:endParaRPr lang="en-US" sz="1100" dirty="0"/>
          </a:p>
          <a:p>
            <a:pPr marL="282575" indent="-114300">
              <a:buFont typeface="Arial" panose="020B0604020202020204" pitchFamily="34" charset="0"/>
              <a:buChar char="•"/>
            </a:pPr>
            <a:endParaRPr lang="en-US" sz="1100" dirty="0"/>
          </a:p>
          <a:p>
            <a:pPr marL="282575" indent="-114300">
              <a:buFont typeface="Arial" panose="020B0604020202020204" pitchFamily="34" charset="0"/>
              <a:buChar char="•"/>
            </a:pPr>
            <a:endParaRPr lang="en-US" sz="1100" dirty="0"/>
          </a:p>
          <a:p>
            <a:pPr marL="282575" indent="-114300">
              <a:buFont typeface="Arial" panose="020B0604020202020204" pitchFamily="34" charset="0"/>
              <a:buChar char="•"/>
            </a:pPr>
            <a:endParaRPr lang="en-US" sz="1100" dirty="0"/>
          </a:p>
          <a:p>
            <a:pPr marL="282575" indent="-114300">
              <a:buFont typeface="Arial" panose="020B0604020202020204" pitchFamily="34" charset="0"/>
              <a:buChar char="•"/>
            </a:pPr>
            <a:endParaRPr lang="en-US" sz="1100" dirty="0"/>
          </a:p>
          <a:p>
            <a:pPr marL="282575" indent="-114300">
              <a:buFont typeface="Arial" panose="020B0604020202020204" pitchFamily="34" charset="0"/>
              <a:buChar char="•"/>
            </a:pPr>
            <a:endParaRPr lang="en-US" sz="1100" dirty="0"/>
          </a:p>
          <a:p>
            <a:pPr marL="282575" indent="-114300">
              <a:buFont typeface="Arial" panose="020B0604020202020204" pitchFamily="34" charset="0"/>
              <a:buChar char="•"/>
            </a:pPr>
            <a:endParaRPr lang="en-US" sz="1100" dirty="0"/>
          </a:p>
          <a:p>
            <a:pPr marL="282575" indent="-114300">
              <a:buFont typeface="Arial" panose="020B0604020202020204" pitchFamily="34" charset="0"/>
              <a:buChar char="•"/>
            </a:pPr>
            <a:endParaRPr lang="en-US" sz="1100" dirty="0"/>
          </a:p>
          <a:p>
            <a:pPr marL="282575" indent="-114300">
              <a:buFont typeface="Arial" panose="020B0604020202020204" pitchFamily="34" charset="0"/>
              <a:buChar char="•"/>
            </a:pPr>
            <a:endParaRPr lang="en-US" sz="1100" dirty="0"/>
          </a:p>
          <a:p>
            <a:pPr marL="282575" indent="-114300">
              <a:buFont typeface="Arial" panose="020B0604020202020204" pitchFamily="34" charset="0"/>
              <a:buChar char="•"/>
            </a:pPr>
            <a:endParaRPr lang="en-US" sz="1100" dirty="0"/>
          </a:p>
          <a:p>
            <a:pPr marL="282575" indent="-114300">
              <a:buFont typeface="Arial" panose="020B0604020202020204" pitchFamily="34" charset="0"/>
              <a:buChar char="•"/>
            </a:pPr>
            <a:endParaRPr lang="en-US" sz="1100" dirty="0"/>
          </a:p>
          <a:p>
            <a:pPr marL="282575" indent="-114300">
              <a:buFont typeface="Arial" panose="020B0604020202020204" pitchFamily="34" charset="0"/>
              <a:buChar char="•"/>
            </a:pPr>
            <a:endParaRPr lang="en-US" sz="1100" dirty="0"/>
          </a:p>
          <a:p>
            <a:pPr marL="282575" indent="-114300">
              <a:buFont typeface="Arial" panose="020B0604020202020204" pitchFamily="34" charset="0"/>
              <a:buChar char="•"/>
            </a:pPr>
            <a:endParaRPr lang="en-US" sz="1100" dirty="0"/>
          </a:p>
          <a:p>
            <a:pPr marL="282575" indent="-114300">
              <a:buFont typeface="Arial" panose="020B0604020202020204" pitchFamily="34" charset="0"/>
              <a:buChar char="•"/>
            </a:pPr>
            <a:r>
              <a:rPr lang="en-US" sz="1100" dirty="0"/>
              <a:t>Note that there are multiple motion diagram cards and free body diagram cards that could be matched to a certain set.  However, once a card is played as part of a set, you cannot play any cards that conflict with any of the cards already in that set</a:t>
            </a:r>
          </a:p>
          <a:p>
            <a:pPr marL="282575" indent="-114300">
              <a:buFont typeface="Arial" panose="020B0604020202020204" pitchFamily="34" charset="0"/>
              <a:buChar char="•"/>
            </a:pPr>
            <a:endParaRPr lang="en-US" sz="1100" dirty="0"/>
          </a:p>
          <a:p>
            <a:pPr marL="282575" indent="-114300"/>
            <a:r>
              <a:rPr lang="en-US" sz="1100" dirty="0"/>
              <a:t>Challenges</a:t>
            </a:r>
          </a:p>
          <a:p>
            <a:pPr marL="282575" indent="-114300">
              <a:buFont typeface="Arial" panose="020B0604020202020204" pitchFamily="34" charset="0"/>
              <a:buChar char="•"/>
            </a:pPr>
            <a:r>
              <a:rPr lang="en-US" sz="1100" dirty="0"/>
              <a:t>After a player ends their turn, you can challenge that player if you think their set is invalid or their add-on card(s) does not match the set.  If you are correct, the player who played incorrectly draws two cards.  If you are wrong, you draw two cards.  You must make your challenge within 15 seconds and must be before the next player plays any cards.</a:t>
            </a:r>
          </a:p>
          <a:p>
            <a:pPr marL="282575" indent="-114300">
              <a:buFont typeface="Arial" panose="020B0604020202020204" pitchFamily="34" charset="0"/>
              <a:buChar char="•"/>
            </a:pPr>
            <a:r>
              <a:rPr lang="en-US" sz="1100" dirty="0"/>
              <a:t>A challenge can be decided by an expert (e.g. the instructor, if being played in a classroom); alternatively, the answer key can be consulted</a:t>
            </a:r>
          </a:p>
          <a:p>
            <a:pPr marL="282575" indent="-114300"/>
            <a:endParaRPr lang="en-US" sz="1100" dirty="0"/>
          </a:p>
          <a:p>
            <a:pPr marL="396875" indent="-228600">
              <a:buFont typeface="Arial" panose="020B0604020202020204" pitchFamily="34" charset="0"/>
              <a:buChar char="•"/>
            </a:pPr>
            <a:endParaRPr lang="en-US" sz="1100" dirty="0"/>
          </a:p>
          <a:p>
            <a:pPr marL="282575" indent="-114300"/>
            <a:r>
              <a:rPr lang="en-US" sz="1100" b="1" dirty="0"/>
              <a:t>Mutli-Player Review Activity</a:t>
            </a:r>
          </a:p>
          <a:p>
            <a:pPr marL="282575" indent="-114300"/>
            <a:endParaRPr lang="en-US" sz="1100" b="1" dirty="0"/>
          </a:p>
          <a:p>
            <a:pPr marL="396875" indent="-228600">
              <a:buFont typeface="Arial" panose="020B0604020202020204" pitchFamily="34" charset="0"/>
              <a:buChar char="•"/>
            </a:pPr>
            <a:r>
              <a:rPr lang="en-US" sz="1100" dirty="0"/>
              <a:t>Have groups of 2 to 4 students take the entire deck and sort them into scenarios</a:t>
            </a:r>
          </a:p>
          <a:p>
            <a:pPr marL="396875" indent="-228600">
              <a:buFont typeface="Arial" panose="020B0604020202020204" pitchFamily="34" charset="0"/>
              <a:buChar char="•"/>
            </a:pPr>
            <a:r>
              <a:rPr lang="en-US" sz="1100" dirty="0"/>
              <a:t>This can be a useful warmup activity before standard game play.</a:t>
            </a:r>
          </a:p>
          <a:p>
            <a:pPr marL="396875" indent="-228600">
              <a:buFont typeface="Arial" panose="020B0604020202020204" pitchFamily="34" charset="0"/>
              <a:buChar char="•"/>
            </a:pPr>
            <a:r>
              <a:rPr lang="en-US" sz="1100" dirty="0">
                <a:solidFill>
                  <a:srgbClr val="FF0000"/>
                </a:solidFill>
              </a:rPr>
              <a:t>A game board made specifically for this review activity can be used to sort the cards on</a:t>
            </a:r>
          </a:p>
          <a:p>
            <a:pPr marL="114300" indent="-114300">
              <a:buFont typeface="Arial" panose="020B0604020202020204" pitchFamily="34" charset="0"/>
              <a:buChar char="•"/>
            </a:pPr>
            <a:endParaRPr lang="en-US" sz="1100" dirty="0"/>
          </a:p>
        </p:txBody>
      </p:sp>
      <p:sp>
        <p:nvSpPr>
          <p:cNvPr id="14" name="TextBox 13">
            <a:extLst>
              <a:ext uri="{FF2B5EF4-FFF2-40B4-BE49-F238E27FC236}">
                <a16:creationId xmlns:a16="http://schemas.microsoft.com/office/drawing/2014/main" id="{42046E8B-9F9B-80E1-D10C-41A280E08ACE}"/>
              </a:ext>
            </a:extLst>
          </p:cNvPr>
          <p:cNvSpPr txBox="1"/>
          <p:nvPr/>
        </p:nvSpPr>
        <p:spPr>
          <a:xfrm>
            <a:off x="0" y="7970"/>
            <a:ext cx="3066659" cy="276999"/>
          </a:xfrm>
          <a:prstGeom prst="rect">
            <a:avLst/>
          </a:prstGeom>
          <a:noFill/>
        </p:spPr>
        <p:txBody>
          <a:bodyPr wrap="square" rtlCol="0">
            <a:spAutoFit/>
          </a:bodyPr>
          <a:lstStyle/>
          <a:p>
            <a:pPr algn="ctr"/>
            <a:r>
              <a:rPr lang="en-US" sz="1200" b="1" dirty="0">
                <a:cs typeface="Arial" panose="020B0604020202020204" pitchFamily="34" charset="0"/>
              </a:rPr>
              <a:t>Rules, Notes, and Recommendations</a:t>
            </a:r>
          </a:p>
        </p:txBody>
      </p:sp>
    </p:spTree>
    <p:extLst>
      <p:ext uri="{BB962C8B-B14F-4D97-AF65-F5344CB8AC3E}">
        <p14:creationId xmlns:p14="http://schemas.microsoft.com/office/powerpoint/2010/main" val="8704597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F2862-04CF-22F9-AB41-B39E6C45FB3E}"/>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181B5FDC-8726-DF90-092D-71ACFE2DC412}"/>
              </a:ext>
            </a:extLst>
          </p:cNvPr>
          <p:cNvSpPr txBox="1"/>
          <p:nvPr/>
        </p:nvSpPr>
        <p:spPr>
          <a:xfrm>
            <a:off x="0" y="197576"/>
            <a:ext cx="8896350" cy="5793649"/>
          </a:xfrm>
          <a:prstGeom prst="rect">
            <a:avLst/>
          </a:prstGeom>
          <a:noFill/>
        </p:spPr>
        <p:txBody>
          <a:bodyPr wrap="square" numCol="3" rtlCol="0">
            <a:spAutoFit/>
          </a:bodyPr>
          <a:lstStyle/>
          <a:p>
            <a:pPr marL="282575" indent="-114300"/>
            <a:r>
              <a:rPr lang="en-US" sz="1100" b="1" dirty="0"/>
              <a:t>Alternate game for 2 to 3 players</a:t>
            </a:r>
          </a:p>
          <a:p>
            <a:pPr marL="282575" indent="-114300"/>
            <a:endParaRPr lang="en-US" sz="1100" b="1" dirty="0"/>
          </a:p>
          <a:p>
            <a:pPr marL="396875" indent="-228600">
              <a:buFont typeface="Arial" panose="020B0604020202020204" pitchFamily="34" charset="0"/>
              <a:buChar char="•"/>
            </a:pPr>
            <a:r>
              <a:rPr lang="en-US" sz="1100" dirty="0"/>
              <a:t>Deal </a:t>
            </a:r>
            <a:r>
              <a:rPr lang="en-US" sz="1100" dirty="0">
                <a:solidFill>
                  <a:srgbClr val="FF0000"/>
                </a:solidFill>
              </a:rPr>
              <a:t>5</a:t>
            </a:r>
            <a:r>
              <a:rPr lang="en-US" sz="1100" dirty="0"/>
              <a:t> cards to each player.</a:t>
            </a:r>
          </a:p>
          <a:p>
            <a:pPr marL="396875" indent="-228600">
              <a:buFont typeface="Arial" panose="020B0604020202020204" pitchFamily="34" charset="0"/>
              <a:buChar char="•"/>
            </a:pPr>
            <a:r>
              <a:rPr lang="en-US" sz="1100" dirty="0"/>
              <a:t>Play according to the standard rules, but you do not play your cards until all four of your cards fit a single scenario, at which point you win!</a:t>
            </a:r>
          </a:p>
          <a:p>
            <a:pPr marL="396875" indent="-228600">
              <a:buFont typeface="Arial" panose="020B0604020202020204" pitchFamily="34" charset="0"/>
              <a:buChar char="•"/>
            </a:pPr>
            <a:r>
              <a:rPr lang="en-US" sz="1100" dirty="0">
                <a:solidFill>
                  <a:srgbClr val="FF0000"/>
                </a:solidFill>
              </a:rPr>
              <a:t>On your turn you will take the top card from the deck or the discard pile. If the card you place on the discard pile is an action card, complete that action according to the instructions on the card.</a:t>
            </a:r>
          </a:p>
          <a:p>
            <a:pPr marL="396875" indent="-228600">
              <a:buFont typeface="Arial" panose="020B0604020202020204" pitchFamily="34" charset="0"/>
              <a:buChar char="•"/>
            </a:pPr>
            <a:r>
              <a:rPr lang="en-US" sz="1100" dirty="0">
                <a:solidFill>
                  <a:srgbClr val="FF0000"/>
                </a:solidFill>
              </a:rPr>
              <a:t>Players will always have exactly 5 cards in their rack, except during their turn.</a:t>
            </a:r>
          </a:p>
          <a:p>
            <a:pPr marL="396875" indent="-228600">
              <a:buFont typeface="Arial" panose="020B0604020202020204" pitchFamily="34" charset="0"/>
              <a:buChar char="•"/>
            </a:pPr>
            <a:r>
              <a:rPr lang="en-US" sz="1100" dirty="0">
                <a:solidFill>
                  <a:srgbClr val="FF0000"/>
                </a:solidFill>
              </a:rPr>
              <a:t>When a player has a valid set, they declare it and reveal their cards, so the other players have a chance to find any possible mismatched cards in their set.</a:t>
            </a:r>
          </a:p>
          <a:p>
            <a:pPr marL="396875" indent="-228600">
              <a:buFont typeface="Arial" panose="020B0604020202020204" pitchFamily="34" charset="0"/>
              <a:buChar char="•"/>
            </a:pPr>
            <a:r>
              <a:rPr lang="en-US" sz="1100" dirty="0">
                <a:solidFill>
                  <a:srgbClr val="FF0000"/>
                </a:solidFill>
              </a:rPr>
              <a:t>If they do have a set, they win. If not, they skip their next turn.</a:t>
            </a:r>
          </a:p>
          <a:p>
            <a:pPr marL="282575" indent="-114300"/>
            <a:endParaRPr lang="en-US" sz="1100" b="1" dirty="0"/>
          </a:p>
          <a:p>
            <a:pPr marL="282575" indent="-114300"/>
            <a:r>
              <a:rPr lang="en-US" sz="1100" b="1" dirty="0"/>
              <a:t>ANOTHER Alternate game for 2 to 3 players</a:t>
            </a:r>
          </a:p>
          <a:p>
            <a:pPr marL="282575" lvl="1" indent="-114300">
              <a:buFont typeface="Arial" panose="020B0604020202020204" pitchFamily="34" charset="0"/>
              <a:buChar char="•"/>
            </a:pPr>
            <a:endParaRPr lang="en-US" sz="1100" dirty="0"/>
          </a:p>
          <a:p>
            <a:pPr marL="168275" lvl="1"/>
            <a:r>
              <a:rPr lang="en-US" sz="1100" dirty="0"/>
              <a:t>Getting started</a:t>
            </a:r>
          </a:p>
          <a:p>
            <a:pPr marL="282575" lvl="1" indent="-114300">
              <a:buFont typeface="Arial" panose="020B0604020202020204" pitchFamily="34" charset="0"/>
              <a:buChar char="•"/>
            </a:pPr>
            <a:r>
              <a:rPr lang="en-US" sz="1100" dirty="0"/>
              <a:t>Remove Action cards from the deck</a:t>
            </a:r>
          </a:p>
          <a:p>
            <a:pPr marL="282575" lvl="1" indent="-114300">
              <a:buFont typeface="Arial" panose="020B0604020202020204" pitchFamily="34" charset="0"/>
              <a:buChar char="•"/>
            </a:pPr>
            <a:r>
              <a:rPr lang="en-US" sz="1100" dirty="0"/>
              <a:t>All players should be on the same side of the table, so they can always view played cards upright.  </a:t>
            </a:r>
          </a:p>
          <a:p>
            <a:pPr marL="282575" lvl="1" indent="-114300">
              <a:buFont typeface="Arial" panose="020B0604020202020204" pitchFamily="34" charset="0"/>
              <a:buChar char="•"/>
            </a:pPr>
            <a:r>
              <a:rPr lang="en-US" sz="1100" dirty="0"/>
              <a:t>Lay out the Scenario Cards in a column, on the left side of the playing area.</a:t>
            </a:r>
          </a:p>
          <a:p>
            <a:pPr marL="282575" lvl="1" indent="-114300">
              <a:buFont typeface="Arial" panose="020B0604020202020204" pitchFamily="34" charset="0"/>
              <a:buChar char="•"/>
            </a:pPr>
            <a:r>
              <a:rPr lang="en-US" sz="1100" dirty="0"/>
              <a:t>Place a coordinate system card on the table</a:t>
            </a:r>
          </a:p>
          <a:p>
            <a:pPr marL="282575" lvl="1" indent="-114300">
              <a:buFont typeface="Arial" panose="020B0604020202020204" pitchFamily="34" charset="0"/>
              <a:buChar char="•"/>
            </a:pPr>
            <a:r>
              <a:rPr lang="en-US" sz="1100" dirty="0"/>
              <a:t>Distribute a help sheet to each player</a:t>
            </a:r>
          </a:p>
          <a:p>
            <a:pPr marL="282575" lvl="1" indent="-114300">
              <a:buFont typeface="Arial" panose="020B0604020202020204" pitchFamily="34" charset="0"/>
              <a:buChar char="•"/>
            </a:pPr>
            <a:endParaRPr lang="en-US" sz="1100" dirty="0"/>
          </a:p>
          <a:p>
            <a:pPr marL="282575" indent="-114300"/>
            <a:r>
              <a:rPr lang="en-US" sz="1100" dirty="0"/>
              <a:t>Game Play</a:t>
            </a:r>
          </a:p>
          <a:p>
            <a:pPr marL="396875" indent="-228600">
              <a:buFont typeface="Arial" panose="020B0604020202020204" pitchFamily="34" charset="0"/>
              <a:buChar char="•"/>
            </a:pPr>
            <a:r>
              <a:rPr lang="en-US" sz="1100" dirty="0"/>
              <a:t>Flip over the top card</a:t>
            </a:r>
          </a:p>
          <a:p>
            <a:pPr marL="396875" indent="-228600">
              <a:buFont typeface="Arial" panose="020B0604020202020204" pitchFamily="34" charset="0"/>
              <a:buChar char="•"/>
            </a:pPr>
            <a:r>
              <a:rPr lang="en-US" sz="1100" dirty="0"/>
              <a:t>When a player thinks they know on which scenario that card can be played, they touch the card. The player who touches the card first has 15 seconds to place that card into one of the six scenarios.  </a:t>
            </a:r>
          </a:p>
          <a:p>
            <a:pPr marL="396875" indent="-228600">
              <a:buFont typeface="Arial" panose="020B0604020202020204" pitchFamily="34" charset="0"/>
              <a:buChar char="•"/>
            </a:pPr>
            <a:r>
              <a:rPr lang="en-US" sz="1100" dirty="0"/>
              <a:t>If the player correctly places the card, they earn 1 point.</a:t>
            </a:r>
          </a:p>
          <a:p>
            <a:pPr marL="396875" indent="-228600">
              <a:buFont typeface="Arial" panose="020B0604020202020204" pitchFamily="34" charset="0"/>
              <a:buChar char="•"/>
            </a:pPr>
            <a:r>
              <a:rPr lang="en-US" sz="1100" dirty="0"/>
              <a:t>If the player incorrectly places the card or runs out of time, they lose two points and the card is put at the bottom of the deck</a:t>
            </a:r>
          </a:p>
          <a:p>
            <a:pPr marL="396875" indent="-228600">
              <a:buFont typeface="Arial" panose="020B0604020202020204" pitchFamily="34" charset="0"/>
              <a:buChar char="•"/>
            </a:pPr>
            <a:r>
              <a:rPr lang="en-US" sz="1100" dirty="0"/>
              <a:t>Play continues by flipping the next card</a:t>
            </a:r>
          </a:p>
          <a:p>
            <a:pPr marL="396875" indent="-228600">
              <a:buFont typeface="Arial" panose="020B0604020202020204" pitchFamily="34" charset="0"/>
              <a:buChar char="•"/>
            </a:pPr>
            <a:r>
              <a:rPr lang="en-US" sz="1100" dirty="0"/>
              <a:t>If no one is willing to try to place the card, the players can agree to put that card at the bottom of the deck.</a:t>
            </a:r>
          </a:p>
          <a:p>
            <a:pPr marL="396875" indent="-228600">
              <a:buFont typeface="Arial" panose="020B0604020202020204" pitchFamily="34" charset="0"/>
              <a:buChar char="•"/>
            </a:pPr>
            <a:r>
              <a:rPr lang="en-US" sz="1100" dirty="0"/>
              <a:t>The first player to earn 10 points wins.</a:t>
            </a:r>
          </a:p>
          <a:p>
            <a:pPr marL="396875" indent="-228600">
              <a:buFont typeface="Arial" panose="020B0604020202020204" pitchFamily="34" charset="0"/>
              <a:buChar char="•"/>
            </a:pPr>
            <a:r>
              <a:rPr lang="en-US" sz="1100" dirty="0"/>
              <a:t>Note: You may not play more than one of the same type of card in a scenario</a:t>
            </a:r>
          </a:p>
          <a:p>
            <a:pPr marL="282575" indent="-114300"/>
            <a:endParaRPr lang="en-US" sz="1100" b="1" dirty="0"/>
          </a:p>
          <a:p>
            <a:pPr marL="282575" indent="-114300"/>
            <a:r>
              <a:rPr lang="en-US" sz="1100" b="1" dirty="0"/>
              <a:t>Solitaire Rules</a:t>
            </a:r>
          </a:p>
          <a:p>
            <a:pPr marL="282575" indent="-114300"/>
            <a:endParaRPr lang="en-US" sz="1100" b="1" dirty="0"/>
          </a:p>
          <a:p>
            <a:pPr marL="396875" indent="-228600">
              <a:buFont typeface="Arial" panose="020B0604020202020204" pitchFamily="34" charset="0"/>
              <a:buChar char="•"/>
            </a:pPr>
            <a:r>
              <a:rPr lang="en-US" sz="1100" dirty="0"/>
              <a:t>Start a 15-minute timer.</a:t>
            </a:r>
          </a:p>
          <a:p>
            <a:pPr marL="396875" indent="-228600">
              <a:buFont typeface="Arial" panose="020B0604020202020204" pitchFamily="34" charset="0"/>
              <a:buChar char="•"/>
            </a:pPr>
            <a:r>
              <a:rPr lang="en-US" sz="1100" dirty="0"/>
              <a:t>Draw 8 cards and lay them out on the table.  Group them into sets (there is no minimum number of cards for a set in solo play.</a:t>
            </a:r>
          </a:p>
          <a:p>
            <a:pPr marL="396875" indent="-228600">
              <a:buFont typeface="Arial" panose="020B0604020202020204" pitchFamily="34" charset="0"/>
              <a:buChar char="•"/>
            </a:pPr>
            <a:r>
              <a:rPr lang="en-US" sz="1100" dirty="0"/>
              <a:t>Draw another card and determine which set it goes with or create a new set</a:t>
            </a:r>
          </a:p>
          <a:p>
            <a:pPr marL="396875" indent="-228600">
              <a:buFont typeface="Arial" panose="020B0604020202020204" pitchFamily="34" charset="0"/>
              <a:buChar char="•"/>
            </a:pPr>
            <a:r>
              <a:rPr lang="en-US" sz="1100" dirty="0"/>
              <a:t>Continue drawing cards and making sets until the timer goes off</a:t>
            </a:r>
          </a:p>
          <a:p>
            <a:pPr marL="396875" indent="-228600">
              <a:buFont typeface="Arial" panose="020B0604020202020204" pitchFamily="34" charset="0"/>
              <a:buChar char="•"/>
            </a:pPr>
            <a:r>
              <a:rPr lang="en-US" sz="1100" dirty="0"/>
              <a:t>Check your sets against the answer keys. </a:t>
            </a:r>
          </a:p>
          <a:p>
            <a:pPr marL="396875" indent="-228600">
              <a:buFont typeface="Arial" panose="020B0604020202020204" pitchFamily="34" charset="0"/>
              <a:buChar char="•"/>
            </a:pPr>
            <a:r>
              <a:rPr lang="en-US" sz="1100" dirty="0"/>
              <a:t>The goal is to get as many sets of 5 or more cards as you can within the time limit.</a:t>
            </a:r>
          </a:p>
          <a:p>
            <a:pPr marL="396875" indent="-228600">
              <a:buFont typeface="Arial" panose="020B0604020202020204" pitchFamily="34" charset="0"/>
              <a:buChar char="•"/>
            </a:pPr>
            <a:endParaRPr lang="en-US" sz="1100" dirty="0"/>
          </a:p>
          <a:p>
            <a:pPr marL="168275"/>
            <a:endParaRPr lang="en-US" sz="1100" dirty="0"/>
          </a:p>
          <a:p>
            <a:pPr marL="396875" indent="-228600">
              <a:buFont typeface="Arial" panose="020B0604020202020204" pitchFamily="34" charset="0"/>
              <a:buChar char="•"/>
            </a:pPr>
            <a:endParaRPr lang="en-US" sz="1100" dirty="0"/>
          </a:p>
        </p:txBody>
      </p:sp>
    </p:spTree>
    <p:extLst>
      <p:ext uri="{BB962C8B-B14F-4D97-AF65-F5344CB8AC3E}">
        <p14:creationId xmlns:p14="http://schemas.microsoft.com/office/powerpoint/2010/main" val="1805720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CA8DB3-390C-8F99-759B-433928CD67D3}"/>
              </a:ext>
            </a:extLst>
          </p:cNvPr>
          <p:cNvSpPr txBox="1"/>
          <p:nvPr/>
        </p:nvSpPr>
        <p:spPr>
          <a:xfrm>
            <a:off x="179101" y="85725"/>
            <a:ext cx="3394647" cy="369332"/>
          </a:xfrm>
          <a:prstGeom prst="rect">
            <a:avLst/>
          </a:prstGeom>
          <a:noFill/>
        </p:spPr>
        <p:txBody>
          <a:bodyPr wrap="none" rtlCol="0">
            <a:spAutoFit/>
          </a:bodyPr>
          <a:lstStyle/>
          <a:p>
            <a:r>
              <a:rPr lang="en-US" dirty="0"/>
              <a:t>Game board for Alternate Game </a:t>
            </a:r>
          </a:p>
        </p:txBody>
      </p:sp>
      <p:sp>
        <p:nvSpPr>
          <p:cNvPr id="3" name="Parallelogram 2">
            <a:extLst>
              <a:ext uri="{FF2B5EF4-FFF2-40B4-BE49-F238E27FC236}">
                <a16:creationId xmlns:a16="http://schemas.microsoft.com/office/drawing/2014/main" id="{A5A7B02D-58A7-EA34-903C-5799BF886ACD}"/>
              </a:ext>
            </a:extLst>
          </p:cNvPr>
          <p:cNvSpPr/>
          <p:nvPr/>
        </p:nvSpPr>
        <p:spPr>
          <a:xfrm>
            <a:off x="1814674" y="1364704"/>
            <a:ext cx="1247776" cy="1019175"/>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arallelogram 4">
            <a:extLst>
              <a:ext uri="{FF2B5EF4-FFF2-40B4-BE49-F238E27FC236}">
                <a16:creationId xmlns:a16="http://schemas.microsoft.com/office/drawing/2014/main" id="{B1D04CC7-3A89-FED2-ED4E-006D38AA836F}"/>
              </a:ext>
            </a:extLst>
          </p:cNvPr>
          <p:cNvSpPr/>
          <p:nvPr/>
        </p:nvSpPr>
        <p:spPr>
          <a:xfrm>
            <a:off x="2814799" y="1364703"/>
            <a:ext cx="1247776" cy="1019175"/>
          </a:xfrm>
          <a:prstGeom prst="parallelogram">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arallelogram 5">
            <a:extLst>
              <a:ext uri="{FF2B5EF4-FFF2-40B4-BE49-F238E27FC236}">
                <a16:creationId xmlns:a16="http://schemas.microsoft.com/office/drawing/2014/main" id="{CDECB151-BF88-4E9D-CE40-AAA3C362B512}"/>
              </a:ext>
            </a:extLst>
          </p:cNvPr>
          <p:cNvSpPr/>
          <p:nvPr/>
        </p:nvSpPr>
        <p:spPr>
          <a:xfrm>
            <a:off x="128750" y="1155155"/>
            <a:ext cx="1986978" cy="1438270"/>
          </a:xfrm>
          <a:prstGeom prst="parallelogram">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D0F4760-DAB6-F18B-C6CD-1CD304BFA99D}"/>
              </a:ext>
            </a:extLst>
          </p:cNvPr>
          <p:cNvSpPr txBox="1"/>
          <p:nvPr/>
        </p:nvSpPr>
        <p:spPr>
          <a:xfrm>
            <a:off x="572703" y="1565063"/>
            <a:ext cx="1075936" cy="523220"/>
          </a:xfrm>
          <a:prstGeom prst="rect">
            <a:avLst/>
          </a:prstGeom>
          <a:noFill/>
        </p:spPr>
        <p:txBody>
          <a:bodyPr wrap="none" rtlCol="0">
            <a:spAutoFit/>
          </a:bodyPr>
          <a:lstStyle/>
          <a:p>
            <a:r>
              <a:rPr lang="en-US" sz="2800" b="1" dirty="0">
                <a:latin typeface="Ink Free" panose="03080402000500000000" pitchFamily="66" charset="0"/>
              </a:rPr>
              <a:t>Start</a:t>
            </a:r>
          </a:p>
        </p:txBody>
      </p:sp>
      <p:sp>
        <p:nvSpPr>
          <p:cNvPr id="8" name="Parallelogram 7">
            <a:extLst>
              <a:ext uri="{FF2B5EF4-FFF2-40B4-BE49-F238E27FC236}">
                <a16:creationId xmlns:a16="http://schemas.microsoft.com/office/drawing/2014/main" id="{92E4EF2E-50A0-7B27-07CE-2C57F1FDE27F}"/>
              </a:ext>
            </a:extLst>
          </p:cNvPr>
          <p:cNvSpPr/>
          <p:nvPr/>
        </p:nvSpPr>
        <p:spPr>
          <a:xfrm>
            <a:off x="3801652" y="1364704"/>
            <a:ext cx="1247776" cy="1019175"/>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arallelogram 8">
            <a:extLst>
              <a:ext uri="{FF2B5EF4-FFF2-40B4-BE49-F238E27FC236}">
                <a16:creationId xmlns:a16="http://schemas.microsoft.com/office/drawing/2014/main" id="{FE59F4A7-A34E-D6E0-BBA8-D11364CE990D}"/>
              </a:ext>
            </a:extLst>
          </p:cNvPr>
          <p:cNvSpPr/>
          <p:nvPr/>
        </p:nvSpPr>
        <p:spPr>
          <a:xfrm>
            <a:off x="4801777" y="1364703"/>
            <a:ext cx="1247776" cy="1019175"/>
          </a:xfrm>
          <a:prstGeom prst="parallelogram">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064FCFAE-22CF-2EA5-B0B7-5F6FBFA69A07}"/>
              </a:ext>
            </a:extLst>
          </p:cNvPr>
          <p:cNvSpPr/>
          <p:nvPr/>
        </p:nvSpPr>
        <p:spPr>
          <a:xfrm>
            <a:off x="5788630" y="1364702"/>
            <a:ext cx="1247776" cy="1019175"/>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E7E8BED-0B25-1C85-7226-95DB830909E7}"/>
              </a:ext>
            </a:extLst>
          </p:cNvPr>
          <p:cNvSpPr/>
          <p:nvPr/>
        </p:nvSpPr>
        <p:spPr>
          <a:xfrm>
            <a:off x="5528453" y="2383877"/>
            <a:ext cx="1247776" cy="1019175"/>
          </a:xfrm>
          <a:prstGeom prst="parallelogram">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arallelogram 11">
            <a:extLst>
              <a:ext uri="{FF2B5EF4-FFF2-40B4-BE49-F238E27FC236}">
                <a16:creationId xmlns:a16="http://schemas.microsoft.com/office/drawing/2014/main" id="{8723AA1D-EE4D-3452-9933-043430847385}"/>
              </a:ext>
            </a:extLst>
          </p:cNvPr>
          <p:cNvSpPr/>
          <p:nvPr/>
        </p:nvSpPr>
        <p:spPr>
          <a:xfrm>
            <a:off x="5280802" y="3393525"/>
            <a:ext cx="1247776" cy="1019175"/>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arallelogram 12">
            <a:extLst>
              <a:ext uri="{FF2B5EF4-FFF2-40B4-BE49-F238E27FC236}">
                <a16:creationId xmlns:a16="http://schemas.microsoft.com/office/drawing/2014/main" id="{0325D255-2F6C-28E8-FAA6-E71E6E6F6E12}"/>
              </a:ext>
            </a:extLst>
          </p:cNvPr>
          <p:cNvSpPr/>
          <p:nvPr/>
        </p:nvSpPr>
        <p:spPr>
          <a:xfrm>
            <a:off x="5023385" y="4410178"/>
            <a:ext cx="1247776" cy="1019175"/>
          </a:xfrm>
          <a:prstGeom prst="parallelogram">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arallelogram 13">
            <a:extLst>
              <a:ext uri="{FF2B5EF4-FFF2-40B4-BE49-F238E27FC236}">
                <a16:creationId xmlns:a16="http://schemas.microsoft.com/office/drawing/2014/main" id="{36E11E8D-D39B-9FB4-0817-0B60ED8186F1}"/>
              </a:ext>
            </a:extLst>
          </p:cNvPr>
          <p:cNvSpPr/>
          <p:nvPr/>
        </p:nvSpPr>
        <p:spPr>
          <a:xfrm>
            <a:off x="6014133" y="4410311"/>
            <a:ext cx="1247776" cy="1019175"/>
          </a:xfrm>
          <a:prstGeom prst="parallelogra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arallelogram 14">
            <a:extLst>
              <a:ext uri="{FF2B5EF4-FFF2-40B4-BE49-F238E27FC236}">
                <a16:creationId xmlns:a16="http://schemas.microsoft.com/office/drawing/2014/main" id="{44B46392-1207-252F-786A-749C48ACBC19}"/>
              </a:ext>
            </a:extLst>
          </p:cNvPr>
          <p:cNvSpPr/>
          <p:nvPr/>
        </p:nvSpPr>
        <p:spPr>
          <a:xfrm>
            <a:off x="6959711" y="4200630"/>
            <a:ext cx="1986978" cy="1438270"/>
          </a:xfrm>
          <a:prstGeom prst="parallelogram">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AC64135-1B76-FB8D-9EEB-EF7D3F703CCF}"/>
              </a:ext>
            </a:extLst>
          </p:cNvPr>
          <p:cNvSpPr txBox="1"/>
          <p:nvPr/>
        </p:nvSpPr>
        <p:spPr>
          <a:xfrm>
            <a:off x="7316060" y="4454290"/>
            <a:ext cx="1333951" cy="954107"/>
          </a:xfrm>
          <a:prstGeom prst="rect">
            <a:avLst/>
          </a:prstGeom>
          <a:noFill/>
        </p:spPr>
        <p:txBody>
          <a:bodyPr wrap="square" rtlCol="0">
            <a:spAutoFit/>
          </a:bodyPr>
          <a:lstStyle/>
          <a:p>
            <a:pPr algn="ctr"/>
            <a:r>
              <a:rPr lang="en-US" sz="2800" b="1" dirty="0">
                <a:latin typeface="Ink Free" panose="03080402000500000000" pitchFamily="66" charset="0"/>
              </a:rPr>
              <a:t>Physics Hero</a:t>
            </a:r>
          </a:p>
        </p:txBody>
      </p:sp>
    </p:spTree>
    <p:extLst>
      <p:ext uri="{BB962C8B-B14F-4D97-AF65-F5344CB8AC3E}">
        <p14:creationId xmlns:p14="http://schemas.microsoft.com/office/powerpoint/2010/main" val="313463337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6597c6b-c613-484e-86f7-5b992342257a}" enabled="0" method="" siteId="{36597c6b-c613-484e-86f7-5b992342257a}" removed="1"/>
</clbl:labelList>
</file>

<file path=docProps/app.xml><?xml version="1.0" encoding="utf-8"?>
<Properties xmlns="http://schemas.openxmlformats.org/officeDocument/2006/extended-properties" xmlns:vt="http://schemas.openxmlformats.org/officeDocument/2006/docPropsVTypes">
  <Template>Office Theme</Template>
  <TotalTime>5119</TotalTime>
  <Words>2853</Words>
  <Application>Microsoft Office PowerPoint</Application>
  <PresentationFormat>On-screen Show (4:3)</PresentationFormat>
  <Paragraphs>625</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Ink Free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Jason Barbour</dc:creator>
  <cp:lastModifiedBy>Kramer, Xi</cp:lastModifiedBy>
  <cp:revision>8</cp:revision>
  <cp:lastPrinted>2024-03-17T17:52:01Z</cp:lastPrinted>
  <dcterms:created xsi:type="dcterms:W3CDTF">2024-03-01T01:19:20Z</dcterms:created>
  <dcterms:modified xsi:type="dcterms:W3CDTF">2025-11-25T13:48:11Z</dcterms:modified>
</cp:coreProperties>
</file>